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2cb3809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g3c2cb38091a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2cb38091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g3c2cb38091a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c2cb38091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3c2cb38091a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2cb38091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c2cb38091a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2cb38091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c2cb38091a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c2cb38091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3c2cb38091a_0_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c85b8cc3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c85b8cc3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c85b8cc30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c85b8cc30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85b8cc30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c85b8cc30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85b8cc30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c85b8cc30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85b8cc30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c85b8cc30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85b8cc30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85b8cc30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c85b8cc30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c85b8cc30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c85b8cc30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c85b8cc30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c2cb38091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c2cb38091a_0_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3" name="Google Shape;53;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docs.oracle.com/javase/tutorial/essential/concurrency/sync.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Multithreading</a:t>
            </a:r>
            <a:endParaRPr/>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 sz="4400" u="none">
                <a:solidFill>
                  <a:schemeClr val="dk1"/>
                </a:solidFill>
                <a:latin typeface="Calibri"/>
                <a:ea typeface="Calibri"/>
                <a:cs typeface="Calibri"/>
                <a:sym typeface="Calibri"/>
              </a:rPr>
              <a:t>Synchronization</a:t>
            </a:r>
            <a:endParaRPr/>
          </a:p>
        </p:txBody>
      </p:sp>
      <p:sp>
        <p:nvSpPr>
          <p:cNvPr id="67" name="Google Shape;67;p15"/>
          <p:cNvSpPr txBox="1"/>
          <p:nvPr>
            <p:ph idx="1" type="body"/>
          </p:nvPr>
        </p:nvSpPr>
        <p:spPr>
          <a:xfrm>
            <a:off x="457200" y="900125"/>
            <a:ext cx="9075000" cy="2975100"/>
          </a:xfrm>
          <a:prstGeom prst="rect">
            <a:avLst/>
          </a:prstGeom>
          <a:noFill/>
          <a:ln>
            <a:noFill/>
          </a:ln>
        </p:spPr>
        <p:txBody>
          <a:bodyPr anchorCtr="0" anchor="t" bIns="45700" lIns="91425" spcFirstLastPara="1" rIns="91425" wrap="square" tIns="45700">
            <a:noAutofit/>
          </a:bodyPr>
          <a:lstStyle/>
          <a:p>
            <a:pPr indent="-304800" lvl="0" marL="342900" rtl="0" algn="l">
              <a:spcBef>
                <a:spcPts val="300"/>
              </a:spcBef>
              <a:spcAft>
                <a:spcPts val="0"/>
              </a:spcAft>
              <a:buSzPts val="1200"/>
              <a:buFont typeface="Times New Roman"/>
              <a:buChar char="•"/>
            </a:pPr>
            <a:r>
              <a:rPr lang="en" sz="1200">
                <a:solidFill>
                  <a:srgbClr val="000000"/>
                </a:solidFill>
                <a:latin typeface="Times New Roman"/>
                <a:ea typeface="Times New Roman"/>
                <a:cs typeface="Times New Roman"/>
                <a:sym typeface="Times New Roman"/>
              </a:rPr>
              <a:t>In Java, every object has a lock</a:t>
            </a:r>
            <a:endParaRPr sz="1200">
              <a:solidFill>
                <a:srgbClr val="000000"/>
              </a:solidFill>
              <a:latin typeface="Times New Roman"/>
              <a:ea typeface="Times New Roman"/>
              <a:cs typeface="Times New Roman"/>
              <a:sym typeface="Times New Roman"/>
            </a:endParaRPr>
          </a:p>
          <a:p>
            <a:pPr indent="-304800" lvl="0" marL="342900" rtl="0" algn="l">
              <a:spcBef>
                <a:spcPts val="0"/>
              </a:spcBef>
              <a:spcAft>
                <a:spcPts val="0"/>
              </a:spcAft>
              <a:buSzPts val="1200"/>
              <a:buFont typeface="Times New Roman"/>
              <a:buChar char="•"/>
            </a:pPr>
            <a:r>
              <a:rPr lang="en" sz="1200">
                <a:solidFill>
                  <a:srgbClr val="000000"/>
                </a:solidFill>
                <a:latin typeface="Times New Roman"/>
                <a:ea typeface="Times New Roman"/>
                <a:cs typeface="Times New Roman"/>
                <a:sym typeface="Times New Roman"/>
              </a:rPr>
              <a:t>To obtain the lock, you must synchronize with the object</a:t>
            </a:r>
            <a:endParaRPr sz="1200">
              <a:solidFill>
                <a:srgbClr val="000000"/>
              </a:solidFill>
              <a:latin typeface="Times New Roman"/>
              <a:ea typeface="Times New Roman"/>
              <a:cs typeface="Times New Roman"/>
              <a:sym typeface="Times New Roman"/>
            </a:endParaRPr>
          </a:p>
          <a:p>
            <a:pPr indent="-304800" lvl="0" marL="342900" rtl="0" algn="l">
              <a:spcBef>
                <a:spcPts val="0"/>
              </a:spcBef>
              <a:spcAft>
                <a:spcPts val="0"/>
              </a:spcAft>
              <a:buSzPts val="1200"/>
              <a:buFont typeface="Times New Roman"/>
              <a:buChar char="•"/>
            </a:pPr>
            <a:r>
              <a:rPr lang="en" sz="1200">
                <a:solidFill>
                  <a:srgbClr val="000000"/>
                </a:solidFill>
                <a:latin typeface="Times New Roman"/>
                <a:ea typeface="Times New Roman"/>
                <a:cs typeface="Times New Roman"/>
                <a:sym typeface="Times New Roman"/>
              </a:rPr>
              <a:t>The simplest way to use synchronization is by declaring one or more methods to be synchronized</a:t>
            </a:r>
            <a:endParaRPr sz="1200">
              <a:solidFill>
                <a:srgbClr val="000000"/>
              </a:solidFill>
              <a:latin typeface="Times New Roman"/>
              <a:ea typeface="Times New Roman"/>
              <a:cs typeface="Times New Roman"/>
              <a:sym typeface="Times New Roman"/>
            </a:endParaRPr>
          </a:p>
          <a:p>
            <a:pPr indent="-304800" lvl="0" marL="342900" rtl="0" algn="l">
              <a:spcBef>
                <a:spcPts val="0"/>
              </a:spcBef>
              <a:spcAft>
                <a:spcPts val="0"/>
              </a:spcAft>
              <a:buSzPts val="1200"/>
              <a:buFont typeface="Times New Roman"/>
              <a:buChar char="•"/>
            </a:pPr>
            <a:r>
              <a:rPr lang="en" sz="1200">
                <a:solidFill>
                  <a:srgbClr val="000000"/>
                </a:solidFill>
                <a:latin typeface="Times New Roman"/>
                <a:ea typeface="Times New Roman"/>
                <a:cs typeface="Times New Roman"/>
                <a:sym typeface="Times New Roman"/>
              </a:rPr>
              <a:t>When a synchronized method is invoked, the calling thread attempts to obtain the lock on the object.</a:t>
            </a:r>
            <a:endParaRPr sz="1200">
              <a:solidFill>
                <a:srgbClr val="000000"/>
              </a:solidFill>
              <a:latin typeface="Times New Roman"/>
              <a:ea typeface="Times New Roman"/>
              <a:cs typeface="Times New Roman"/>
              <a:sym typeface="Times New Roman"/>
            </a:endParaRPr>
          </a:p>
          <a:p>
            <a:pPr indent="-304800" lvl="0" marL="342900" rtl="0" algn="l">
              <a:spcBef>
                <a:spcPts val="0"/>
              </a:spcBef>
              <a:spcAft>
                <a:spcPts val="0"/>
              </a:spcAft>
              <a:buSzPts val="1200"/>
              <a:buFont typeface="Times New Roman"/>
              <a:buChar char="•"/>
            </a:pPr>
            <a:r>
              <a:rPr lang="en" sz="1200">
                <a:solidFill>
                  <a:srgbClr val="000000"/>
                </a:solidFill>
                <a:latin typeface="Times New Roman"/>
                <a:ea typeface="Times New Roman"/>
                <a:cs typeface="Times New Roman"/>
                <a:sym typeface="Times New Roman"/>
              </a:rPr>
              <a:t>if it cannot obtain the lock, the thread goes to sleep until the lock becomes available</a:t>
            </a:r>
            <a:endParaRPr sz="1200">
              <a:solidFill>
                <a:srgbClr val="000000"/>
              </a:solidFill>
              <a:latin typeface="Times New Roman"/>
              <a:ea typeface="Times New Roman"/>
              <a:cs typeface="Times New Roman"/>
              <a:sym typeface="Times New Roman"/>
            </a:endParaRPr>
          </a:p>
          <a:p>
            <a:pPr indent="-304800" lvl="0" marL="342900" rtl="0" algn="l">
              <a:spcBef>
                <a:spcPts val="0"/>
              </a:spcBef>
              <a:spcAft>
                <a:spcPts val="0"/>
              </a:spcAft>
              <a:buSzPts val="1200"/>
              <a:buFont typeface="Times New Roman"/>
              <a:buChar char="•"/>
            </a:pPr>
            <a:r>
              <a:rPr lang="en" sz="1200">
                <a:solidFill>
                  <a:srgbClr val="000000"/>
                </a:solidFill>
                <a:latin typeface="Times New Roman"/>
                <a:ea typeface="Times New Roman"/>
                <a:cs typeface="Times New Roman"/>
                <a:sym typeface="Times New Roman"/>
              </a:rPr>
              <a:t>Once the lock is obtained, no other thread can obtain the lock until it is released. ie, the synchronized method terminates</a:t>
            </a:r>
            <a:endParaRPr sz="1200">
              <a:solidFill>
                <a:srgbClr val="000000"/>
              </a:solidFill>
              <a:latin typeface="Times New Roman"/>
              <a:ea typeface="Times New Roman"/>
              <a:cs typeface="Times New Roman"/>
              <a:sym typeface="Times New Roman"/>
            </a:endParaRPr>
          </a:p>
          <a:p>
            <a:pPr indent="-304800" lvl="0" marL="342900" rtl="0" algn="l">
              <a:spcBef>
                <a:spcPts val="0"/>
              </a:spcBef>
              <a:spcAft>
                <a:spcPts val="0"/>
              </a:spcAft>
              <a:buSzPts val="1200"/>
              <a:buFont typeface="Times New Roman"/>
              <a:buChar char="•"/>
            </a:pPr>
            <a:r>
              <a:rPr lang="en" sz="1200">
                <a:solidFill>
                  <a:srgbClr val="000000"/>
                </a:solidFill>
                <a:latin typeface="Times New Roman"/>
                <a:ea typeface="Times New Roman"/>
                <a:cs typeface="Times New Roman"/>
                <a:sym typeface="Times New Roman"/>
              </a:rPr>
              <a:t>When a thread is within a synchronized method, it knows that no other synchronized method can be invoked by any other thread</a:t>
            </a:r>
            <a:endParaRPr sz="1200">
              <a:solidFill>
                <a:srgbClr val="000000"/>
              </a:solidFill>
              <a:latin typeface="Times New Roman"/>
              <a:ea typeface="Times New Roman"/>
              <a:cs typeface="Times New Roman"/>
              <a:sym typeface="Times New Roman"/>
            </a:endParaRPr>
          </a:p>
          <a:p>
            <a:pPr indent="-304800" lvl="0" marL="342900" rtl="0" algn="l">
              <a:spcBef>
                <a:spcPts val="0"/>
              </a:spcBef>
              <a:spcAft>
                <a:spcPts val="0"/>
              </a:spcAft>
              <a:buSzPts val="1200"/>
              <a:buFont typeface="Times New Roman"/>
              <a:buChar char="•"/>
            </a:pPr>
            <a:r>
              <a:rPr lang="en" sz="1200">
                <a:solidFill>
                  <a:srgbClr val="000000"/>
                </a:solidFill>
                <a:latin typeface="Times New Roman"/>
                <a:ea typeface="Times New Roman"/>
                <a:cs typeface="Times New Roman"/>
                <a:sym typeface="Times New Roman"/>
              </a:rPr>
              <a:t>Critical data could be updated inside the synchronized method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 sz="4400" u="none">
                <a:solidFill>
                  <a:schemeClr val="dk1"/>
                </a:solidFill>
                <a:latin typeface="Calibri"/>
                <a:ea typeface="Calibri"/>
                <a:cs typeface="Calibri"/>
                <a:sym typeface="Calibri"/>
              </a:rPr>
              <a:t>Example </a:t>
            </a:r>
            <a:endParaRPr/>
          </a:p>
        </p:txBody>
      </p:sp>
      <p:sp>
        <p:nvSpPr>
          <p:cNvPr id="73" name="Google Shape;73;p16"/>
          <p:cNvSpPr txBox="1"/>
          <p:nvPr>
            <p:ph idx="1" type="body"/>
          </p:nvPr>
        </p:nvSpPr>
        <p:spPr>
          <a:xfrm>
            <a:off x="457200" y="900113"/>
            <a:ext cx="8229600" cy="254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600"/>
              <a:buFont typeface="Arial"/>
              <a:buNone/>
            </a:pPr>
            <a:r>
              <a:rPr b="1" i="0" lang="en" sz="1600" u="none">
                <a:solidFill>
                  <a:schemeClr val="dk1"/>
                </a:solidFill>
                <a:latin typeface="Calibri"/>
                <a:ea typeface="Calibri"/>
                <a:cs typeface="Calibri"/>
                <a:sym typeface="Calibri"/>
              </a:rPr>
              <a:t>public class Counter</a:t>
            </a:r>
            <a:r>
              <a:rPr b="0" i="0" lang="en" sz="1600" u="none">
                <a:solidFill>
                  <a:schemeClr val="dk1"/>
                </a:solidFill>
                <a:latin typeface="Calibri"/>
                <a:ea typeface="Calibri"/>
                <a:cs typeface="Calibri"/>
                <a:sym typeface="Calibri"/>
              </a:rPr>
              <a: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private int count = 0;</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public int getCount(){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return 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a:t>
            </a:r>
            <a:br>
              <a:rPr b="0" i="0" lang="en" sz="1600" u="none">
                <a:solidFill>
                  <a:schemeClr val="dk1"/>
                </a:solidFill>
                <a:latin typeface="Calibri"/>
                <a:ea typeface="Calibri"/>
                <a:cs typeface="Calibri"/>
                <a:sym typeface="Calibri"/>
              </a:rPr>
            </a:b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public setCount(int 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this.count = 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a:t>
            </a:r>
            <a:endParaRPr/>
          </a:p>
          <a:p>
            <a:pPr indent="-342900" lvl="0" marL="342900" marR="0" rtl="0" algn="l">
              <a:lnSpc>
                <a:spcPct val="100000"/>
              </a:lnSpc>
              <a:spcBef>
                <a:spcPts val="320"/>
              </a:spcBef>
              <a:spcAft>
                <a:spcPts val="0"/>
              </a:spcAft>
              <a:buClr>
                <a:schemeClr val="dk1"/>
              </a:buClr>
              <a:buSzPts val="1600"/>
              <a:buFont typeface="Arial"/>
              <a:buChar char="•"/>
            </a:pPr>
            <a:r>
              <a:rPr b="0" i="0" lang="en" sz="1600" u="none">
                <a:solidFill>
                  <a:schemeClr val="dk1"/>
                </a:solidFill>
                <a:latin typeface="Calibri"/>
                <a:ea typeface="Calibri"/>
                <a:cs typeface="Calibri"/>
                <a:sym typeface="Calibri"/>
              </a:rPr>
              <a:t>In this example, the counter tells how many an access has been made.</a:t>
            </a:r>
            <a:endParaRPr/>
          </a:p>
          <a:p>
            <a:pPr indent="-342900" lvl="0" marL="342900" marR="0" rtl="0" algn="l">
              <a:lnSpc>
                <a:spcPct val="100000"/>
              </a:lnSpc>
              <a:spcBef>
                <a:spcPts val="320"/>
              </a:spcBef>
              <a:spcAft>
                <a:spcPts val="0"/>
              </a:spcAft>
              <a:buClr>
                <a:schemeClr val="dk1"/>
              </a:buClr>
              <a:buSzPts val="1600"/>
              <a:buFont typeface="Arial"/>
              <a:buChar char="•"/>
            </a:pPr>
            <a:r>
              <a:rPr b="0" i="0" lang="en" sz="1600" u="none">
                <a:solidFill>
                  <a:schemeClr val="dk1"/>
                </a:solidFill>
                <a:latin typeface="Calibri"/>
                <a:ea typeface="Calibri"/>
                <a:cs typeface="Calibri"/>
                <a:sym typeface="Calibri"/>
              </a:rPr>
              <a:t>If a thread is accessing setCount and updating count and another thread is accessing getCount at the same time, there will be inconsistency in the value of count.</a:t>
            </a:r>
            <a:endParaRPr b="0" i="0" sz="1600" u="none">
              <a:solidFill>
                <a:schemeClr val="dk1"/>
              </a:solidFill>
              <a:latin typeface="Calibri"/>
              <a:ea typeface="Calibri"/>
              <a:cs typeface="Calibri"/>
              <a:sym typeface="Calibri"/>
            </a:endParaRPr>
          </a:p>
          <a:p>
            <a:pPr indent="-342900" lvl="0" marL="342900" marR="0" rtl="0" algn="l">
              <a:lnSpc>
                <a:spcPct val="100000"/>
              </a:lnSpc>
              <a:spcBef>
                <a:spcPts val="32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The problem is known as ‘race condition’</a:t>
            </a:r>
            <a:endParaRPr sz="16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 sz="4400" u="none">
                <a:solidFill>
                  <a:schemeClr val="dk1"/>
                </a:solidFill>
                <a:latin typeface="Calibri"/>
                <a:ea typeface="Calibri"/>
                <a:cs typeface="Calibri"/>
                <a:sym typeface="Calibri"/>
              </a:rPr>
              <a:t>Fixing the example</a:t>
            </a:r>
            <a:endParaRPr/>
          </a:p>
        </p:txBody>
      </p:sp>
      <p:sp>
        <p:nvSpPr>
          <p:cNvPr id="79" name="Google Shape;79;p17"/>
          <p:cNvSpPr txBox="1"/>
          <p:nvPr>
            <p:ph idx="1" type="body"/>
          </p:nvPr>
        </p:nvSpPr>
        <p:spPr>
          <a:xfrm>
            <a:off x="457200" y="900113"/>
            <a:ext cx="8229600" cy="254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600"/>
              <a:buFont typeface="Arial"/>
              <a:buNone/>
            </a:pPr>
            <a:r>
              <a:rPr b="1" i="0" lang="en" sz="1600" u="none">
                <a:solidFill>
                  <a:schemeClr val="dk1"/>
                </a:solidFill>
                <a:latin typeface="Calibri"/>
                <a:ea typeface="Calibri"/>
                <a:cs typeface="Calibri"/>
                <a:sym typeface="Calibri"/>
              </a:rPr>
              <a:t>public class Counter</a:t>
            </a:r>
            <a:r>
              <a:rPr b="0" i="0" lang="en" sz="1600" u="none">
                <a:solidFill>
                  <a:schemeClr val="dk1"/>
                </a:solidFill>
                <a:latin typeface="Calibri"/>
                <a:ea typeface="Calibri"/>
                <a:cs typeface="Calibri"/>
                <a:sym typeface="Calibri"/>
              </a:rPr>
              <a: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private static int count = 0;</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public </a:t>
            </a:r>
            <a:r>
              <a:rPr b="1" i="0" lang="en" sz="1600" u="none">
                <a:solidFill>
                  <a:schemeClr val="dk1"/>
                </a:solidFill>
                <a:latin typeface="Calibri"/>
                <a:ea typeface="Calibri"/>
                <a:cs typeface="Calibri"/>
                <a:sym typeface="Calibri"/>
              </a:rPr>
              <a:t>synchronized</a:t>
            </a:r>
            <a:r>
              <a:rPr b="0" i="0" lang="en" sz="1600" u="none">
                <a:solidFill>
                  <a:schemeClr val="dk1"/>
                </a:solidFill>
                <a:latin typeface="Calibri"/>
                <a:ea typeface="Calibri"/>
                <a:cs typeface="Calibri"/>
                <a:sym typeface="Calibri"/>
              </a:rPr>
              <a:t> int getCount(){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return 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a:t>
            </a:r>
            <a:br>
              <a:rPr b="0" i="0" lang="en" sz="1600" u="none">
                <a:solidFill>
                  <a:schemeClr val="dk1"/>
                </a:solidFill>
                <a:latin typeface="Calibri"/>
                <a:ea typeface="Calibri"/>
                <a:cs typeface="Calibri"/>
                <a:sym typeface="Calibri"/>
              </a:rPr>
            </a:b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public </a:t>
            </a:r>
            <a:r>
              <a:rPr b="1" i="0" lang="en" sz="1600" u="none">
                <a:solidFill>
                  <a:schemeClr val="dk1"/>
                </a:solidFill>
                <a:latin typeface="Calibri"/>
                <a:ea typeface="Calibri"/>
                <a:cs typeface="Calibri"/>
                <a:sym typeface="Calibri"/>
              </a:rPr>
              <a:t>synchoronized </a:t>
            </a:r>
            <a:r>
              <a:rPr b="0" i="0" lang="en" sz="1600" u="none">
                <a:solidFill>
                  <a:schemeClr val="dk1"/>
                </a:solidFill>
                <a:latin typeface="Calibri"/>
                <a:ea typeface="Calibri"/>
                <a:cs typeface="Calibri"/>
                <a:sym typeface="Calibri"/>
              </a:rPr>
              <a:t>setCount(int 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this.count = 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a:t>
            </a:r>
            <a:endParaRPr/>
          </a:p>
          <a:p>
            <a:pPr indent="-342900" lvl="0" marL="342900" marR="0" rtl="0" algn="l">
              <a:lnSpc>
                <a:spcPct val="100000"/>
              </a:lnSpc>
              <a:spcBef>
                <a:spcPts val="320"/>
              </a:spcBef>
              <a:spcAft>
                <a:spcPts val="0"/>
              </a:spcAft>
              <a:buClr>
                <a:schemeClr val="dk1"/>
              </a:buClr>
              <a:buSzPts val="1600"/>
              <a:buFont typeface="Arial"/>
              <a:buChar char="•"/>
            </a:pPr>
            <a:r>
              <a:rPr b="0" i="0" lang="en" sz="1600" u="none">
                <a:solidFill>
                  <a:schemeClr val="dk1"/>
                </a:solidFill>
                <a:latin typeface="Calibri"/>
                <a:ea typeface="Calibri"/>
                <a:cs typeface="Calibri"/>
                <a:sym typeface="Calibri"/>
              </a:rPr>
              <a:t>By adding the synchronized keyword we make sure that when one thread is in the setCount method the other threads are all in waiting state. </a:t>
            </a:r>
            <a:endParaRPr/>
          </a:p>
          <a:p>
            <a:pPr indent="-342900" lvl="0" marL="342900" marR="0" rtl="0" algn="l">
              <a:lnSpc>
                <a:spcPct val="100000"/>
              </a:lnSpc>
              <a:spcBef>
                <a:spcPts val="320"/>
              </a:spcBef>
              <a:spcAft>
                <a:spcPts val="0"/>
              </a:spcAft>
              <a:buClr>
                <a:schemeClr val="dk1"/>
              </a:buClr>
              <a:buSzPts val="1600"/>
              <a:buFont typeface="Arial"/>
              <a:buChar char="•"/>
            </a:pPr>
            <a:r>
              <a:rPr b="0" i="0" lang="en" sz="1600" u="none">
                <a:solidFill>
                  <a:schemeClr val="dk1"/>
                </a:solidFill>
                <a:latin typeface="Calibri"/>
                <a:ea typeface="Calibri"/>
                <a:cs typeface="Calibri"/>
                <a:sym typeface="Calibri"/>
              </a:rPr>
              <a:t>The synchronized keyword places a lock on the object, and hence locks all the other methods which have the keyword synchronized. The lock does not lock the methods without the keyword synchronized and hence they are open to access by other threads.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 sz="4400" u="none">
                <a:solidFill>
                  <a:schemeClr val="dk1"/>
                </a:solidFill>
                <a:latin typeface="Calibri"/>
                <a:ea typeface="Calibri"/>
                <a:cs typeface="Calibri"/>
                <a:sym typeface="Calibri"/>
              </a:rPr>
              <a:t>What about static methods?</a:t>
            </a:r>
            <a:endParaRPr/>
          </a:p>
        </p:txBody>
      </p:sp>
      <p:sp>
        <p:nvSpPr>
          <p:cNvPr id="85" name="Google Shape;85;p18"/>
          <p:cNvSpPr txBox="1"/>
          <p:nvPr>
            <p:ph idx="1" type="body"/>
          </p:nvPr>
        </p:nvSpPr>
        <p:spPr>
          <a:xfrm>
            <a:off x="457200" y="654263"/>
            <a:ext cx="8229600" cy="254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600"/>
              <a:buFont typeface="Arial"/>
              <a:buNone/>
            </a:pPr>
            <a:r>
              <a:rPr b="1" i="0" lang="en" sz="1600" u="none">
                <a:solidFill>
                  <a:schemeClr val="dk1"/>
                </a:solidFill>
                <a:latin typeface="Calibri"/>
                <a:ea typeface="Calibri"/>
                <a:cs typeface="Calibri"/>
                <a:sym typeface="Calibri"/>
              </a:rPr>
              <a:t>public class Counter</a:t>
            </a:r>
            <a:r>
              <a:rPr b="0" i="0" lang="en" sz="1600" u="none">
                <a:solidFill>
                  <a:schemeClr val="dk1"/>
                </a:solidFill>
                <a:latin typeface="Calibri"/>
                <a:ea typeface="Calibri"/>
                <a:cs typeface="Calibri"/>
                <a:sym typeface="Calibri"/>
              </a:rPr>
              <a: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private int count = 0;</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public </a:t>
            </a:r>
            <a:r>
              <a:rPr b="1" i="0" lang="en" sz="1600" u="none">
                <a:solidFill>
                  <a:schemeClr val="dk1"/>
                </a:solidFill>
                <a:latin typeface="Calibri"/>
                <a:ea typeface="Calibri"/>
                <a:cs typeface="Calibri"/>
                <a:sym typeface="Calibri"/>
              </a:rPr>
              <a:t>static synchronized </a:t>
            </a:r>
            <a:r>
              <a:rPr b="0" i="0" lang="en" sz="1600" u="none">
                <a:solidFill>
                  <a:schemeClr val="dk1"/>
                </a:solidFill>
                <a:latin typeface="Calibri"/>
                <a:ea typeface="Calibri"/>
                <a:cs typeface="Calibri"/>
                <a:sym typeface="Calibri"/>
              </a:rPr>
              <a:t>int getCount(){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return 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a:t>
            </a:r>
            <a:br>
              <a:rPr b="0" i="0" lang="en" sz="1600" u="none">
                <a:solidFill>
                  <a:schemeClr val="dk1"/>
                </a:solidFill>
                <a:latin typeface="Calibri"/>
                <a:ea typeface="Calibri"/>
                <a:cs typeface="Calibri"/>
                <a:sym typeface="Calibri"/>
              </a:rPr>
            </a:b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public </a:t>
            </a:r>
            <a:r>
              <a:rPr b="1" i="0" lang="en" sz="1600" u="none">
                <a:solidFill>
                  <a:schemeClr val="dk1"/>
                </a:solidFill>
                <a:latin typeface="Calibri"/>
                <a:ea typeface="Calibri"/>
                <a:cs typeface="Calibri"/>
                <a:sym typeface="Calibri"/>
              </a:rPr>
              <a:t>static synchronized </a:t>
            </a:r>
            <a:r>
              <a:rPr b="0" i="0" lang="en" sz="1600" u="none">
                <a:solidFill>
                  <a:schemeClr val="dk1"/>
                </a:solidFill>
                <a:latin typeface="Calibri"/>
                <a:ea typeface="Calibri"/>
                <a:cs typeface="Calibri"/>
                <a:sym typeface="Calibri"/>
              </a:rPr>
              <a:t>setCount(int 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this.count = 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a:t>
            </a:r>
            <a:endParaRPr sz="1600">
              <a:solidFill>
                <a:schemeClr val="dk1"/>
              </a:solidFill>
              <a:latin typeface="Calibri"/>
              <a:ea typeface="Calibri"/>
              <a:cs typeface="Calibri"/>
              <a:sym typeface="Calibri"/>
            </a:endParaRPr>
          </a:p>
          <a:p>
            <a:pPr indent="-317500" lvl="0" marL="342900" marR="0" rtl="0" algn="l">
              <a:lnSpc>
                <a:spcPct val="100000"/>
              </a:lnSpc>
              <a:spcBef>
                <a:spcPts val="320"/>
              </a:spcBef>
              <a:spcAft>
                <a:spcPts val="0"/>
              </a:spcAft>
              <a:buSzPts val="1200"/>
              <a:buFont typeface="Times New Roman"/>
              <a:buChar char="•"/>
            </a:pPr>
            <a:r>
              <a:rPr i="0" lang="en" sz="1200" u="none">
                <a:solidFill>
                  <a:schemeClr val="dk1"/>
                </a:solidFill>
                <a:latin typeface="Times New Roman"/>
                <a:ea typeface="Times New Roman"/>
                <a:cs typeface="Times New Roman"/>
                <a:sym typeface="Times New Roman"/>
              </a:rPr>
              <a:t>In this example the methods are static and hence are associated with the class object and not the instance. </a:t>
            </a:r>
            <a:endParaRPr i="0" sz="1200" u="none">
              <a:solidFill>
                <a:schemeClr val="dk1"/>
              </a:solidFill>
              <a:latin typeface="Times New Roman"/>
              <a:ea typeface="Times New Roman"/>
              <a:cs typeface="Times New Roman"/>
              <a:sym typeface="Times New Roman"/>
            </a:endParaRPr>
          </a:p>
          <a:p>
            <a:pPr indent="-317500" lvl="0" marL="342900" marR="0" rtl="0" algn="l">
              <a:lnSpc>
                <a:spcPct val="100000"/>
              </a:lnSpc>
              <a:spcBef>
                <a:spcPts val="320"/>
              </a:spcBef>
              <a:spcAft>
                <a:spcPts val="0"/>
              </a:spcAft>
              <a:buSzPts val="1200"/>
              <a:buFont typeface="Calibri"/>
              <a:buChar char="•"/>
            </a:pPr>
            <a:r>
              <a:rPr lang="en" sz="1200">
                <a:solidFill>
                  <a:schemeClr val="dk1"/>
                </a:solidFill>
                <a:latin typeface="Times New Roman"/>
                <a:ea typeface="Times New Roman"/>
                <a:cs typeface="Times New Roman"/>
                <a:sym typeface="Times New Roman"/>
              </a:rPr>
              <a:t>Lock applied </a:t>
            </a:r>
            <a:r>
              <a:rPr b="1" lang="en" sz="1200">
                <a:solidFill>
                  <a:schemeClr val="dk1"/>
                </a:solidFill>
                <a:latin typeface="Times New Roman"/>
                <a:ea typeface="Times New Roman"/>
                <a:cs typeface="Times New Roman"/>
                <a:sym typeface="Times New Roman"/>
              </a:rPr>
              <a:t>across all instances</a:t>
            </a:r>
            <a:r>
              <a:rPr lang="en" sz="1200">
                <a:solidFill>
                  <a:schemeClr val="dk1"/>
                </a:solidFill>
                <a:latin typeface="Times New Roman"/>
                <a:ea typeface="Times New Roman"/>
                <a:cs typeface="Times New Roman"/>
                <a:sym typeface="Times New Roman"/>
              </a:rPr>
              <a:t> of the class</a:t>
            </a:r>
            <a:endParaRPr sz="1200">
              <a:solidFill>
                <a:schemeClr val="dk1"/>
              </a:solidFill>
              <a:latin typeface="Times New Roman"/>
              <a:ea typeface="Times New Roman"/>
              <a:cs typeface="Times New Roman"/>
              <a:sym typeface="Times New Roman"/>
            </a:endParaRPr>
          </a:p>
          <a:p>
            <a:pPr indent="-317500" lvl="0" marL="342900" marR="0" rtl="0" algn="l">
              <a:lnSpc>
                <a:spcPct val="100000"/>
              </a:lnSpc>
              <a:spcBef>
                <a:spcPts val="320"/>
              </a:spcBef>
              <a:spcAft>
                <a:spcPts val="0"/>
              </a:spcAft>
              <a:buSzPts val="1200"/>
              <a:buFont typeface="Times New Roman"/>
              <a:buChar char="•"/>
            </a:pPr>
            <a:r>
              <a:rPr i="0" lang="en" sz="1200" u="none">
                <a:solidFill>
                  <a:schemeClr val="dk1"/>
                </a:solidFill>
                <a:latin typeface="Times New Roman"/>
                <a:ea typeface="Times New Roman"/>
                <a:cs typeface="Times New Roman"/>
                <a:sym typeface="Times New Roman"/>
              </a:rPr>
              <a:t>Hence the lock is placed on the class object that is, Counter.class object and not on the object itself.  Any other non static synchronized methods are still available for access by other threads.</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 sz="4400" u="none">
                <a:solidFill>
                  <a:schemeClr val="dk1"/>
                </a:solidFill>
                <a:latin typeface="Calibri"/>
                <a:ea typeface="Calibri"/>
                <a:cs typeface="Calibri"/>
                <a:sym typeface="Calibri"/>
              </a:rPr>
              <a:t>Common Synchronization mistake</a:t>
            </a:r>
            <a:endParaRPr/>
          </a:p>
        </p:txBody>
      </p:sp>
      <p:sp>
        <p:nvSpPr>
          <p:cNvPr id="91" name="Google Shape;91;p19"/>
          <p:cNvSpPr txBox="1"/>
          <p:nvPr>
            <p:ph idx="1" type="body"/>
          </p:nvPr>
        </p:nvSpPr>
        <p:spPr>
          <a:xfrm>
            <a:off x="457200" y="900113"/>
            <a:ext cx="8229600" cy="254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600"/>
              <a:buFont typeface="Arial"/>
              <a:buNone/>
            </a:pPr>
            <a:r>
              <a:rPr b="1" i="0" lang="en" sz="1600" u="none">
                <a:solidFill>
                  <a:schemeClr val="dk1"/>
                </a:solidFill>
                <a:latin typeface="Calibri"/>
                <a:ea typeface="Calibri"/>
                <a:cs typeface="Calibri"/>
                <a:sym typeface="Calibri"/>
              </a:rPr>
              <a:t>public class Counter</a:t>
            </a:r>
            <a:r>
              <a:rPr b="0" i="0" lang="en" sz="1600" u="none">
                <a:solidFill>
                  <a:schemeClr val="dk1"/>
                </a:solidFill>
                <a:latin typeface="Calibri"/>
                <a:ea typeface="Calibri"/>
                <a:cs typeface="Calibri"/>
                <a:sym typeface="Calibri"/>
              </a:rPr>
              <a: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private int count = 0;</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public </a:t>
            </a:r>
            <a:r>
              <a:rPr b="1" i="0" lang="en" sz="1600" u="none">
                <a:solidFill>
                  <a:schemeClr val="dk1"/>
                </a:solidFill>
                <a:latin typeface="Calibri"/>
                <a:ea typeface="Calibri"/>
                <a:cs typeface="Calibri"/>
                <a:sym typeface="Calibri"/>
              </a:rPr>
              <a:t>static synchronized </a:t>
            </a:r>
            <a:r>
              <a:rPr b="0" i="0" lang="en" sz="1600" u="none">
                <a:solidFill>
                  <a:schemeClr val="dk1"/>
                </a:solidFill>
                <a:latin typeface="Calibri"/>
                <a:ea typeface="Calibri"/>
                <a:cs typeface="Calibri"/>
                <a:sym typeface="Calibri"/>
              </a:rPr>
              <a:t>int getCount(){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return 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a:t>
            </a:r>
            <a:br>
              <a:rPr b="0" i="0" lang="en" sz="1600" u="none">
                <a:solidFill>
                  <a:schemeClr val="dk1"/>
                </a:solidFill>
                <a:latin typeface="Calibri"/>
                <a:ea typeface="Calibri"/>
                <a:cs typeface="Calibri"/>
                <a:sym typeface="Calibri"/>
              </a:rPr>
            </a:b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public </a:t>
            </a:r>
            <a:r>
              <a:rPr b="1" i="0" lang="en" sz="1600" u="none">
                <a:solidFill>
                  <a:schemeClr val="dk1"/>
                </a:solidFill>
                <a:latin typeface="Calibri"/>
                <a:ea typeface="Calibri"/>
                <a:cs typeface="Calibri"/>
                <a:sym typeface="Calibri"/>
              </a:rPr>
              <a:t>synchronized </a:t>
            </a:r>
            <a:r>
              <a:rPr b="0" i="0" lang="en" sz="1600" u="none">
                <a:solidFill>
                  <a:schemeClr val="dk1"/>
                </a:solidFill>
                <a:latin typeface="Calibri"/>
                <a:ea typeface="Calibri"/>
                <a:cs typeface="Calibri"/>
                <a:sym typeface="Calibri"/>
              </a:rPr>
              <a:t>setCount(int 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this.count = count;</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	}</a:t>
            </a:r>
            <a:endParaRPr/>
          </a:p>
          <a:p>
            <a:pPr indent="-342900" lvl="0" marL="342900" marR="0" rtl="0" algn="l">
              <a:lnSpc>
                <a:spcPct val="100000"/>
              </a:lnSpc>
              <a:spcBef>
                <a:spcPts val="320"/>
              </a:spcBef>
              <a:spcAft>
                <a:spcPts val="0"/>
              </a:spcAft>
              <a:buClr>
                <a:schemeClr val="dk1"/>
              </a:buClr>
              <a:buSzPts val="1600"/>
              <a:buFont typeface="Arial"/>
              <a:buNone/>
            </a:pPr>
            <a:r>
              <a:rPr b="0" i="0" lang="en" sz="1600" u="none">
                <a:solidFill>
                  <a:schemeClr val="dk1"/>
                </a:solidFill>
                <a:latin typeface="Calibri"/>
                <a:ea typeface="Calibri"/>
                <a:cs typeface="Calibri"/>
                <a:sym typeface="Calibri"/>
              </a:rPr>
              <a:t>}</a:t>
            </a:r>
            <a:endParaRPr/>
          </a:p>
          <a:p>
            <a:pPr indent="-342900" lvl="0" marL="342900" marR="0" rtl="0" algn="l">
              <a:lnSpc>
                <a:spcPct val="100000"/>
              </a:lnSpc>
              <a:spcBef>
                <a:spcPts val="320"/>
              </a:spcBef>
              <a:spcAft>
                <a:spcPts val="0"/>
              </a:spcAft>
              <a:buClr>
                <a:schemeClr val="dk1"/>
              </a:buClr>
              <a:buSzPts val="1600"/>
              <a:buFont typeface="Arial"/>
              <a:buChar char="•"/>
            </a:pPr>
            <a:r>
              <a:rPr b="0" i="0" lang="en" sz="1600" u="none">
                <a:solidFill>
                  <a:schemeClr val="dk1"/>
                </a:solidFill>
                <a:latin typeface="Calibri"/>
                <a:ea typeface="Calibri"/>
                <a:cs typeface="Calibri"/>
                <a:sym typeface="Calibri"/>
              </a:rPr>
              <a:t>The common mistake here is one method is static synchronized and another method is non static synchronized.</a:t>
            </a:r>
            <a:endParaRPr/>
          </a:p>
          <a:p>
            <a:pPr indent="-342900" lvl="0" marL="342900" marR="0" rtl="0" algn="l">
              <a:lnSpc>
                <a:spcPct val="100000"/>
              </a:lnSpc>
              <a:spcBef>
                <a:spcPts val="320"/>
              </a:spcBef>
              <a:spcAft>
                <a:spcPts val="0"/>
              </a:spcAft>
              <a:buClr>
                <a:schemeClr val="dk1"/>
              </a:buClr>
              <a:buSzPts val="1600"/>
              <a:buFont typeface="Arial"/>
              <a:buChar char="•"/>
            </a:pPr>
            <a:r>
              <a:rPr b="0" i="0" lang="en" sz="1600" u="none">
                <a:solidFill>
                  <a:schemeClr val="dk1"/>
                </a:solidFill>
                <a:latin typeface="Calibri"/>
                <a:ea typeface="Calibri"/>
                <a:cs typeface="Calibri"/>
                <a:sym typeface="Calibri"/>
              </a:rPr>
              <a:t>This makes a difference as locks are placed on two different objects. The class object and the instance and hence two different threads can access the methods simultaneously.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 sz="4400" u="none">
                <a:solidFill>
                  <a:schemeClr val="dk1"/>
                </a:solidFill>
                <a:latin typeface="Calibri"/>
                <a:ea typeface="Calibri"/>
                <a:cs typeface="Calibri"/>
                <a:sym typeface="Calibri"/>
              </a:rPr>
              <a:t>Object locking</a:t>
            </a:r>
            <a:endParaRPr/>
          </a:p>
        </p:txBody>
      </p:sp>
      <p:sp>
        <p:nvSpPr>
          <p:cNvPr id="97" name="Google Shape;97;p20"/>
          <p:cNvSpPr txBox="1"/>
          <p:nvPr>
            <p:ph idx="1" type="body"/>
          </p:nvPr>
        </p:nvSpPr>
        <p:spPr>
          <a:xfrm>
            <a:off x="416000" y="909559"/>
            <a:ext cx="8270700" cy="3254700"/>
          </a:xfrm>
          <a:prstGeom prst="rect">
            <a:avLst/>
          </a:prstGeom>
          <a:noFill/>
          <a:ln>
            <a:noFill/>
          </a:ln>
        </p:spPr>
        <p:txBody>
          <a:bodyPr anchorCtr="0" anchor="t" bIns="45700" lIns="91425" spcFirstLastPara="1" rIns="91425" wrap="square" tIns="45700">
            <a:normAutofit fontScale="92500" lnSpcReduction="20000"/>
          </a:bodyPr>
          <a:lstStyle/>
          <a:p>
            <a:pPr indent="-333375" lvl="0" marL="342900" marR="0" rtl="0" algn="l">
              <a:lnSpc>
                <a:spcPct val="80000"/>
              </a:lnSpc>
              <a:spcBef>
                <a:spcPts val="0"/>
              </a:spcBef>
              <a:spcAft>
                <a:spcPts val="0"/>
              </a:spcAft>
              <a:buClr>
                <a:schemeClr val="dk1"/>
              </a:buClr>
              <a:buSzPct val="100000"/>
              <a:buFont typeface="Arial"/>
              <a:buChar char="•"/>
            </a:pPr>
            <a:r>
              <a:rPr b="0" i="0" lang="en" sz="2000" u="none">
                <a:solidFill>
                  <a:schemeClr val="dk1"/>
                </a:solidFill>
                <a:latin typeface="Calibri"/>
                <a:ea typeface="Calibri"/>
                <a:cs typeface="Calibri"/>
                <a:sym typeface="Calibri"/>
              </a:rPr>
              <a:t>The object can be explicitly locked in this way </a:t>
            </a:r>
            <a:endParaRPr/>
          </a:p>
          <a:p>
            <a:pPr indent="-285750" lvl="1" marL="742950" marR="0" rtl="0" algn="l">
              <a:lnSpc>
                <a:spcPct val="80000"/>
              </a:lnSpc>
              <a:spcBef>
                <a:spcPts val="280"/>
              </a:spcBef>
              <a:spcAft>
                <a:spcPts val="0"/>
              </a:spcAft>
              <a:buClr>
                <a:schemeClr val="dk1"/>
              </a:buClr>
              <a:buSzPct val="100000"/>
              <a:buFont typeface="Arial"/>
              <a:buNone/>
            </a:pPr>
            <a:r>
              <a:rPr b="0" i="0" lang="en" sz="1400" u="none" cap="none" strike="noStrike">
                <a:solidFill>
                  <a:schemeClr val="dk1"/>
                </a:solidFill>
                <a:latin typeface="Calibri"/>
                <a:ea typeface="Calibri"/>
                <a:cs typeface="Calibri"/>
                <a:sym typeface="Calibri"/>
              </a:rPr>
              <a:t>synchronized(myInstance){</a:t>
            </a:r>
            <a:endParaRPr/>
          </a:p>
          <a:p>
            <a:pPr indent="-285750" lvl="1" marL="742950" marR="0" rtl="0" algn="l">
              <a:lnSpc>
                <a:spcPct val="80000"/>
              </a:lnSpc>
              <a:spcBef>
                <a:spcPts val="280"/>
              </a:spcBef>
              <a:spcAft>
                <a:spcPts val="0"/>
              </a:spcAft>
              <a:buClr>
                <a:schemeClr val="dk1"/>
              </a:buClr>
              <a:buSzPct val="100000"/>
              <a:buFont typeface="Arial"/>
              <a:buNone/>
            </a:pPr>
            <a:r>
              <a:rPr b="0" i="0" lang="en" sz="1400" u="none" cap="none" strike="noStrike">
                <a:solidFill>
                  <a:schemeClr val="dk1"/>
                </a:solidFill>
                <a:latin typeface="Calibri"/>
                <a:ea typeface="Calibri"/>
                <a:cs typeface="Calibri"/>
                <a:sym typeface="Calibri"/>
              </a:rPr>
              <a:t>try{</a:t>
            </a:r>
            <a:endParaRPr/>
          </a:p>
          <a:p>
            <a:pPr indent="-285750" lvl="1" marL="742950" marR="0" rtl="0" algn="l">
              <a:lnSpc>
                <a:spcPct val="80000"/>
              </a:lnSpc>
              <a:spcBef>
                <a:spcPts val="280"/>
              </a:spcBef>
              <a:spcAft>
                <a:spcPts val="0"/>
              </a:spcAft>
              <a:buClr>
                <a:schemeClr val="dk1"/>
              </a:buClr>
              <a:buSzPct val="100000"/>
              <a:buFont typeface="Arial"/>
              <a:buNone/>
            </a:pPr>
            <a:r>
              <a:rPr b="0" i="0" lang="en" sz="1400" u="none" cap="none" strike="noStrike">
                <a:solidFill>
                  <a:schemeClr val="dk1"/>
                </a:solidFill>
                <a:latin typeface="Calibri"/>
                <a:ea typeface="Calibri"/>
                <a:cs typeface="Calibri"/>
                <a:sym typeface="Calibri"/>
              </a:rPr>
              <a:t>wait();</a:t>
            </a:r>
            <a:endParaRPr/>
          </a:p>
          <a:p>
            <a:pPr indent="-285750" lvl="1" marL="742950" marR="0" rtl="0" algn="l">
              <a:lnSpc>
                <a:spcPct val="80000"/>
              </a:lnSpc>
              <a:spcBef>
                <a:spcPts val="280"/>
              </a:spcBef>
              <a:spcAft>
                <a:spcPts val="0"/>
              </a:spcAft>
              <a:buClr>
                <a:schemeClr val="dk1"/>
              </a:buClr>
              <a:buSzPct val="100000"/>
              <a:buFont typeface="Arial"/>
              <a:buNone/>
            </a:pPr>
            <a:r>
              <a:rPr b="0" i="0" lang="en" sz="1400" u="none" cap="none" strike="noStrike">
                <a:solidFill>
                  <a:schemeClr val="dk1"/>
                </a:solidFill>
                <a:latin typeface="Calibri"/>
                <a:ea typeface="Calibri"/>
                <a:cs typeface="Calibri"/>
                <a:sym typeface="Calibri"/>
              </a:rPr>
              <a:t>}catch(InterruptedException ex){</a:t>
            </a:r>
            <a:endParaRPr/>
          </a:p>
          <a:p>
            <a:pPr indent="-285750" lvl="1" marL="742950" marR="0" rtl="0" algn="l">
              <a:lnSpc>
                <a:spcPct val="80000"/>
              </a:lnSpc>
              <a:spcBef>
                <a:spcPts val="280"/>
              </a:spcBef>
              <a:spcAft>
                <a:spcPts val="0"/>
              </a:spcAft>
              <a:buClr>
                <a:schemeClr val="dk1"/>
              </a:buClr>
              <a:buSzPct val="100000"/>
              <a:buFont typeface="Arial"/>
              <a:buNone/>
            </a:pPr>
            <a:r>
              <a:t/>
            </a:r>
            <a:endParaRPr b="0" i="0" sz="1400" u="none" cap="none" strike="noStrike">
              <a:solidFill>
                <a:schemeClr val="dk1"/>
              </a:solidFill>
              <a:latin typeface="Calibri"/>
              <a:ea typeface="Calibri"/>
              <a:cs typeface="Calibri"/>
              <a:sym typeface="Calibri"/>
            </a:endParaRPr>
          </a:p>
          <a:p>
            <a:pPr indent="-285750" lvl="1" marL="742950" marR="0" rtl="0" algn="l">
              <a:lnSpc>
                <a:spcPct val="80000"/>
              </a:lnSpc>
              <a:spcBef>
                <a:spcPts val="280"/>
              </a:spcBef>
              <a:spcAft>
                <a:spcPts val="0"/>
              </a:spcAft>
              <a:buClr>
                <a:schemeClr val="dk1"/>
              </a:buClr>
              <a:buSzPct val="100000"/>
              <a:buFont typeface="Arial"/>
              <a:buNone/>
            </a:pPr>
            <a:r>
              <a:rPr b="0" i="0" lang="en" sz="1400" u="none" cap="none" strike="noStrike">
                <a:solidFill>
                  <a:schemeClr val="dk1"/>
                </a:solidFill>
                <a:latin typeface="Calibri"/>
                <a:ea typeface="Calibri"/>
                <a:cs typeface="Calibri"/>
                <a:sym typeface="Calibri"/>
              </a:rPr>
              <a:t>}</a:t>
            </a:r>
            <a:endParaRPr/>
          </a:p>
          <a:p>
            <a:pPr indent="-285750" lvl="1" marL="742950" marR="0" rtl="0" algn="l">
              <a:lnSpc>
                <a:spcPct val="80000"/>
              </a:lnSpc>
              <a:spcBef>
                <a:spcPts val="280"/>
              </a:spcBef>
              <a:spcAft>
                <a:spcPts val="0"/>
              </a:spcAft>
              <a:buClr>
                <a:schemeClr val="dk1"/>
              </a:buClr>
              <a:buSzPct val="100000"/>
              <a:buFont typeface="Arial"/>
              <a:buNone/>
            </a:pPr>
            <a:r>
              <a:rPr b="0" i="0" lang="en" sz="1400" u="none" cap="none" strike="noStrike">
                <a:solidFill>
                  <a:schemeClr val="dk1"/>
                </a:solidFill>
                <a:latin typeface="Calibri"/>
                <a:ea typeface="Calibri"/>
                <a:cs typeface="Calibri"/>
                <a:sym typeface="Calibri"/>
              </a:rPr>
              <a:t>	System.out.println(“Iam in this “);</a:t>
            </a:r>
            <a:endParaRPr/>
          </a:p>
          <a:p>
            <a:pPr indent="-285750" lvl="1" marL="742950" marR="0" rtl="0" algn="l">
              <a:lnSpc>
                <a:spcPct val="80000"/>
              </a:lnSpc>
              <a:spcBef>
                <a:spcPts val="280"/>
              </a:spcBef>
              <a:spcAft>
                <a:spcPts val="0"/>
              </a:spcAft>
              <a:buClr>
                <a:schemeClr val="dk1"/>
              </a:buClr>
              <a:buSzPct val="100000"/>
              <a:buFont typeface="Arial"/>
              <a:buNone/>
            </a:pPr>
            <a:r>
              <a:rPr b="0" i="0" lang="en" sz="1400" u="none" cap="none" strike="noStrike">
                <a:solidFill>
                  <a:schemeClr val="dk1"/>
                </a:solidFill>
                <a:latin typeface="Calibri"/>
                <a:ea typeface="Calibri"/>
                <a:cs typeface="Calibri"/>
                <a:sym typeface="Calibri"/>
              </a:rPr>
              <a:t>	notifyAll();</a:t>
            </a:r>
            <a:endParaRPr/>
          </a:p>
          <a:p>
            <a:pPr indent="-285750" lvl="1" marL="742950" marR="0" rtl="0" algn="l">
              <a:lnSpc>
                <a:spcPct val="80000"/>
              </a:lnSpc>
              <a:spcBef>
                <a:spcPts val="280"/>
              </a:spcBef>
              <a:spcAft>
                <a:spcPts val="0"/>
              </a:spcAft>
              <a:buClr>
                <a:schemeClr val="dk1"/>
              </a:buClr>
              <a:buSzPct val="100000"/>
              <a:buFont typeface="Arial"/>
              <a:buNone/>
            </a:pPr>
            <a:r>
              <a:rPr b="0" i="0" lang="en" sz="1400" u="none" cap="none" strike="noStrike">
                <a:solidFill>
                  <a:schemeClr val="dk1"/>
                </a:solidFill>
                <a:latin typeface="Calibri"/>
                <a:ea typeface="Calibri"/>
                <a:cs typeface="Calibri"/>
                <a:sym typeface="Calibri"/>
              </a:rPr>
              <a:t>}</a:t>
            </a:r>
            <a:endParaRPr/>
          </a:p>
          <a:p>
            <a:pPr indent="-276225" lvl="1" marL="742950" marR="0" rtl="0" algn="l">
              <a:lnSpc>
                <a:spcPct val="80000"/>
              </a:lnSpc>
              <a:spcBef>
                <a:spcPts val="400"/>
              </a:spcBef>
              <a:spcAft>
                <a:spcPts val="0"/>
              </a:spcAft>
              <a:buClr>
                <a:schemeClr val="dk1"/>
              </a:buClr>
              <a:buSzPct val="100000"/>
              <a:buFont typeface="Arial"/>
              <a:buChar char="•"/>
            </a:pPr>
            <a:r>
              <a:rPr b="0" i="0" lang="en" sz="2000" u="none" cap="none" strike="noStrike">
                <a:solidFill>
                  <a:schemeClr val="dk1"/>
                </a:solidFill>
                <a:latin typeface="Calibri"/>
                <a:ea typeface="Calibri"/>
                <a:cs typeface="Calibri"/>
                <a:sym typeface="Calibri"/>
              </a:rPr>
              <a:t>The synchronized keyword locks the object. The wait keyword waits for the lock to be acquired, if the object was already locked by another thread. Notifyall() notifies other threads that the lock is about to be released by the current thread.</a:t>
            </a:r>
            <a:endParaRPr/>
          </a:p>
          <a:p>
            <a:pPr indent="-276225" lvl="1" marL="742950" marR="0" rtl="0" algn="l">
              <a:lnSpc>
                <a:spcPct val="80000"/>
              </a:lnSpc>
              <a:spcBef>
                <a:spcPts val="400"/>
              </a:spcBef>
              <a:spcAft>
                <a:spcPts val="0"/>
              </a:spcAft>
              <a:buClr>
                <a:schemeClr val="dk1"/>
              </a:buClr>
              <a:buSzPct val="100000"/>
              <a:buFont typeface="Arial"/>
              <a:buChar char="•"/>
            </a:pPr>
            <a:r>
              <a:rPr b="0" i="0" lang="en" sz="2000" u="none" cap="none" strike="noStrike">
                <a:solidFill>
                  <a:schemeClr val="dk1"/>
                </a:solidFill>
                <a:latin typeface="Calibri"/>
                <a:ea typeface="Calibri"/>
                <a:cs typeface="Calibri"/>
                <a:sym typeface="Calibri"/>
              </a:rPr>
              <a:t>Another method notify() is available for use, which wakes up only the next thread which is in queue for the object, notifyall() wakes up all the threads and transfers the lock to another thread having the highest priority.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Thread Deadlock</a:t>
            </a:r>
            <a:endParaRPr/>
          </a:p>
        </p:txBody>
      </p:sp>
      <p:sp>
        <p:nvSpPr>
          <p:cNvPr id="103" name="Google Shape;103;p21"/>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Font typeface="Times New Roman"/>
              <a:buChar char="●"/>
            </a:pPr>
            <a:r>
              <a:rPr lang="en">
                <a:solidFill>
                  <a:schemeClr val="dk1"/>
                </a:solidFill>
                <a:latin typeface="Times New Roman"/>
                <a:ea typeface="Times New Roman"/>
                <a:cs typeface="Times New Roman"/>
                <a:sym typeface="Times New Roman"/>
              </a:rPr>
              <a:t>D</a:t>
            </a:r>
            <a:r>
              <a:rPr lang="en">
                <a:solidFill>
                  <a:schemeClr val="dk1"/>
                </a:solidFill>
                <a:latin typeface="Times New Roman"/>
                <a:ea typeface="Times New Roman"/>
                <a:cs typeface="Times New Roman"/>
                <a:sym typeface="Times New Roman"/>
              </a:rPr>
              <a:t>eadlock occurs when two threads are blocked, with each waiting for the other's lock. </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solidFill>
                  <a:schemeClr val="dk1"/>
                </a:solidFill>
                <a:latin typeface="Times New Roman"/>
                <a:ea typeface="Times New Roman"/>
                <a:cs typeface="Times New Roman"/>
                <a:sym typeface="Times New Roman"/>
              </a:rPr>
              <a:t>Neither can run until the other gives up its lock, so they'll sit there forever</a:t>
            </a:r>
            <a:endParaRPr>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0" y="-68324"/>
            <a:ext cx="8229600" cy="5868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Deadlock </a:t>
            </a:r>
            <a:endParaRPr/>
          </a:p>
          <a:p>
            <a:pPr indent="0" lvl="0" marL="0" rtl="0" algn="l">
              <a:spcBef>
                <a:spcPts val="0"/>
              </a:spcBef>
              <a:spcAft>
                <a:spcPts val="0"/>
              </a:spcAft>
              <a:buNone/>
            </a:pPr>
            <a:r>
              <a:rPr lang="en"/>
              <a:t>Example</a:t>
            </a:r>
            <a:endParaRPr/>
          </a:p>
        </p:txBody>
      </p:sp>
      <p:sp>
        <p:nvSpPr>
          <p:cNvPr id="109" name="Google Shape;109;p22"/>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0" lvl="0" marL="0" rtl="0" algn="l">
              <a:spcBef>
                <a:spcPts val="360"/>
              </a:spcBef>
              <a:spcAft>
                <a:spcPts val="1200"/>
              </a:spcAft>
              <a:buNone/>
            </a:pPr>
            <a:r>
              <a:t/>
            </a:r>
            <a:endParaRPr/>
          </a:p>
        </p:txBody>
      </p:sp>
      <p:pic>
        <p:nvPicPr>
          <p:cNvPr id="110" name="Google Shape;110;p22"/>
          <p:cNvPicPr preferRelativeResize="0"/>
          <p:nvPr/>
        </p:nvPicPr>
        <p:blipFill>
          <a:blip r:embed="rId3">
            <a:alphaModFix/>
          </a:blip>
          <a:stretch>
            <a:fillRect/>
          </a:stretch>
        </p:blipFill>
        <p:spPr>
          <a:xfrm>
            <a:off x="1865194" y="-27450"/>
            <a:ext cx="6661762"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Inter Thread Communication</a:t>
            </a:r>
            <a:endParaRPr/>
          </a:p>
        </p:txBody>
      </p:sp>
      <p:sp>
        <p:nvSpPr>
          <p:cNvPr id="116" name="Google Shape;116;p23"/>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304800" lvl="0" marL="457200" rtl="0" algn="l">
              <a:spcBef>
                <a:spcPts val="500"/>
              </a:spcBef>
              <a:spcAft>
                <a:spcPts val="0"/>
              </a:spcAft>
              <a:buSzPts val="1200"/>
              <a:buFont typeface="Times New Roman"/>
              <a:buChar char="●"/>
            </a:pPr>
            <a:r>
              <a:rPr lang="en" sz="1200">
                <a:solidFill>
                  <a:schemeClr val="dk1"/>
                </a:solidFill>
                <a:latin typeface="Times New Roman"/>
                <a:ea typeface="Times New Roman"/>
                <a:cs typeface="Times New Roman"/>
                <a:sym typeface="Times New Roman"/>
              </a:rPr>
              <a:t>When multiple threads are running inside an application, most of them will need to communicate with each other in some form.</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 sz="1200">
                <a:solidFill>
                  <a:schemeClr val="dk1"/>
                </a:solidFill>
                <a:latin typeface="Times New Roman"/>
                <a:ea typeface="Times New Roman"/>
                <a:cs typeface="Times New Roman"/>
                <a:sym typeface="Times New Roman"/>
              </a:rPr>
              <a:t>Threads can communicate each other using wait() and notify()/notifyAll() methods without any race condition.</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 sz="1200">
                <a:solidFill>
                  <a:schemeClr val="dk1"/>
                </a:solidFill>
                <a:latin typeface="Times New Roman"/>
                <a:ea typeface="Times New Roman"/>
                <a:cs typeface="Times New Roman"/>
                <a:sym typeface="Times New Roman"/>
              </a:rPr>
              <a:t>Wait-and-notify must be used in conjunction with the synchronized lock to prevent a race condition.</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 sz="1200">
                <a:solidFill>
                  <a:schemeClr val="dk1"/>
                </a:solidFill>
                <a:latin typeface="Times New Roman"/>
                <a:ea typeface="Times New Roman"/>
                <a:cs typeface="Times New Roman"/>
                <a:sym typeface="Times New Roman"/>
              </a:rPr>
              <a:t>sleep() </a:t>
            </a:r>
            <a:r>
              <a:rPr i="1" lang="en" sz="1200">
                <a:solidFill>
                  <a:schemeClr val="dk1"/>
                </a:solidFill>
                <a:latin typeface="Times New Roman"/>
                <a:ea typeface="Times New Roman"/>
                <a:cs typeface="Times New Roman"/>
                <a:sym typeface="Times New Roman"/>
              </a:rPr>
              <a:t>does not </a:t>
            </a:r>
            <a:r>
              <a:rPr lang="en" sz="1200">
                <a:solidFill>
                  <a:schemeClr val="dk1"/>
                </a:solidFill>
                <a:latin typeface="Times New Roman"/>
                <a:ea typeface="Times New Roman"/>
                <a:cs typeface="Times New Roman"/>
                <a:sym typeface="Times New Roman"/>
              </a:rPr>
              <a:t>release the lock when it is called but method wait() does release the lock.</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 sz="1200">
                <a:solidFill>
                  <a:schemeClr val="dk1"/>
                </a:solidFill>
                <a:latin typeface="Times New Roman"/>
                <a:ea typeface="Times New Roman"/>
                <a:cs typeface="Times New Roman"/>
                <a:sym typeface="Times New Roman"/>
              </a:rPr>
              <a:t>The </a:t>
            </a:r>
            <a:r>
              <a:rPr i="1" lang="en" sz="1200">
                <a:solidFill>
                  <a:schemeClr val="dk1"/>
                </a:solidFill>
                <a:latin typeface="Times New Roman"/>
                <a:ea typeface="Times New Roman"/>
                <a:cs typeface="Times New Roman"/>
                <a:sym typeface="Times New Roman"/>
              </a:rPr>
              <a:t>only </a:t>
            </a:r>
            <a:r>
              <a:rPr lang="en" sz="1200">
                <a:solidFill>
                  <a:schemeClr val="dk1"/>
                </a:solidFill>
                <a:latin typeface="Times New Roman"/>
                <a:ea typeface="Times New Roman"/>
                <a:cs typeface="Times New Roman"/>
                <a:sym typeface="Times New Roman"/>
              </a:rPr>
              <a:t>place you can call wait( ), notify( ) or notifyAll( ) is within a synchronized method.</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 sz="1200">
                <a:solidFill>
                  <a:schemeClr val="dk1"/>
                </a:solidFill>
                <a:latin typeface="Times New Roman"/>
                <a:ea typeface="Times New Roman"/>
                <a:cs typeface="Times New Roman"/>
                <a:sym typeface="Times New Roman"/>
              </a:rPr>
              <a:t>Methods  wait(), notify() and notifyAll() are part of the base class Object and not part of Thread, as is sleep(). Why???</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1200"/>
              </a:spcAft>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429750" y="-68347"/>
            <a:ext cx="8229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Examples</a:t>
            </a:r>
            <a:endParaRPr/>
          </a:p>
        </p:txBody>
      </p:sp>
      <p:sp>
        <p:nvSpPr>
          <p:cNvPr id="122" name="Google Shape;122;p24"/>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0" lvl="0" marL="0" rtl="0" algn="l">
              <a:spcBef>
                <a:spcPts val="360"/>
              </a:spcBef>
              <a:spcAft>
                <a:spcPts val="1200"/>
              </a:spcAft>
              <a:buNone/>
            </a:pPr>
            <a:r>
              <a:t/>
            </a:r>
            <a:endParaRPr/>
          </a:p>
        </p:txBody>
      </p:sp>
      <p:pic>
        <p:nvPicPr>
          <p:cNvPr id="123" name="Google Shape;123;p24"/>
          <p:cNvPicPr preferRelativeResize="0"/>
          <p:nvPr/>
        </p:nvPicPr>
        <p:blipFill>
          <a:blip r:embed="rId3">
            <a:alphaModFix/>
          </a:blip>
          <a:stretch>
            <a:fillRect/>
          </a:stretch>
        </p:blipFill>
        <p:spPr>
          <a:xfrm>
            <a:off x="1210700" y="637800"/>
            <a:ext cx="7476099" cy="4214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a:t>Examples</a:t>
            </a:r>
            <a:endParaRPr/>
          </a:p>
          <a:p>
            <a:pPr indent="0" lvl="0" marL="0" rtl="0" algn="ctr">
              <a:spcBef>
                <a:spcPts val="0"/>
              </a:spcBef>
              <a:spcAft>
                <a:spcPts val="0"/>
              </a:spcAft>
              <a:buNone/>
            </a:pPr>
            <a:r>
              <a:t/>
            </a:r>
            <a:endParaRPr/>
          </a:p>
        </p:txBody>
      </p:sp>
      <p:sp>
        <p:nvSpPr>
          <p:cNvPr id="129" name="Google Shape;129;p25"/>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0" lvl="0" marL="0" rtl="0" algn="l">
              <a:spcBef>
                <a:spcPts val="360"/>
              </a:spcBef>
              <a:spcAft>
                <a:spcPts val="1200"/>
              </a:spcAft>
              <a:buNone/>
            </a:pPr>
            <a:r>
              <a:t/>
            </a:r>
            <a:endParaRPr/>
          </a:p>
        </p:txBody>
      </p:sp>
      <p:pic>
        <p:nvPicPr>
          <p:cNvPr id="130" name="Google Shape;130;p25"/>
          <p:cNvPicPr preferRelativeResize="0"/>
          <p:nvPr/>
        </p:nvPicPr>
        <p:blipFill>
          <a:blip r:embed="rId3">
            <a:alphaModFix/>
          </a:blip>
          <a:stretch>
            <a:fillRect/>
          </a:stretch>
        </p:blipFill>
        <p:spPr>
          <a:xfrm>
            <a:off x="725050" y="910975"/>
            <a:ext cx="8286750" cy="3790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a:t>Examples</a:t>
            </a:r>
            <a:endParaRPr/>
          </a:p>
          <a:p>
            <a:pPr indent="0" lvl="0" marL="0" rtl="0" algn="ctr">
              <a:spcBef>
                <a:spcPts val="0"/>
              </a:spcBef>
              <a:spcAft>
                <a:spcPts val="0"/>
              </a:spcAft>
              <a:buNone/>
            </a:pPr>
            <a:r>
              <a:t/>
            </a:r>
            <a:endParaRPr/>
          </a:p>
        </p:txBody>
      </p:sp>
      <p:sp>
        <p:nvSpPr>
          <p:cNvPr id="136" name="Google Shape;136;p26"/>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0" lvl="0" marL="0" rtl="0" algn="l">
              <a:spcBef>
                <a:spcPts val="360"/>
              </a:spcBef>
              <a:spcAft>
                <a:spcPts val="1200"/>
              </a:spcAft>
              <a:buNone/>
            </a:pPr>
            <a:r>
              <a:t/>
            </a:r>
            <a:endParaRPr/>
          </a:p>
        </p:txBody>
      </p:sp>
      <p:pic>
        <p:nvPicPr>
          <p:cNvPr id="137" name="Google Shape;137;p26"/>
          <p:cNvPicPr preferRelativeResize="0"/>
          <p:nvPr/>
        </p:nvPicPr>
        <p:blipFill>
          <a:blip r:embed="rId3">
            <a:alphaModFix/>
          </a:blip>
          <a:stretch>
            <a:fillRect/>
          </a:stretch>
        </p:blipFill>
        <p:spPr>
          <a:xfrm>
            <a:off x="499875" y="1030413"/>
            <a:ext cx="8267700" cy="2657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43" name="Google Shape;143;p27"/>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0" lvl="0" marL="0" rtl="0" algn="l">
              <a:spcBef>
                <a:spcPts val="360"/>
              </a:spcBef>
              <a:spcAft>
                <a:spcPts val="1200"/>
              </a:spcAft>
              <a:buNone/>
            </a:pPr>
            <a:r>
              <a:t/>
            </a:r>
            <a:endParaRPr/>
          </a:p>
        </p:txBody>
      </p:sp>
      <p:pic>
        <p:nvPicPr>
          <p:cNvPr id="144" name="Google Shape;144;p27"/>
          <p:cNvPicPr preferRelativeResize="0"/>
          <p:nvPr/>
        </p:nvPicPr>
        <p:blipFill>
          <a:blip r:embed="rId3">
            <a:alphaModFix/>
          </a:blip>
          <a:stretch>
            <a:fillRect/>
          </a:stretch>
        </p:blipFill>
        <p:spPr>
          <a:xfrm>
            <a:off x="395424" y="0"/>
            <a:ext cx="8353152"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50" name="Google Shape;150;p28"/>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0" lvl="0" marL="0" rtl="0" algn="l">
              <a:spcBef>
                <a:spcPts val="360"/>
              </a:spcBef>
              <a:spcAft>
                <a:spcPts val="1200"/>
              </a:spcAft>
              <a:buNone/>
            </a:pPr>
            <a:r>
              <a:t/>
            </a:r>
            <a:endParaRPr/>
          </a:p>
        </p:txBody>
      </p:sp>
      <p:pic>
        <p:nvPicPr>
          <p:cNvPr id="151" name="Google Shape;151;p28"/>
          <p:cNvPicPr preferRelativeResize="0"/>
          <p:nvPr/>
        </p:nvPicPr>
        <p:blipFill>
          <a:blip r:embed="rId3">
            <a:alphaModFix/>
          </a:blip>
          <a:stretch>
            <a:fillRect/>
          </a:stretch>
        </p:blipFill>
        <p:spPr>
          <a:xfrm>
            <a:off x="253750" y="512143"/>
            <a:ext cx="9144000" cy="450321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 sz="4400" u="none">
                <a:solidFill>
                  <a:schemeClr val="dk1"/>
                </a:solidFill>
                <a:latin typeface="Calibri"/>
                <a:ea typeface="Calibri"/>
                <a:cs typeface="Calibri"/>
                <a:sym typeface="Calibri"/>
              </a:rPr>
              <a:t>Further Reading</a:t>
            </a:r>
            <a:endParaRPr/>
          </a:p>
        </p:txBody>
      </p:sp>
      <p:sp>
        <p:nvSpPr>
          <p:cNvPr id="157" name="Google Shape;157;p29"/>
          <p:cNvSpPr txBox="1"/>
          <p:nvPr>
            <p:ph idx="1" type="body"/>
          </p:nvPr>
        </p:nvSpPr>
        <p:spPr>
          <a:xfrm>
            <a:off x="457200" y="900113"/>
            <a:ext cx="8229600" cy="254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 sz="3200" u="sng">
                <a:solidFill>
                  <a:schemeClr val="dk1"/>
                </a:solidFill>
                <a:latin typeface="Calibri"/>
                <a:ea typeface="Calibri"/>
                <a:cs typeface="Calibri"/>
                <a:sym typeface="Calibri"/>
                <a:hlinkClick r:id="rId3">
                  <a:extLst>
                    <a:ext uri="{A12FA001-AC4F-418D-AE19-62706E023703}">
                      <ahyp:hlinkClr val="tx"/>
                    </a:ext>
                  </a:extLst>
                </a:hlinkClick>
              </a:rPr>
              <a:t>http://docs.oracle.com/javase/tutorial/essential/concurrency/sync.html</a:t>
            </a:r>
            <a:endParaRPr/>
          </a:p>
          <a:p>
            <a:pPr indent="-342900" lvl="0" marL="342900" marR="0" rtl="0" algn="l">
              <a:lnSpc>
                <a:spcPct val="100000"/>
              </a:lnSpc>
              <a:spcBef>
                <a:spcPts val="640"/>
              </a:spcBef>
              <a:spcAft>
                <a:spcPts val="0"/>
              </a:spcAft>
              <a:buClr>
                <a:schemeClr val="dk1"/>
              </a:buClr>
              <a:buSzPts val="3200"/>
              <a:buFont typeface="Arial"/>
              <a:buChar char="•"/>
            </a:pPr>
            <a:r>
              <a:rPr b="0" i="0" lang="en" sz="3200" u="none">
                <a:solidFill>
                  <a:schemeClr val="dk1"/>
                </a:solidFill>
                <a:latin typeface="Calibri"/>
                <a:ea typeface="Calibri"/>
                <a:cs typeface="Calibri"/>
                <a:sym typeface="Calibri"/>
              </a:rPr>
              <a:t>http://javarevisited.blogspot.com/2011/04/synchronization-in-java-synchronized.html</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