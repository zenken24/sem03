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58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59" r:id="rId18"/>
    <p:sldId id="276" r:id="rId19"/>
    <p:sldId id="277" r:id="rId20"/>
    <p:sldId id="278" r:id="rId21"/>
    <p:sldId id="279" r:id="rId22"/>
    <p:sldId id="260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3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9B89-DC80-74D8-D304-BFB38EDD1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C5411-7347-8F2D-6D9C-AB22AFD9F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2640A-8507-0E3C-34B5-35A8DACC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0EE6-24C9-4060-A2FD-EB717D0C4B6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FE209-546B-3CB5-D20E-A9AFCBA18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75D24-55C8-5253-9D84-B5C39492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1103-3C19-4E4A-BBC7-5ED8C5E7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81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22962-EE55-40EC-7263-A7D2F24DB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331D-6DC4-E657-1DF8-D8E981EB6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B2C66-5FEE-CF19-8E82-9F53CCF8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0EE6-24C9-4060-A2FD-EB717D0C4B6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2E056-0CC9-FCDA-3A13-7599EFD6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75DE1-42AB-7324-5354-15407070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1103-3C19-4E4A-BBC7-5ED8C5E7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99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8116-0619-D4AA-2E86-6CF7488E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EF535-E345-BDA5-766F-ADE2CCA9E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7F9CB-8E67-7277-685F-31AE2EE7F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0EE6-24C9-4060-A2FD-EB717D0C4B6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4D3-5DF4-D0F6-C7C4-85910B9E1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DB8D7-AB71-B1A3-5833-92C792CC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1103-3C19-4E4A-BBC7-5ED8C5E7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68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4960-68A0-1077-7E8A-6D3037414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CBDA5-60F9-4C2C-801A-4DC2A3D36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4C3AC-DC40-F7EB-0AE1-CAFB313F9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FDB84-6038-1672-A892-945E1164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0EE6-24C9-4060-A2FD-EB717D0C4B6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39640-4631-6EBE-EF9B-B708046CD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13EAC-49A3-D160-73B6-17FDB0578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1103-3C19-4E4A-BBC7-5ED8C5E7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89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0299-5323-E3E0-FFBA-94DF73DA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8533D-C475-3A56-3534-1E24071EA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A106E-9577-DA73-9475-4156756F6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8807D-D30E-1B62-B958-3E4A5D85B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2AB666-462B-B133-4E6F-65756738B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CA6AEA-12FB-3565-FC35-DF306666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0EE6-24C9-4060-A2FD-EB717D0C4B6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72BEBA-0394-D808-7E19-B7B1AC56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31D4A-A4B4-B1BF-CC9C-FECA7BBC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1103-3C19-4E4A-BBC7-5ED8C5E7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4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72042-16F9-B5FE-628A-32E15CA8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E7E24A-FD2D-71D2-76FD-1F40AA0D9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0EE6-24C9-4060-A2FD-EB717D0C4B6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CCD0C-8A3A-A1BD-DD7B-FCE5C63F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0FDF8D-E717-D643-1461-63FC75683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1103-3C19-4E4A-BBC7-5ED8C5E7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7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D9AC8F-8344-369F-6CD3-FC83AD7BB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0EE6-24C9-4060-A2FD-EB717D0C4B6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C2897-8507-E2A9-80CF-DB9DF224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3B302-4322-95AE-C31D-96FF9E99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1103-3C19-4E4A-BBC7-5ED8C5E7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2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383F-0E10-E684-B046-BC8FA7AC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498C1-7F0B-2D4A-4D47-EE562DCCC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D3644-6A5B-FC96-BAD7-70EFF5739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865F7-4A84-B91D-78C9-EBF1AE5FA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0EE6-24C9-4060-A2FD-EB717D0C4B6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99898-600C-4137-89E9-D30ED76A9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6B64C-5E28-6E89-BE9B-3211E826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1103-3C19-4E4A-BBC7-5ED8C5E7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89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4239F-9BA7-0438-6E3E-3AB6AC1E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D3492-C58E-DDBC-10D3-61E62079C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62C4C-5CC6-3AF9-40CB-021CFBD14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C6EE6-BC49-0BD9-5031-139AACF0D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0EE6-24C9-4060-A2FD-EB717D0C4B6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1C696-E2C4-D2C2-1FD0-EC8D0061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C8039-4E7C-E414-0961-58A44072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1103-3C19-4E4A-BBC7-5ED8C5E7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7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F91A4-BF48-4C0A-6EA0-273EEC2FA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77CD1-6ED0-D643-2838-D39AAAE14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FDFBB-7742-2FE3-02B8-2DCE7F809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0EE6-24C9-4060-A2FD-EB717D0C4B6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F1771-A54F-EB82-BD5B-433DD78EE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3DF4F-FEB9-E650-9FE9-2341B750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1103-3C19-4E4A-BBC7-5ED8C5E7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75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D7499-D264-3366-73AC-DA5918010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9F055-EE6E-0574-0415-2F35E6C84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5D6CD-617C-9980-CA5E-1981E429D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0EE6-24C9-4060-A2FD-EB717D0C4B6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3F8A9-9DEF-A7C2-DD5A-5A400735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D1423-DF68-B4EC-D404-6F0A2750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1103-3C19-4E4A-BBC7-5ED8C5E7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74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8A7472-9201-44F5-1909-A23ED069A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CD5A9-76A0-0B28-5964-3DBFED43D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23CCF-DCD1-4D4A-EF56-FDF959D07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60EE6-24C9-4060-A2FD-EB717D0C4B6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DBF95-43CE-3A16-4DAE-F611CAF23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12244-7F1B-1B6E-5047-FE1559D2B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71103-3C19-4E4A-BBC7-5ED8C5E7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3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java/association-composition-aggregation-jav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54CE2-D162-32D1-B38E-908A2BA919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Association VS Aggregation VS Composition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80FFC-231E-3F7F-CAAF-CACC411FDD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69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E92DA-F40A-BBCE-8C9D-C50497E79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7E0EB-E7B2-2AF9-0AF2-F89993D53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Association </a:t>
            </a:r>
            <a:r>
              <a:rPr lang="en-US" dirty="0"/>
              <a:t>can be considered a generic term to indicate the relationship between two independent classes.</a:t>
            </a:r>
          </a:p>
          <a:p>
            <a:pPr fontAlgn="base"/>
            <a:r>
              <a:rPr lang="en-US" dirty="0"/>
              <a:t>Relationship may be </a:t>
            </a:r>
            <a:r>
              <a:rPr lang="en-US" b="1" dirty="0"/>
              <a:t>one-to-one, one-to-many, or many-to-many</a:t>
            </a:r>
            <a:r>
              <a:rPr lang="en-US" dirty="0"/>
              <a:t>, but it need not indicate ownership.</a:t>
            </a:r>
          </a:p>
          <a:p>
            <a:pPr fontAlgn="base"/>
            <a:r>
              <a:rPr lang="en-US" dirty="0"/>
              <a:t>Association can be viewed as describing a "uses-a" relationship where an object uses, or in any way interacts with, another object.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611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C156-5B1A-F82C-A5E1-38D1E79C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Association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27A13-3465-FE03-A2C2-3F03B3B9D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Unidirectional Association</a:t>
            </a:r>
            <a:r>
              <a:rPr lang="en-US" dirty="0"/>
              <a:t>: This association is the one in which one class is aware and associated with another class; the reverse is not true. </a:t>
            </a:r>
          </a:p>
          <a:p>
            <a:pPr fontAlgn="base"/>
            <a:r>
              <a:rPr lang="en-US" dirty="0"/>
              <a:t>For example, the Student class can be associated with the </a:t>
            </a:r>
            <a:r>
              <a:rPr lang="en-US" dirty="0" err="1"/>
              <a:t>LibraryCard</a:t>
            </a:r>
            <a:r>
              <a:rPr lang="en-US" dirty="0"/>
              <a:t> class, for the association where the student has a library card; a </a:t>
            </a:r>
            <a:r>
              <a:rPr lang="en-US" dirty="0" err="1"/>
              <a:t>LibraryCard</a:t>
            </a:r>
            <a:r>
              <a:rPr lang="en-US" dirty="0"/>
              <a:t> does not need to 'know about' a Student.</a:t>
            </a:r>
          </a:p>
          <a:p>
            <a:pPr fontAlgn="base"/>
            <a:r>
              <a:rPr lang="en-US" b="1" dirty="0"/>
              <a:t>Bidirectional Association</a:t>
            </a:r>
            <a:r>
              <a:rPr lang="en-US" dirty="0"/>
              <a:t>: In this type of association, the classes are aware of each other and interact with one another. </a:t>
            </a:r>
          </a:p>
          <a:p>
            <a:pPr fontAlgn="base"/>
            <a:r>
              <a:rPr lang="en-US" dirty="0"/>
              <a:t>For example, a Teacher class and a Classroom class may be associated bidirectionally; there would be a teacher assigned to a classroom, and a classroom would know to which teacher it is assigned.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34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F61D-B43C-B84C-39B8-84B1B707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130"/>
            <a:ext cx="10515600" cy="885169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822BD-2C41-5798-E024-8BDB2F06E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AEB66F9-EC96-4CCE-CC5B-A5941EF4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17" y="814038"/>
            <a:ext cx="7336897" cy="6043961"/>
          </a:xfrm>
          <a:prstGeom prst="rect">
            <a:avLst/>
          </a:prstGeom>
        </p:spPr>
      </p:pic>
      <p:pic>
        <p:nvPicPr>
          <p:cNvPr id="13" name="Picture 12" descr="A computer code with text&#10;&#10;AI-generated content may be incorrect.">
            <a:extLst>
              <a:ext uri="{FF2B5EF4-FFF2-40B4-BE49-F238E27FC236}">
                <a16:creationId xmlns:a16="http://schemas.microsoft.com/office/drawing/2014/main" id="{D6DF3AB1-722E-A3F7-AC12-3D511D5D6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801" y="814037"/>
            <a:ext cx="7556630" cy="375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5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CD933-F413-F5D0-7EDF-46CC9950A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BFA5-EC80-0CAD-A372-B16E08090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03F465CB-4E15-4C56-BC1A-5FF6B81E1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88" y="-108345"/>
            <a:ext cx="7181737" cy="628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06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77F3-25F4-6970-5C87-CAEBD799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36120-C97C-058A-61A9-2AC6A2D67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943F341-6BD5-B196-225D-502E3674F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174" y="221387"/>
            <a:ext cx="7679940" cy="648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49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40078-A1D2-D869-2DCA-BFE7E7CB3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DD36A-CD7A-95F0-FA72-055C32DFD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Association in Java">
            <a:extLst>
              <a:ext uri="{FF2B5EF4-FFF2-40B4-BE49-F238E27FC236}">
                <a16:creationId xmlns:a16="http://schemas.microsoft.com/office/drawing/2014/main" id="{692376F9-F78D-8A3E-67F9-3295D79F2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507" y="2357438"/>
            <a:ext cx="5029831" cy="2780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567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10E78-1A6C-8261-0D34-0310C25ED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0E376-8F0F-2013-A95C-6F00C5B29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Aggregation </a:t>
            </a:r>
            <a:r>
              <a:rPr lang="en-US" dirty="0"/>
              <a:t>is a specific form of association in which one class, the whole, contains a collection of other classes, the parts; here, however, the lifecycle of the parts does not depend upon the whole.</a:t>
            </a:r>
          </a:p>
          <a:p>
            <a:r>
              <a:rPr lang="en-US" dirty="0"/>
              <a:t>For example, a library and books show aggregation, since books may exist somewhere apart from the library.</a:t>
            </a:r>
          </a:p>
          <a:p>
            <a:pPr fontAlgn="base"/>
            <a:r>
              <a:rPr lang="en-US" b="1" dirty="0"/>
              <a:t>It is a special form of Association where:  </a:t>
            </a:r>
            <a:endParaRPr lang="en-US" dirty="0"/>
          </a:p>
          <a:p>
            <a:pPr lvl="1" fontAlgn="base"/>
            <a:r>
              <a:rPr lang="en-US" dirty="0"/>
              <a:t>It represents Has-A's relationship.</a:t>
            </a:r>
          </a:p>
          <a:p>
            <a:pPr lvl="1" fontAlgn="base"/>
            <a:r>
              <a:rPr lang="en-US" dirty="0"/>
              <a:t>It is a </a:t>
            </a:r>
            <a:r>
              <a:rPr lang="en-US" b="1" dirty="0"/>
              <a:t>unidirectional association</a:t>
            </a:r>
            <a:r>
              <a:rPr lang="en-US" dirty="0"/>
              <a:t> i.e. a one-way relationship. For example, a department can have students but vice versa is not possible and thus unidirectional in nature.</a:t>
            </a:r>
          </a:p>
          <a:p>
            <a:pPr lvl="1" fontAlgn="base"/>
            <a:r>
              <a:rPr lang="en-US" dirty="0"/>
              <a:t>In Aggregation,</a:t>
            </a:r>
            <a:r>
              <a:rPr lang="en-US" b="1" dirty="0"/>
              <a:t> both entries can survive individually</a:t>
            </a:r>
            <a:r>
              <a:rPr lang="en-US" dirty="0"/>
              <a:t> which means ending one entity will not affect the other entity.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625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B727E-3DF2-C9F7-FDE3-2727557F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Example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Aggregation in Java">
            <a:extLst>
              <a:ext uri="{FF2B5EF4-FFF2-40B4-BE49-F238E27FC236}">
                <a16:creationId xmlns:a16="http://schemas.microsoft.com/office/drawing/2014/main" id="{4221BE41-3481-2113-59DF-DD7CFC9ED8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743" y="1690688"/>
            <a:ext cx="5660570" cy="428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832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6DC65-2DC2-014E-A996-650172151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" y="-3497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Example</a:t>
            </a:r>
          </a:p>
        </p:txBody>
      </p:sp>
      <p:pic>
        <p:nvPicPr>
          <p:cNvPr id="5" name="Content Placeholder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B22BCC25-9220-5337-32BF-4594EB7A5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9971" y="610826"/>
            <a:ext cx="6714337" cy="62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61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C76F-A566-9456-29E0-44A9AF611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B8B6-25DE-F22E-E35B-4927050BB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878FC92-D5BA-673F-22FF-A8A8C6F14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86" y="309505"/>
            <a:ext cx="6596743" cy="618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65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18A6-3FCC-353E-22E7-AA879DB26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7920E-E554-3167-B3A9-47EF3BE7D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39CB19A-B71F-1A0D-82B2-BA368EE92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904" y="365125"/>
            <a:ext cx="9464394" cy="599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16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D27BF-4077-6B4A-0A93-8901971E1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F75F5-D6F7-22D0-04A9-48A57FB8A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3078E7F-AA82-D893-DD32-E782C580F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59" y="272143"/>
            <a:ext cx="9822209" cy="62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29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5011-27DB-B14D-5DDD-F485CD123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43705-A79D-DF21-2DB0-432BD9DA9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E72B0CB-1D4D-D86E-B87B-CD31C551E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05" y="108857"/>
            <a:ext cx="9843576" cy="649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30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0125-6193-E033-E5E0-02D88B55D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CA811-50BD-B422-2F80-6194434DC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F1BCD8E-2F68-3B38-9CC2-C9B1035D0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15" y="195768"/>
            <a:ext cx="8948971" cy="666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5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AE4C1-2AD7-1855-3304-BDFC9251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Aggregation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A8378-A856-2184-FBB4-4F9FD636E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Aggregation Example">
            <a:extLst>
              <a:ext uri="{FF2B5EF4-FFF2-40B4-BE49-F238E27FC236}">
                <a16:creationId xmlns:a16="http://schemas.microsoft.com/office/drawing/2014/main" id="{DF538A29-2FA6-492B-7977-66F664120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1" y="2309813"/>
            <a:ext cx="7272338" cy="339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51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D15C4-A4DF-6CEA-81DB-7F102BE4C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Composition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79427-DC12-198A-90EB-5505B9900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Composition </a:t>
            </a:r>
            <a:r>
              <a:rPr lang="en-US" dirty="0"/>
              <a:t>is a stronger form of aggregation that means ownership and lifecycle dependence; if the whole gets destroyed, then the parts no longer exist. </a:t>
            </a:r>
          </a:p>
          <a:p>
            <a:r>
              <a:rPr lang="en-US" dirty="0"/>
              <a:t>For example a house and its different rooms; a room cannot exist without a house.</a:t>
            </a:r>
          </a:p>
        </p:txBody>
      </p:sp>
    </p:spTree>
    <p:extLst>
      <p:ext uri="{BB962C8B-B14F-4D97-AF65-F5344CB8AC3E}">
        <p14:creationId xmlns:p14="http://schemas.microsoft.com/office/powerpoint/2010/main" val="2428052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1836-6954-3B0C-7333-8F83559A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Composition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45D92-D28F-282F-3A92-8D4B06C9B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omposition">
            <a:extLst>
              <a:ext uri="{FF2B5EF4-FFF2-40B4-BE49-F238E27FC236}">
                <a16:creationId xmlns:a16="http://schemas.microsoft.com/office/drawing/2014/main" id="{2D3CB403-2AF5-9C07-7AF1-DEBFC6473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921" y="1620044"/>
            <a:ext cx="6286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63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B05E-5C8F-871F-6D0E-59379E84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Code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7A00B-3D0E-5E40-057A-D5E9501BA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61C2649A-07BC-5655-BE2F-F9FF1C467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943" y="1403354"/>
            <a:ext cx="7935686" cy="451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20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B640-0EFC-6A36-E98E-11147BCA4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6AD9F-DAD9-7C28-DF19-C44D28891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0BECA20-44A3-6EAD-B6FB-75330A61D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83801"/>
            <a:ext cx="6180463" cy="686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904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284DA-1151-9E59-7091-B03F127A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2ED14-31E8-DD41-5032-CCF6A0E7F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44D0C202-679B-D256-79A5-01DC46A67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4" y="1549303"/>
            <a:ext cx="7665498" cy="522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39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B1B2C-2C7A-90FE-46D7-E432E0B25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B0BA8-C056-9E79-87B7-F3DE7B198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Association, Aggregation, and Composition">
            <a:extLst>
              <a:ext uri="{FF2B5EF4-FFF2-40B4-BE49-F238E27FC236}">
                <a16:creationId xmlns:a16="http://schemas.microsoft.com/office/drawing/2014/main" id="{49AB287E-69FA-A06E-A7CA-ADF34D399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129" y="2257424"/>
            <a:ext cx="6020459" cy="3468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063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E526-0D7B-C19B-0EC7-CDA05653D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D16C-F3A1-A0DD-1BE5-4C8CC8F8C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https://www.geeksforgeeks.org/java/association-composition-aggregation-java/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257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393</Words>
  <Application>Microsoft Office PowerPoint</Application>
  <PresentationFormat>Widescreen</PresentationFormat>
  <Paragraphs>30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Association VS Aggregation VS Composition</vt:lpstr>
      <vt:lpstr>Association</vt:lpstr>
      <vt:lpstr>Types of Association</vt:lpstr>
      <vt:lpstr>Code Example</vt:lpstr>
      <vt:lpstr>PowerPoint Presentation</vt:lpstr>
      <vt:lpstr>PowerPoint Presentation</vt:lpstr>
      <vt:lpstr>Association Example</vt:lpstr>
      <vt:lpstr>Aggregation</vt:lpstr>
      <vt:lpstr>Aggregation Example</vt:lpstr>
      <vt:lpstr>Code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Aggregation Example</vt:lpstr>
      <vt:lpstr>Composition</vt:lpstr>
      <vt:lpstr>Composition Example</vt:lpstr>
      <vt:lpstr>Code Example</vt:lpstr>
      <vt:lpstr>PowerPoint Presentation</vt:lpstr>
      <vt:lpstr>PowerPoint Presentation</vt:lpstr>
      <vt:lpstr>Overall Comparison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Tofael Ahmed</dc:creator>
  <cp:lastModifiedBy>Tofael Ahmed</cp:lastModifiedBy>
  <cp:revision>1</cp:revision>
  <dcterms:created xsi:type="dcterms:W3CDTF">2025-12-29T17:56:48Z</dcterms:created>
  <dcterms:modified xsi:type="dcterms:W3CDTF">2025-12-29T18:21:31Z</dcterms:modified>
</cp:coreProperties>
</file>