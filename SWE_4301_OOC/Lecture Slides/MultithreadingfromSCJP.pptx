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c304a7bc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g3bc304a7bc4_1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c304a7bc4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g3bc304a7bc4_1_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bc304a7bc4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g3bc304a7bc4_1_1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bc304a7bc4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g3bc304a7bc4_1_1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c304a7bc4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bc304a7bc4_1_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bc304a7bc4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g3bc304a7bc4_1_2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bc304a7bc4_1_32:notes"/>
          <p:cNvSpPr/>
          <p:nvPr>
            <p:ph idx="2" type="sldImg"/>
          </p:nvPr>
        </p:nvSpPr>
        <p:spPr>
          <a:xfrm>
            <a:off x="381175" y="685800"/>
            <a:ext cx="60964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bc304a7bc4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bc304a7bc4_1_37:notes"/>
          <p:cNvSpPr/>
          <p:nvPr>
            <p:ph idx="2" type="sldImg"/>
          </p:nvPr>
        </p:nvSpPr>
        <p:spPr>
          <a:xfrm>
            <a:off x="381175" y="685800"/>
            <a:ext cx="60964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bc304a7bc4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bc304a7bc4_1_43:notes"/>
          <p:cNvSpPr/>
          <p:nvPr>
            <p:ph idx="2" type="sldImg"/>
          </p:nvPr>
        </p:nvSpPr>
        <p:spPr>
          <a:xfrm>
            <a:off x="381175" y="685800"/>
            <a:ext cx="60964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bc304a7bc4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bc304a7bc4_1_48:notes"/>
          <p:cNvSpPr/>
          <p:nvPr>
            <p:ph idx="2" type="sldImg"/>
          </p:nvPr>
        </p:nvSpPr>
        <p:spPr>
          <a:xfrm>
            <a:off x="381175" y="685800"/>
            <a:ext cx="60964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bc304a7bc4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bc304a7bc4_1_55:notes"/>
          <p:cNvSpPr/>
          <p:nvPr>
            <p:ph idx="2" type="sldImg"/>
          </p:nvPr>
        </p:nvSpPr>
        <p:spPr>
          <a:xfrm>
            <a:off x="381175" y="685800"/>
            <a:ext cx="60964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bc304a7bc4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bc304a7bc4_1_62:notes"/>
          <p:cNvSpPr/>
          <p:nvPr>
            <p:ph idx="2" type="sldImg"/>
          </p:nvPr>
        </p:nvSpPr>
        <p:spPr>
          <a:xfrm>
            <a:off x="381175" y="685800"/>
            <a:ext cx="60964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bc304a7bc4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c2c50da1ea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c2c50da1ea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c2c50da1ea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c2c50da1ea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c2c50da1ea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c2c50da1ea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53" name="Google Shape;53;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i="0" lang="en" sz="4800" u="none">
                <a:solidFill>
                  <a:schemeClr val="dk1"/>
                </a:solidFill>
                <a:latin typeface="Times New Roman"/>
                <a:ea typeface="Times New Roman"/>
                <a:cs typeface="Times New Roman"/>
                <a:sym typeface="Times New Roman"/>
              </a:rPr>
              <a:t>Multithreading</a:t>
            </a:r>
            <a:endParaRPr sz="4800">
              <a:latin typeface="Times New Roman"/>
              <a:ea typeface="Times New Roman"/>
              <a:cs typeface="Times New Roman"/>
              <a:sym typeface="Times New Roman"/>
            </a:endParaRPr>
          </a:p>
        </p:txBody>
      </p:sp>
      <p:sp>
        <p:nvSpPr>
          <p:cNvPr id="61" name="Google Shape;61;p14"/>
          <p:cNvSpPr txBox="1"/>
          <p:nvPr>
            <p:ph idx="1" type="subTitle"/>
          </p:nvPr>
        </p:nvSpPr>
        <p:spPr>
          <a:xfrm>
            <a:off x="311700" y="2834125"/>
            <a:ext cx="8520600" cy="792600"/>
          </a:xfrm>
          <a:prstGeom prst="rect">
            <a:avLst/>
          </a:prstGeom>
          <a:noFill/>
          <a:ln>
            <a:noFill/>
          </a:ln>
        </p:spPr>
        <p:txBody>
          <a:bodyPr anchorCtr="0" anchor="t" bIns="45700" lIns="91425" spcFirstLastPara="1" rIns="91425" wrap="square" tIns="45700">
            <a:normAutofit lnSpcReduction="20000"/>
          </a:bodyPr>
          <a:lstStyle/>
          <a:p>
            <a:pPr indent="0" lvl="0" marL="0" rtl="0" algn="ctr">
              <a:spcBef>
                <a:spcPts val="0"/>
              </a:spcBef>
              <a:spcAft>
                <a:spcPts val="0"/>
              </a:spcAft>
              <a:buClr>
                <a:srgbClr val="888888"/>
              </a:buClr>
              <a:buSzPts val="3200"/>
              <a:buNone/>
            </a:pPr>
            <a:r>
              <a:rPr lang="en">
                <a:solidFill>
                  <a:schemeClr val="dk1"/>
                </a:solidFill>
                <a:latin typeface="Times New Roman"/>
                <a:ea typeface="Times New Roman"/>
                <a:cs typeface="Times New Roman"/>
                <a:sym typeface="Times New Roman"/>
              </a:rPr>
              <a:t>Sun Certified programmer for java 6</a:t>
            </a:r>
            <a:endParaRPr>
              <a:solidFill>
                <a:schemeClr val="dk1"/>
              </a:solidFill>
              <a:latin typeface="Times New Roman"/>
              <a:ea typeface="Times New Roman"/>
              <a:cs typeface="Times New Roman"/>
              <a:sym typeface="Times New Roman"/>
            </a:endParaRPr>
          </a:p>
          <a:p>
            <a:pPr indent="0" lvl="0" marL="0" rtl="0" algn="ctr">
              <a:spcBef>
                <a:spcPts val="0"/>
              </a:spcBef>
              <a:spcAft>
                <a:spcPts val="0"/>
              </a:spcAft>
              <a:buClr>
                <a:srgbClr val="888888"/>
              </a:buClr>
              <a:buSzPts val="3200"/>
              <a:buNone/>
            </a:pPr>
            <a:r>
              <a:rPr lang="en">
                <a:solidFill>
                  <a:schemeClr val="dk1"/>
                </a:solidFill>
                <a:latin typeface="Times New Roman"/>
                <a:ea typeface="Times New Roman"/>
                <a:cs typeface="Times New Roman"/>
                <a:sym typeface="Times New Roman"/>
              </a:rPr>
              <a:t>Chapter 9</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457200" y="154483"/>
            <a:ext cx="8229600" cy="6430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i="0" lang="en" sz="4400" u="none">
                <a:solidFill>
                  <a:schemeClr val="dk1"/>
                </a:solidFill>
                <a:latin typeface="Times New Roman"/>
                <a:ea typeface="Times New Roman"/>
                <a:cs typeface="Times New Roman"/>
                <a:sym typeface="Times New Roman"/>
              </a:rPr>
              <a:t>Threads</a:t>
            </a:r>
            <a:endParaRPr sz="4400">
              <a:latin typeface="Times New Roman"/>
              <a:ea typeface="Times New Roman"/>
              <a:cs typeface="Times New Roman"/>
              <a:sym typeface="Times New Roman"/>
            </a:endParaRPr>
          </a:p>
        </p:txBody>
      </p:sp>
      <p:sp>
        <p:nvSpPr>
          <p:cNvPr id="67" name="Google Shape;67;p15"/>
          <p:cNvSpPr txBox="1"/>
          <p:nvPr>
            <p:ph idx="1" type="body"/>
          </p:nvPr>
        </p:nvSpPr>
        <p:spPr>
          <a:xfrm>
            <a:off x="457200" y="1200150"/>
            <a:ext cx="8229600" cy="3394575"/>
          </a:xfrm>
          <a:prstGeom prst="rect">
            <a:avLst/>
          </a:prstGeom>
          <a:noFill/>
          <a:ln>
            <a:noFill/>
          </a:ln>
        </p:spPr>
        <p:txBody>
          <a:bodyPr anchorCtr="0" anchor="t" bIns="45700" lIns="91425" spcFirstLastPara="1" rIns="91425" wrap="square" tIns="45700">
            <a:noAutofit/>
          </a:bodyPr>
          <a:lstStyle/>
          <a:p>
            <a:pPr indent="-215900" lvl="0" marL="342900" marR="0" rtl="0" algn="l">
              <a:lnSpc>
                <a:spcPct val="100000"/>
              </a:lnSpc>
              <a:spcBef>
                <a:spcPts val="0"/>
              </a:spcBef>
              <a:spcAft>
                <a:spcPts val="0"/>
              </a:spcAft>
              <a:buSzPts val="1200"/>
              <a:buFont typeface="Times New Roman"/>
              <a:buChar char="•"/>
            </a:pPr>
            <a:r>
              <a:rPr lang="en" sz="1200">
                <a:solidFill>
                  <a:schemeClr val="dk1"/>
                </a:solidFill>
                <a:latin typeface="Times New Roman"/>
                <a:ea typeface="Times New Roman"/>
                <a:cs typeface="Times New Roman"/>
                <a:sym typeface="Times New Roman"/>
              </a:rPr>
              <a:t>Multithreading allows a program to </a:t>
            </a:r>
            <a:r>
              <a:rPr b="1" lang="en" sz="1200">
                <a:solidFill>
                  <a:schemeClr val="dk1"/>
                </a:solidFill>
                <a:latin typeface="Times New Roman"/>
                <a:ea typeface="Times New Roman"/>
                <a:cs typeface="Times New Roman"/>
                <a:sym typeface="Times New Roman"/>
              </a:rPr>
              <a:t>perform multiple tasks concurrently</a:t>
            </a:r>
            <a:r>
              <a:rPr lang="en" sz="1200">
                <a:solidFill>
                  <a:schemeClr val="dk1"/>
                </a:solidFill>
                <a:latin typeface="Times New Roman"/>
                <a:ea typeface="Times New Roman"/>
                <a:cs typeface="Times New Roman"/>
                <a:sym typeface="Times New Roman"/>
              </a:rPr>
              <a:t> within a single process</a:t>
            </a:r>
            <a:endParaRPr sz="1200">
              <a:solidFill>
                <a:schemeClr val="dk1"/>
              </a:solidFill>
              <a:latin typeface="Times New Roman"/>
              <a:ea typeface="Times New Roman"/>
              <a:cs typeface="Times New Roman"/>
              <a:sym typeface="Times New Roman"/>
            </a:endParaRPr>
          </a:p>
          <a:p>
            <a:pPr indent="-215900" lvl="0" marL="342900" marR="0" rtl="0" algn="l">
              <a:lnSpc>
                <a:spcPct val="100000"/>
              </a:lnSpc>
              <a:spcBef>
                <a:spcPts val="0"/>
              </a:spcBef>
              <a:spcAft>
                <a:spcPts val="0"/>
              </a:spcAft>
              <a:buSzPts val="1200"/>
              <a:buFont typeface="Times New Roman"/>
              <a:buChar char="•"/>
            </a:pPr>
            <a:r>
              <a:rPr lang="en" sz="1200">
                <a:solidFill>
                  <a:schemeClr val="dk1"/>
                </a:solidFill>
                <a:latin typeface="Times New Roman"/>
                <a:ea typeface="Times New Roman"/>
                <a:cs typeface="Times New Roman"/>
                <a:sym typeface="Times New Roman"/>
              </a:rPr>
              <a:t>Threads share access to memory</a:t>
            </a:r>
            <a:endParaRPr sz="1200">
              <a:solidFill>
                <a:schemeClr val="dk1"/>
              </a:solidFill>
              <a:latin typeface="Times New Roman"/>
              <a:ea typeface="Times New Roman"/>
              <a:cs typeface="Times New Roman"/>
              <a:sym typeface="Times New Roman"/>
            </a:endParaRPr>
          </a:p>
          <a:p>
            <a:pPr indent="-215900" lvl="0" marL="342900" marR="0" rtl="0" algn="l">
              <a:lnSpc>
                <a:spcPct val="100000"/>
              </a:lnSpc>
              <a:spcBef>
                <a:spcPts val="0"/>
              </a:spcBef>
              <a:spcAft>
                <a:spcPts val="0"/>
              </a:spcAft>
              <a:buSzPts val="1200"/>
              <a:buFont typeface="Times New Roman"/>
              <a:buChar char="•"/>
            </a:pPr>
            <a:r>
              <a:rPr lang="en" sz="1200">
                <a:solidFill>
                  <a:schemeClr val="dk1"/>
                </a:solidFill>
                <a:latin typeface="Times New Roman"/>
                <a:ea typeface="Times New Roman"/>
                <a:cs typeface="Times New Roman"/>
                <a:sym typeface="Times New Roman"/>
              </a:rPr>
              <a:t>Execution of thread is an individual process (a "lightweight" process) that has its own call stack.</a:t>
            </a:r>
            <a:endParaRPr sz="12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500" u="sng">
                <a:solidFill>
                  <a:schemeClr val="dk1"/>
                </a:solidFill>
                <a:latin typeface="Times New Roman"/>
                <a:ea typeface="Times New Roman"/>
                <a:cs typeface="Times New Roman"/>
                <a:sym typeface="Times New Roman"/>
              </a:rPr>
              <a:t>Applications:</a:t>
            </a:r>
            <a:endParaRPr sz="1500" u="sng">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500" u="sng">
              <a:solidFill>
                <a:schemeClr val="dk1"/>
              </a:solidFill>
              <a:latin typeface="Times New Roman"/>
              <a:ea typeface="Times New Roman"/>
              <a:cs typeface="Times New Roman"/>
              <a:sym typeface="Times New Roman"/>
            </a:endParaRPr>
          </a:p>
          <a:p>
            <a:pPr indent="-304800" lvl="0" marL="457200" marR="0" rtl="0" algn="l">
              <a:lnSpc>
                <a:spcPct val="10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User Interface Applications (GUI)</a:t>
            </a:r>
            <a:endParaRPr sz="1200">
              <a:solidFill>
                <a:schemeClr val="dk1"/>
              </a:solidFill>
              <a:latin typeface="Times New Roman"/>
              <a:ea typeface="Times New Roman"/>
              <a:cs typeface="Times New Roman"/>
              <a:sym typeface="Times New Roman"/>
            </a:endParaRPr>
          </a:p>
          <a:p>
            <a:pPr indent="-304800" lvl="0" marL="457200" marR="0" rtl="0" algn="l">
              <a:lnSpc>
                <a:spcPct val="10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Web Servers and Application Servers</a:t>
            </a:r>
            <a:endParaRPr sz="1200">
              <a:solidFill>
                <a:schemeClr val="dk1"/>
              </a:solidFill>
              <a:latin typeface="Times New Roman"/>
              <a:ea typeface="Times New Roman"/>
              <a:cs typeface="Times New Roman"/>
              <a:sym typeface="Times New Roman"/>
            </a:endParaRPr>
          </a:p>
          <a:p>
            <a:pPr indent="-304800" lvl="0" marL="457200" marR="0" rtl="0" algn="l">
              <a:lnSpc>
                <a:spcPct val="10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Online Banking and E-Commerce Systems</a:t>
            </a:r>
            <a:endParaRPr sz="1200">
              <a:solidFill>
                <a:schemeClr val="dk1"/>
              </a:solidFill>
              <a:latin typeface="Times New Roman"/>
              <a:ea typeface="Times New Roman"/>
              <a:cs typeface="Times New Roman"/>
              <a:sym typeface="Times New Roman"/>
            </a:endParaRPr>
          </a:p>
          <a:p>
            <a:pPr indent="-304800" lvl="0" marL="457200" marR="0" rtl="0" algn="l">
              <a:lnSpc>
                <a:spcPct val="10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Games and Multimedia Applications</a:t>
            </a:r>
            <a:endParaRPr sz="1200">
              <a:solidFill>
                <a:schemeClr val="dk1"/>
              </a:solidFill>
              <a:latin typeface="Times New Roman"/>
              <a:ea typeface="Times New Roman"/>
              <a:cs typeface="Times New Roman"/>
              <a:sym typeface="Times New Roman"/>
            </a:endParaRPr>
          </a:p>
          <a:p>
            <a:pPr indent="-304800" lvl="0" marL="457200" marR="0" rtl="0" algn="l">
              <a:lnSpc>
                <a:spcPct val="10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Operating Systems</a:t>
            </a:r>
            <a:endParaRPr sz="1200">
              <a:solidFill>
                <a:schemeClr val="dk1"/>
              </a:solidFill>
              <a:latin typeface="Times New Roman"/>
              <a:ea typeface="Times New Roman"/>
              <a:cs typeface="Times New Roman"/>
              <a:sym typeface="Times New Roman"/>
            </a:endParaRPr>
          </a:p>
          <a:p>
            <a:pPr indent="0" lvl="0" marL="12700" rtl="0" algn="l">
              <a:spcBef>
                <a:spcPts val="300"/>
              </a:spcBef>
              <a:spcAft>
                <a:spcPts val="0"/>
              </a:spcAft>
              <a:buNone/>
            </a:pPr>
            <a:r>
              <a:t/>
            </a:r>
            <a:endParaRPr sz="1200">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Arial"/>
              <a:buNone/>
            </a:pPr>
            <a:r>
              <a:t/>
            </a:r>
            <a:endParaRPr sz="1200">
              <a:solidFill>
                <a:schemeClr val="dk1"/>
              </a:solidFill>
              <a:latin typeface="Times New Roman"/>
              <a:ea typeface="Times New Roman"/>
              <a:cs typeface="Times New Roman"/>
              <a:sym typeface="Times New Roman"/>
            </a:endParaRPr>
          </a:p>
          <a:p>
            <a:pPr indent="-139700" lvl="0" marL="342900" marR="0" rtl="0" algn="l">
              <a:spcBef>
                <a:spcPts val="640"/>
              </a:spcBef>
              <a:spcAft>
                <a:spcPts val="1200"/>
              </a:spcAft>
              <a:buClr>
                <a:schemeClr val="dk1"/>
              </a:buClr>
              <a:buSzPts val="3200"/>
              <a:buFont typeface="Arial"/>
              <a:buNone/>
            </a:pPr>
            <a:r>
              <a:t/>
            </a:r>
            <a:endParaRPr i="0" sz="12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457200" y="154483"/>
            <a:ext cx="8229600" cy="6430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i="0" lang="en" sz="4400" u="none">
                <a:solidFill>
                  <a:schemeClr val="dk1"/>
                </a:solidFill>
                <a:latin typeface="Times New Roman"/>
                <a:ea typeface="Times New Roman"/>
                <a:cs typeface="Times New Roman"/>
                <a:sym typeface="Times New Roman"/>
              </a:rPr>
              <a:t>Why do we need threads?</a:t>
            </a:r>
            <a:endParaRPr sz="4400">
              <a:latin typeface="Times New Roman"/>
              <a:ea typeface="Times New Roman"/>
              <a:cs typeface="Times New Roman"/>
              <a:sym typeface="Times New Roman"/>
            </a:endParaRPr>
          </a:p>
        </p:txBody>
      </p:sp>
      <p:sp>
        <p:nvSpPr>
          <p:cNvPr id="73" name="Google Shape;73;p16"/>
          <p:cNvSpPr txBox="1"/>
          <p:nvPr>
            <p:ph idx="1" type="body"/>
          </p:nvPr>
        </p:nvSpPr>
        <p:spPr>
          <a:xfrm>
            <a:off x="457200" y="900131"/>
            <a:ext cx="8229600" cy="3747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640"/>
              </a:spcBef>
              <a:spcAft>
                <a:spcPts val="0"/>
              </a:spcAft>
              <a:buNone/>
            </a:pPr>
            <a:r>
              <a:t/>
            </a:r>
            <a:endParaRPr i="0" sz="1200" u="none">
              <a:solidFill>
                <a:schemeClr val="dk1"/>
              </a:solidFill>
              <a:latin typeface="Times New Roman"/>
              <a:ea typeface="Times New Roman"/>
              <a:cs typeface="Times New Roman"/>
              <a:sym typeface="Times New Roman"/>
            </a:endParaRPr>
          </a:p>
          <a:p>
            <a:pPr indent="-304800" lvl="0" marL="342900" rtl="0" algn="l">
              <a:lnSpc>
                <a:spcPct val="100000"/>
              </a:lnSpc>
              <a:spcBef>
                <a:spcPts val="640"/>
              </a:spcBef>
              <a:spcAft>
                <a:spcPts val="0"/>
              </a:spcAft>
              <a:buSzPts val="1200"/>
              <a:buFont typeface="Times New Roman"/>
              <a:buChar char="•"/>
            </a:pPr>
            <a:r>
              <a:rPr lang="en" sz="1200">
                <a:solidFill>
                  <a:schemeClr val="dk1"/>
                </a:solidFill>
                <a:latin typeface="Times New Roman"/>
                <a:ea typeface="Times New Roman"/>
                <a:cs typeface="Times New Roman"/>
                <a:sym typeface="Times New Roman"/>
              </a:rPr>
              <a:t>Better CPU utilization</a:t>
            </a:r>
            <a:endParaRPr sz="1200">
              <a:solidFill>
                <a:schemeClr val="dk1"/>
              </a:solidFill>
              <a:latin typeface="Times New Roman"/>
              <a:ea typeface="Times New Roman"/>
              <a:cs typeface="Times New Roman"/>
              <a:sym typeface="Times New Roman"/>
            </a:endParaRPr>
          </a:p>
          <a:p>
            <a:pPr indent="-304800" lvl="0" marL="342900" rtl="0" algn="l">
              <a:lnSpc>
                <a:spcPct val="100000"/>
              </a:lnSpc>
              <a:spcBef>
                <a:spcPts val="640"/>
              </a:spcBef>
              <a:spcAft>
                <a:spcPts val="0"/>
              </a:spcAft>
              <a:buSzPts val="1200"/>
              <a:buFont typeface="Times New Roman"/>
              <a:buChar char="•"/>
            </a:pPr>
            <a:r>
              <a:rPr lang="en" sz="1200">
                <a:solidFill>
                  <a:schemeClr val="dk1"/>
                </a:solidFill>
                <a:latin typeface="Times New Roman"/>
                <a:ea typeface="Times New Roman"/>
                <a:cs typeface="Times New Roman"/>
                <a:sym typeface="Times New Roman"/>
              </a:rPr>
              <a:t>Faster execution</a:t>
            </a:r>
            <a:endParaRPr sz="1200">
              <a:solidFill>
                <a:schemeClr val="dk1"/>
              </a:solidFill>
              <a:latin typeface="Times New Roman"/>
              <a:ea typeface="Times New Roman"/>
              <a:cs typeface="Times New Roman"/>
              <a:sym typeface="Times New Roman"/>
            </a:endParaRPr>
          </a:p>
          <a:p>
            <a:pPr indent="-304800" lvl="0" marL="342900" rtl="0" algn="l">
              <a:lnSpc>
                <a:spcPct val="100000"/>
              </a:lnSpc>
              <a:spcBef>
                <a:spcPts val="640"/>
              </a:spcBef>
              <a:spcAft>
                <a:spcPts val="0"/>
              </a:spcAft>
              <a:buSzPts val="1200"/>
              <a:buFont typeface="Times New Roman"/>
              <a:buChar char="•"/>
            </a:pPr>
            <a:r>
              <a:rPr lang="en" sz="1200">
                <a:solidFill>
                  <a:schemeClr val="dk1"/>
                </a:solidFill>
                <a:latin typeface="Times New Roman"/>
                <a:ea typeface="Times New Roman"/>
                <a:cs typeface="Times New Roman"/>
                <a:sym typeface="Times New Roman"/>
              </a:rPr>
              <a:t>Improved responsiveness</a:t>
            </a:r>
            <a:endParaRPr sz="1200">
              <a:solidFill>
                <a:schemeClr val="dk1"/>
              </a:solidFill>
              <a:latin typeface="Times New Roman"/>
              <a:ea typeface="Times New Roman"/>
              <a:cs typeface="Times New Roman"/>
              <a:sym typeface="Times New Roman"/>
            </a:endParaRPr>
          </a:p>
          <a:p>
            <a:pPr indent="-304800" lvl="0" marL="342900" rtl="0" algn="l">
              <a:lnSpc>
                <a:spcPct val="100000"/>
              </a:lnSpc>
              <a:spcBef>
                <a:spcPts val="640"/>
              </a:spcBef>
              <a:spcAft>
                <a:spcPts val="0"/>
              </a:spcAft>
              <a:buSzPts val="1200"/>
              <a:buFont typeface="Times New Roman"/>
              <a:buChar char="•"/>
            </a:pPr>
            <a:r>
              <a:rPr lang="en" sz="1200">
                <a:solidFill>
                  <a:schemeClr val="dk1"/>
                </a:solidFill>
                <a:latin typeface="Times New Roman"/>
                <a:ea typeface="Times New Roman"/>
                <a:cs typeface="Times New Roman"/>
                <a:sym typeface="Times New Roman"/>
              </a:rPr>
              <a:t>Resource sharing</a:t>
            </a:r>
            <a:endParaRPr sz="1200">
              <a:solidFill>
                <a:schemeClr val="dk1"/>
              </a:solidFill>
              <a:latin typeface="Times New Roman"/>
              <a:ea typeface="Times New Roman"/>
              <a:cs typeface="Times New Roman"/>
              <a:sym typeface="Times New Roman"/>
            </a:endParaRPr>
          </a:p>
          <a:p>
            <a:pPr indent="-304800" lvl="0" marL="342900" rtl="0" algn="l">
              <a:lnSpc>
                <a:spcPct val="100000"/>
              </a:lnSpc>
              <a:spcBef>
                <a:spcPts val="640"/>
              </a:spcBef>
              <a:spcAft>
                <a:spcPts val="0"/>
              </a:spcAft>
              <a:buSzPts val="1200"/>
              <a:buFont typeface="Times New Roman"/>
              <a:buChar char="•"/>
            </a:pPr>
            <a:r>
              <a:rPr lang="en" sz="1200">
                <a:solidFill>
                  <a:schemeClr val="dk1"/>
                </a:solidFill>
                <a:latin typeface="Times New Roman"/>
                <a:ea typeface="Times New Roman"/>
                <a:cs typeface="Times New Roman"/>
                <a:sym typeface="Times New Roman"/>
              </a:rPr>
              <a:t>Scalability</a:t>
            </a:r>
            <a:endParaRPr sz="1200">
              <a:solidFill>
                <a:schemeClr val="dk1"/>
              </a:solidFill>
              <a:latin typeface="Times New Roman"/>
              <a:ea typeface="Times New Roman"/>
              <a:cs typeface="Times New Roman"/>
              <a:sym typeface="Times New Roman"/>
            </a:endParaRPr>
          </a:p>
          <a:p>
            <a:pPr indent="-215900" lvl="0" marL="342900" marR="0" rtl="0" algn="l">
              <a:lnSpc>
                <a:spcPct val="100000"/>
              </a:lnSpc>
              <a:spcBef>
                <a:spcPts val="64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Prioritization</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457200" y="154483"/>
            <a:ext cx="8229600" cy="6430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i="0" lang="en" sz="4400" u="none">
                <a:solidFill>
                  <a:schemeClr val="dk1"/>
                </a:solidFill>
                <a:latin typeface="Times New Roman"/>
                <a:ea typeface="Times New Roman"/>
                <a:cs typeface="Times New Roman"/>
                <a:sym typeface="Times New Roman"/>
              </a:rPr>
              <a:t>Example</a:t>
            </a:r>
            <a:endParaRPr sz="4400">
              <a:latin typeface="Times New Roman"/>
              <a:ea typeface="Times New Roman"/>
              <a:cs typeface="Times New Roman"/>
              <a:sym typeface="Times New Roman"/>
            </a:endParaRPr>
          </a:p>
        </p:txBody>
      </p:sp>
      <p:sp>
        <p:nvSpPr>
          <p:cNvPr id="79" name="Google Shape;79;p17"/>
          <p:cNvSpPr txBox="1"/>
          <p:nvPr>
            <p:ph idx="1" type="body"/>
          </p:nvPr>
        </p:nvSpPr>
        <p:spPr>
          <a:xfrm>
            <a:off x="184200" y="980700"/>
            <a:ext cx="8179500" cy="3394500"/>
          </a:xfrm>
          <a:prstGeom prst="rect">
            <a:avLst/>
          </a:prstGeom>
          <a:noFill/>
          <a:ln>
            <a:noFill/>
          </a:ln>
        </p:spPr>
        <p:txBody>
          <a:bodyPr anchorCtr="0" anchor="t" bIns="45700" lIns="91425" spcFirstLastPara="1" rIns="91425" wrap="square" tIns="45700">
            <a:normAutofit/>
          </a:bodyPr>
          <a:lstStyle/>
          <a:p>
            <a:pPr indent="-228600" lvl="0" marL="342900" marR="0" rtl="0" algn="l">
              <a:lnSpc>
                <a:spcPct val="90000"/>
              </a:lnSpc>
              <a:spcBef>
                <a:spcPts val="0"/>
              </a:spcBef>
              <a:spcAft>
                <a:spcPts val="0"/>
              </a:spcAft>
              <a:buClr>
                <a:schemeClr val="dk1"/>
              </a:buClr>
              <a:buSzPts val="1200"/>
              <a:buFont typeface="Times New Roman"/>
              <a:buChar char="•"/>
            </a:pPr>
            <a:r>
              <a:rPr i="0" lang="en" sz="1200" u="none">
                <a:solidFill>
                  <a:schemeClr val="dk1"/>
                </a:solidFill>
                <a:latin typeface="Times New Roman"/>
                <a:ea typeface="Times New Roman"/>
                <a:cs typeface="Times New Roman"/>
                <a:sym typeface="Times New Roman"/>
              </a:rPr>
              <a:t>Consider a simple web server </a:t>
            </a:r>
            <a:r>
              <a:rPr lang="en" sz="1200">
                <a:latin typeface="Times New Roman"/>
                <a:ea typeface="Times New Roman"/>
                <a:cs typeface="Times New Roman"/>
                <a:sym typeface="Times New Roman"/>
              </a:rPr>
              <a:t>- </a:t>
            </a:r>
            <a:r>
              <a:rPr i="0" lang="en" sz="1200" u="none">
                <a:solidFill>
                  <a:schemeClr val="dk1"/>
                </a:solidFill>
                <a:latin typeface="Times New Roman"/>
                <a:ea typeface="Times New Roman"/>
                <a:cs typeface="Times New Roman"/>
                <a:sym typeface="Times New Roman"/>
              </a:rPr>
              <a:t>web server listens for request and serves it</a:t>
            </a:r>
            <a:endParaRPr sz="1200">
              <a:latin typeface="Times New Roman"/>
              <a:ea typeface="Times New Roman"/>
              <a:cs typeface="Times New Roman"/>
              <a:sym typeface="Times New Roman"/>
            </a:endParaRPr>
          </a:p>
          <a:p>
            <a:pPr indent="-228600" lvl="0" marL="342900" marR="0" rtl="0" algn="l">
              <a:lnSpc>
                <a:spcPct val="90000"/>
              </a:lnSpc>
              <a:spcBef>
                <a:spcPts val="600"/>
              </a:spcBef>
              <a:spcAft>
                <a:spcPts val="0"/>
              </a:spcAft>
              <a:buClr>
                <a:schemeClr val="dk1"/>
              </a:buClr>
              <a:buSzPts val="1200"/>
              <a:buFont typeface="Times New Roman"/>
              <a:buChar char="•"/>
            </a:pPr>
            <a:r>
              <a:rPr i="0" lang="en" sz="1200" u="none">
                <a:solidFill>
                  <a:schemeClr val="dk1"/>
                </a:solidFill>
                <a:latin typeface="Times New Roman"/>
                <a:ea typeface="Times New Roman"/>
                <a:cs typeface="Times New Roman"/>
                <a:sym typeface="Times New Roman"/>
              </a:rPr>
              <a:t>If the web server was not multithreaded, the requests processing would be in a queue, thus increasing the response time and also might hang the server if there was a bad request.</a:t>
            </a:r>
            <a:endParaRPr sz="1200">
              <a:latin typeface="Times New Roman"/>
              <a:ea typeface="Times New Roman"/>
              <a:cs typeface="Times New Roman"/>
              <a:sym typeface="Times New Roman"/>
            </a:endParaRPr>
          </a:p>
          <a:p>
            <a:pPr indent="-228600" lvl="0" marL="342900" marR="0" rtl="0" algn="l">
              <a:lnSpc>
                <a:spcPct val="90000"/>
              </a:lnSpc>
              <a:spcBef>
                <a:spcPts val="600"/>
              </a:spcBef>
              <a:spcAft>
                <a:spcPts val="0"/>
              </a:spcAft>
              <a:buClr>
                <a:schemeClr val="dk1"/>
              </a:buClr>
              <a:buSzPts val="1200"/>
              <a:buFont typeface="Times New Roman"/>
              <a:buChar char="•"/>
            </a:pPr>
            <a:r>
              <a:rPr i="0" lang="en" sz="1200" u="none">
                <a:solidFill>
                  <a:schemeClr val="dk1"/>
                </a:solidFill>
                <a:latin typeface="Times New Roman"/>
                <a:ea typeface="Times New Roman"/>
                <a:cs typeface="Times New Roman"/>
                <a:sym typeface="Times New Roman"/>
              </a:rPr>
              <a:t>By implementing in a multithreaded environment, the web server can serve multiple request simultaneously thus improving response time</a:t>
            </a:r>
            <a:endParaRPr sz="12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457200" y="154483"/>
            <a:ext cx="8229600" cy="6430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i="0" lang="en" sz="4400" u="none">
                <a:solidFill>
                  <a:schemeClr val="dk1"/>
                </a:solidFill>
                <a:latin typeface="Times New Roman"/>
                <a:ea typeface="Times New Roman"/>
                <a:cs typeface="Times New Roman"/>
                <a:sym typeface="Times New Roman"/>
              </a:rPr>
              <a:t>Creating threads</a:t>
            </a:r>
            <a:endParaRPr sz="4400">
              <a:latin typeface="Times New Roman"/>
              <a:ea typeface="Times New Roman"/>
              <a:cs typeface="Times New Roman"/>
              <a:sym typeface="Times New Roman"/>
            </a:endParaRPr>
          </a:p>
        </p:txBody>
      </p:sp>
      <p:sp>
        <p:nvSpPr>
          <p:cNvPr id="85" name="Google Shape;85;p18"/>
          <p:cNvSpPr txBox="1"/>
          <p:nvPr>
            <p:ph idx="1" type="body"/>
          </p:nvPr>
        </p:nvSpPr>
        <p:spPr>
          <a:xfrm>
            <a:off x="252150" y="994425"/>
            <a:ext cx="7624800" cy="3394500"/>
          </a:xfrm>
          <a:prstGeom prst="rect">
            <a:avLst/>
          </a:prstGeom>
          <a:noFill/>
          <a:ln>
            <a:noFill/>
          </a:ln>
        </p:spPr>
        <p:txBody>
          <a:bodyPr anchorCtr="0" anchor="t" bIns="45700" lIns="91425" spcFirstLastPara="1" rIns="91425" wrap="square" tIns="45700">
            <a:noAutofit/>
          </a:bodyPr>
          <a:lstStyle/>
          <a:p>
            <a:pPr indent="-215900" lvl="0" marL="342900" marR="0" rtl="0" algn="l">
              <a:lnSpc>
                <a:spcPct val="100000"/>
              </a:lnSpc>
              <a:spcBef>
                <a:spcPts val="0"/>
              </a:spcBef>
              <a:spcAft>
                <a:spcPts val="0"/>
              </a:spcAft>
              <a:buClr>
                <a:schemeClr val="dk1"/>
              </a:buClr>
              <a:buSzPts val="1200"/>
              <a:buFont typeface="Arial"/>
              <a:buChar char="•"/>
            </a:pPr>
            <a:r>
              <a:rPr i="0" lang="en" sz="1200" u="none">
                <a:solidFill>
                  <a:schemeClr val="dk1"/>
                </a:solidFill>
                <a:latin typeface="Times New Roman"/>
                <a:ea typeface="Times New Roman"/>
                <a:cs typeface="Times New Roman"/>
                <a:sym typeface="Times New Roman"/>
              </a:rPr>
              <a:t>In java threads can be created by </a:t>
            </a:r>
            <a:r>
              <a:rPr b="1" i="0" lang="en" sz="1200" u="none">
                <a:solidFill>
                  <a:schemeClr val="dk1"/>
                </a:solidFill>
                <a:latin typeface="Times New Roman"/>
                <a:ea typeface="Times New Roman"/>
                <a:cs typeface="Times New Roman"/>
                <a:sym typeface="Times New Roman"/>
              </a:rPr>
              <a:t>extending the Thread class</a:t>
            </a:r>
            <a:r>
              <a:rPr i="0" lang="en" sz="1200" u="none">
                <a:solidFill>
                  <a:schemeClr val="dk1"/>
                </a:solidFill>
                <a:latin typeface="Times New Roman"/>
                <a:ea typeface="Times New Roman"/>
                <a:cs typeface="Times New Roman"/>
                <a:sym typeface="Times New Roman"/>
              </a:rPr>
              <a:t> or </a:t>
            </a:r>
            <a:r>
              <a:rPr b="1" i="0" lang="en" sz="1200" u="none">
                <a:solidFill>
                  <a:schemeClr val="dk1"/>
                </a:solidFill>
                <a:latin typeface="Times New Roman"/>
                <a:ea typeface="Times New Roman"/>
                <a:cs typeface="Times New Roman"/>
                <a:sym typeface="Times New Roman"/>
              </a:rPr>
              <a:t>implementing the Runnable Interface</a:t>
            </a:r>
            <a:endParaRPr b="1" sz="1200">
              <a:latin typeface="Times New Roman"/>
              <a:ea typeface="Times New Roman"/>
              <a:cs typeface="Times New Roman"/>
              <a:sym typeface="Times New Roman"/>
            </a:endParaRPr>
          </a:p>
          <a:p>
            <a:pPr indent="-215900" lvl="0" marL="342900" marR="0" rtl="0" algn="l">
              <a:lnSpc>
                <a:spcPct val="100000"/>
              </a:lnSpc>
              <a:spcBef>
                <a:spcPts val="640"/>
              </a:spcBef>
              <a:spcAft>
                <a:spcPts val="0"/>
              </a:spcAft>
              <a:buClr>
                <a:schemeClr val="dk1"/>
              </a:buClr>
              <a:buSzPts val="1200"/>
              <a:buFont typeface="Times New Roman"/>
              <a:buChar char="•"/>
            </a:pPr>
            <a:r>
              <a:rPr i="0" lang="en" sz="1200" u="none">
                <a:solidFill>
                  <a:schemeClr val="dk1"/>
                </a:solidFill>
                <a:latin typeface="Times New Roman"/>
                <a:ea typeface="Times New Roman"/>
                <a:cs typeface="Times New Roman"/>
                <a:sym typeface="Times New Roman"/>
              </a:rPr>
              <a:t>It is more preferred to implement the Runnable Interface so that we can extend properties from other classes</a:t>
            </a:r>
            <a:endParaRPr sz="1200">
              <a:latin typeface="Times New Roman"/>
              <a:ea typeface="Times New Roman"/>
              <a:cs typeface="Times New Roman"/>
              <a:sym typeface="Times New Roman"/>
            </a:endParaRPr>
          </a:p>
          <a:p>
            <a:pPr indent="-215900" lvl="0" marL="342900" marR="0" rtl="0" algn="l">
              <a:lnSpc>
                <a:spcPct val="100000"/>
              </a:lnSpc>
              <a:spcBef>
                <a:spcPts val="640"/>
              </a:spcBef>
              <a:spcAft>
                <a:spcPts val="0"/>
              </a:spcAft>
              <a:buClr>
                <a:schemeClr val="dk1"/>
              </a:buClr>
              <a:buSzPts val="1200"/>
              <a:buFont typeface="Times New Roman"/>
              <a:buChar char="•"/>
            </a:pPr>
            <a:r>
              <a:rPr i="0" lang="en" sz="1200" u="none">
                <a:solidFill>
                  <a:schemeClr val="dk1"/>
                </a:solidFill>
                <a:latin typeface="Times New Roman"/>
                <a:ea typeface="Times New Roman"/>
                <a:cs typeface="Times New Roman"/>
                <a:sym typeface="Times New Roman"/>
              </a:rPr>
              <a:t>Implement the run() method which is the starting point for thread execution</a:t>
            </a:r>
            <a:endParaRPr sz="12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457200" y="154483"/>
            <a:ext cx="8229600" cy="6430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i="0" lang="en" sz="4400" u="none">
                <a:solidFill>
                  <a:schemeClr val="dk1"/>
                </a:solidFill>
                <a:latin typeface="Times New Roman"/>
                <a:ea typeface="Times New Roman"/>
                <a:cs typeface="Times New Roman"/>
                <a:sym typeface="Times New Roman"/>
              </a:rPr>
              <a:t>Running threads</a:t>
            </a:r>
            <a:endParaRPr sz="4400">
              <a:latin typeface="Times New Roman"/>
              <a:ea typeface="Times New Roman"/>
              <a:cs typeface="Times New Roman"/>
              <a:sym typeface="Times New Roman"/>
            </a:endParaRPr>
          </a:p>
        </p:txBody>
      </p:sp>
      <p:sp>
        <p:nvSpPr>
          <p:cNvPr id="91" name="Google Shape;91;p19"/>
          <p:cNvSpPr txBox="1"/>
          <p:nvPr>
            <p:ph idx="1" type="body"/>
          </p:nvPr>
        </p:nvSpPr>
        <p:spPr>
          <a:xfrm>
            <a:off x="457200" y="900131"/>
            <a:ext cx="8229600" cy="3863400"/>
          </a:xfrm>
          <a:prstGeom prst="rect">
            <a:avLst/>
          </a:prstGeom>
          <a:noFill/>
          <a:ln>
            <a:noFill/>
          </a:ln>
        </p:spPr>
        <p:txBody>
          <a:bodyPr anchorCtr="0" anchor="t" bIns="45700" lIns="91425" spcFirstLastPara="1" rIns="91425" wrap="square" tIns="45700">
            <a:normAutofit/>
          </a:bodyPr>
          <a:lstStyle/>
          <a:p>
            <a:pPr indent="0" lvl="0" marL="342900" marR="0" rtl="0" algn="l">
              <a:lnSpc>
                <a:spcPct val="80000"/>
              </a:lnSpc>
              <a:spcBef>
                <a:spcPts val="0"/>
              </a:spcBef>
              <a:spcAft>
                <a:spcPts val="0"/>
              </a:spcAft>
              <a:buNone/>
            </a:pPr>
            <a:r>
              <a:t/>
            </a:r>
            <a:endParaRPr sz="1600">
              <a:latin typeface="Times New Roman"/>
              <a:ea typeface="Times New Roman"/>
              <a:cs typeface="Times New Roman"/>
              <a:sym typeface="Times New Roman"/>
            </a:endParaRPr>
          </a:p>
          <a:p>
            <a:pPr indent="-342900" lvl="0" marL="342900" marR="0" rtl="0" algn="l">
              <a:lnSpc>
                <a:spcPct val="80000"/>
              </a:lnSpc>
              <a:spcBef>
                <a:spcPts val="280"/>
              </a:spcBef>
              <a:spcAft>
                <a:spcPts val="0"/>
              </a:spcAft>
              <a:buClr>
                <a:schemeClr val="dk1"/>
              </a:buClr>
              <a:buSzPts val="1400"/>
              <a:buFont typeface="Arial"/>
              <a:buNone/>
            </a:pPr>
            <a:r>
              <a:rPr i="0" lang="en" sz="1600" u="none">
                <a:solidFill>
                  <a:schemeClr val="dk1"/>
                </a:solidFill>
                <a:latin typeface="Times New Roman"/>
                <a:ea typeface="Times New Roman"/>
                <a:cs typeface="Times New Roman"/>
                <a:sym typeface="Times New Roman"/>
              </a:rPr>
              <a:t>	class mythread implements Runnable{</a:t>
            </a:r>
            <a:endParaRPr sz="1600">
              <a:latin typeface="Times New Roman"/>
              <a:ea typeface="Times New Roman"/>
              <a:cs typeface="Times New Roman"/>
              <a:sym typeface="Times New Roman"/>
            </a:endParaRPr>
          </a:p>
          <a:p>
            <a:pPr indent="-342900" lvl="0" marL="342900" marR="0" rtl="0" algn="l">
              <a:lnSpc>
                <a:spcPct val="80000"/>
              </a:lnSpc>
              <a:spcBef>
                <a:spcPts val="280"/>
              </a:spcBef>
              <a:spcAft>
                <a:spcPts val="0"/>
              </a:spcAft>
              <a:buClr>
                <a:schemeClr val="dk1"/>
              </a:buClr>
              <a:buSzPts val="1400"/>
              <a:buFont typeface="Arial"/>
              <a:buNone/>
            </a:pPr>
            <a:r>
              <a:rPr i="0" lang="en" sz="1600" u="none">
                <a:solidFill>
                  <a:schemeClr val="dk1"/>
                </a:solidFill>
                <a:latin typeface="Times New Roman"/>
                <a:ea typeface="Times New Roman"/>
                <a:cs typeface="Times New Roman"/>
                <a:sym typeface="Times New Roman"/>
              </a:rPr>
              <a:t>		public void run(){</a:t>
            </a:r>
            <a:endParaRPr sz="1600">
              <a:latin typeface="Times New Roman"/>
              <a:ea typeface="Times New Roman"/>
              <a:cs typeface="Times New Roman"/>
              <a:sym typeface="Times New Roman"/>
            </a:endParaRPr>
          </a:p>
          <a:p>
            <a:pPr indent="-342900" lvl="0" marL="342900" marR="0" rtl="0" algn="l">
              <a:lnSpc>
                <a:spcPct val="80000"/>
              </a:lnSpc>
              <a:spcBef>
                <a:spcPts val="280"/>
              </a:spcBef>
              <a:spcAft>
                <a:spcPts val="0"/>
              </a:spcAft>
              <a:buClr>
                <a:schemeClr val="dk1"/>
              </a:buClr>
              <a:buSzPts val="1400"/>
              <a:buFont typeface="Arial"/>
              <a:buNone/>
            </a:pPr>
            <a:r>
              <a:rPr i="0" lang="en" sz="1600" u="none">
                <a:solidFill>
                  <a:schemeClr val="dk1"/>
                </a:solidFill>
                <a:latin typeface="Times New Roman"/>
                <a:ea typeface="Times New Roman"/>
                <a:cs typeface="Times New Roman"/>
                <a:sym typeface="Times New Roman"/>
              </a:rPr>
              <a:t>			System.out.println(“Thread Started”);</a:t>
            </a:r>
            <a:endParaRPr sz="1600">
              <a:latin typeface="Times New Roman"/>
              <a:ea typeface="Times New Roman"/>
              <a:cs typeface="Times New Roman"/>
              <a:sym typeface="Times New Roman"/>
            </a:endParaRPr>
          </a:p>
          <a:p>
            <a:pPr indent="-342900" lvl="0" marL="342900" marR="0" rtl="0" algn="l">
              <a:lnSpc>
                <a:spcPct val="80000"/>
              </a:lnSpc>
              <a:spcBef>
                <a:spcPts val="280"/>
              </a:spcBef>
              <a:spcAft>
                <a:spcPts val="0"/>
              </a:spcAft>
              <a:buClr>
                <a:schemeClr val="dk1"/>
              </a:buClr>
              <a:buSzPts val="1400"/>
              <a:buFont typeface="Arial"/>
              <a:buNone/>
            </a:pPr>
            <a:r>
              <a:rPr i="0" lang="en" sz="1600" u="none">
                <a:solidFill>
                  <a:schemeClr val="dk1"/>
                </a:solidFill>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a:p>
            <a:pPr indent="-342900" lvl="0" marL="342900" marR="0" rtl="0" algn="l">
              <a:lnSpc>
                <a:spcPct val="80000"/>
              </a:lnSpc>
              <a:spcBef>
                <a:spcPts val="280"/>
              </a:spcBef>
              <a:spcAft>
                <a:spcPts val="0"/>
              </a:spcAft>
              <a:buClr>
                <a:schemeClr val="dk1"/>
              </a:buClr>
              <a:buSzPts val="1400"/>
              <a:buFont typeface="Arial"/>
              <a:buNone/>
            </a:pPr>
            <a:r>
              <a:rPr i="0" lang="en" sz="1600" u="none">
                <a:solidFill>
                  <a:schemeClr val="dk1"/>
                </a:solidFill>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a:p>
            <a:pPr indent="-342900" lvl="0" marL="342900" marR="0" rtl="0" algn="l">
              <a:lnSpc>
                <a:spcPct val="80000"/>
              </a:lnSpc>
              <a:spcBef>
                <a:spcPts val="280"/>
              </a:spcBef>
              <a:spcAft>
                <a:spcPts val="0"/>
              </a:spcAft>
              <a:buClr>
                <a:schemeClr val="dk1"/>
              </a:buClr>
              <a:buSzPts val="1400"/>
              <a:buFont typeface="Arial"/>
              <a:buNone/>
            </a:pPr>
            <a:r>
              <a:rPr i="0" lang="en" sz="1600" u="none">
                <a:solidFill>
                  <a:schemeClr val="dk1"/>
                </a:solidFill>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a:p>
            <a:pPr indent="-342900" lvl="0" marL="342900" marR="0" rtl="0" algn="l">
              <a:lnSpc>
                <a:spcPct val="80000"/>
              </a:lnSpc>
              <a:spcBef>
                <a:spcPts val="280"/>
              </a:spcBef>
              <a:spcAft>
                <a:spcPts val="0"/>
              </a:spcAft>
              <a:buClr>
                <a:schemeClr val="dk1"/>
              </a:buClr>
              <a:buSzPts val="1400"/>
              <a:buFont typeface="Arial"/>
              <a:buNone/>
            </a:pPr>
            <a:r>
              <a:rPr i="0" lang="en" sz="1600" u="none">
                <a:solidFill>
                  <a:schemeClr val="dk1"/>
                </a:solidFill>
                <a:latin typeface="Times New Roman"/>
                <a:ea typeface="Times New Roman"/>
                <a:cs typeface="Times New Roman"/>
                <a:sym typeface="Times New Roman"/>
              </a:rPr>
              <a:t>	class mainclass {</a:t>
            </a:r>
            <a:endParaRPr sz="1600">
              <a:latin typeface="Times New Roman"/>
              <a:ea typeface="Times New Roman"/>
              <a:cs typeface="Times New Roman"/>
              <a:sym typeface="Times New Roman"/>
            </a:endParaRPr>
          </a:p>
          <a:p>
            <a:pPr indent="-342900" lvl="0" marL="342900" marR="0" rtl="0" algn="l">
              <a:lnSpc>
                <a:spcPct val="80000"/>
              </a:lnSpc>
              <a:spcBef>
                <a:spcPts val="280"/>
              </a:spcBef>
              <a:spcAft>
                <a:spcPts val="0"/>
              </a:spcAft>
              <a:buClr>
                <a:schemeClr val="dk1"/>
              </a:buClr>
              <a:buSzPts val="1400"/>
              <a:buFont typeface="Arial"/>
              <a:buNone/>
            </a:pPr>
            <a:r>
              <a:rPr i="0" lang="en" sz="1600" u="none">
                <a:solidFill>
                  <a:schemeClr val="dk1"/>
                </a:solidFill>
                <a:latin typeface="Times New Roman"/>
                <a:ea typeface="Times New Roman"/>
                <a:cs typeface="Times New Roman"/>
                <a:sym typeface="Times New Roman"/>
              </a:rPr>
              <a:t>		public static void main(String args[]){	</a:t>
            </a:r>
            <a:endParaRPr sz="1600">
              <a:latin typeface="Times New Roman"/>
              <a:ea typeface="Times New Roman"/>
              <a:cs typeface="Times New Roman"/>
              <a:sym typeface="Times New Roman"/>
            </a:endParaRPr>
          </a:p>
          <a:p>
            <a:pPr indent="-342900" lvl="0" marL="342900" marR="0" rtl="0" algn="l">
              <a:lnSpc>
                <a:spcPct val="80000"/>
              </a:lnSpc>
              <a:spcBef>
                <a:spcPts val="280"/>
              </a:spcBef>
              <a:spcAft>
                <a:spcPts val="0"/>
              </a:spcAft>
              <a:buClr>
                <a:schemeClr val="dk1"/>
              </a:buClr>
              <a:buSzPts val="1400"/>
              <a:buFont typeface="Arial"/>
              <a:buNone/>
            </a:pPr>
            <a:r>
              <a:rPr i="0" lang="en" sz="1600" u="none">
                <a:solidFill>
                  <a:schemeClr val="dk1"/>
                </a:solidFill>
                <a:latin typeface="Times New Roman"/>
                <a:ea typeface="Times New Roman"/>
                <a:cs typeface="Times New Roman"/>
                <a:sym typeface="Times New Roman"/>
              </a:rPr>
              <a:t>			Thread  t = new Thread(new mythread()); // This is the way to instantiate a  thread implementing runnable interface</a:t>
            </a:r>
            <a:endParaRPr sz="1600">
              <a:latin typeface="Times New Roman"/>
              <a:ea typeface="Times New Roman"/>
              <a:cs typeface="Times New Roman"/>
              <a:sym typeface="Times New Roman"/>
            </a:endParaRPr>
          </a:p>
          <a:p>
            <a:pPr indent="-342900" lvl="0" marL="342900" marR="0" rtl="0" algn="l">
              <a:lnSpc>
                <a:spcPct val="80000"/>
              </a:lnSpc>
              <a:spcBef>
                <a:spcPts val="280"/>
              </a:spcBef>
              <a:spcAft>
                <a:spcPts val="0"/>
              </a:spcAft>
              <a:buClr>
                <a:schemeClr val="dk1"/>
              </a:buClr>
              <a:buSzPts val="1400"/>
              <a:buFont typeface="Arial"/>
              <a:buNone/>
            </a:pPr>
            <a:r>
              <a:rPr i="0" lang="en" sz="1600" u="none">
                <a:solidFill>
                  <a:schemeClr val="dk1"/>
                </a:solidFill>
                <a:latin typeface="Times New Roman"/>
                <a:ea typeface="Times New Roman"/>
                <a:cs typeface="Times New Roman"/>
                <a:sym typeface="Times New Roman"/>
              </a:rPr>
              <a:t>			t.start(); // starts the thread by running the run method</a:t>
            </a:r>
            <a:endParaRPr sz="1600">
              <a:latin typeface="Times New Roman"/>
              <a:ea typeface="Times New Roman"/>
              <a:cs typeface="Times New Roman"/>
              <a:sym typeface="Times New Roman"/>
            </a:endParaRPr>
          </a:p>
          <a:p>
            <a:pPr indent="-342900" lvl="0" marL="342900" marR="0" rtl="0" algn="l">
              <a:lnSpc>
                <a:spcPct val="80000"/>
              </a:lnSpc>
              <a:spcBef>
                <a:spcPts val="280"/>
              </a:spcBef>
              <a:spcAft>
                <a:spcPts val="0"/>
              </a:spcAft>
              <a:buClr>
                <a:schemeClr val="dk1"/>
              </a:buClr>
              <a:buSzPts val="1400"/>
              <a:buFont typeface="Arial"/>
              <a:buNone/>
            </a:pPr>
            <a:r>
              <a:rPr i="0" lang="en" sz="1600" u="none">
                <a:solidFill>
                  <a:schemeClr val="dk1"/>
                </a:solidFill>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a:p>
            <a:pPr indent="-342900" lvl="0" marL="342900" marR="0" rtl="0" algn="l">
              <a:lnSpc>
                <a:spcPct val="80000"/>
              </a:lnSpc>
              <a:spcBef>
                <a:spcPts val="280"/>
              </a:spcBef>
              <a:spcAft>
                <a:spcPts val="0"/>
              </a:spcAft>
              <a:buClr>
                <a:schemeClr val="dk1"/>
              </a:buClr>
              <a:buSzPts val="1400"/>
              <a:buFont typeface="Arial"/>
              <a:buNone/>
            </a:pPr>
            <a:r>
              <a:rPr i="0" lang="en" sz="1600" u="none">
                <a:solidFill>
                  <a:schemeClr val="dk1"/>
                </a:solidFill>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a:p>
            <a:pPr indent="-254000" lvl="0" marL="342900" marR="0" rtl="0" algn="l">
              <a:lnSpc>
                <a:spcPct val="80000"/>
              </a:lnSpc>
              <a:spcBef>
                <a:spcPts val="520"/>
              </a:spcBef>
              <a:spcAft>
                <a:spcPts val="0"/>
              </a:spcAft>
              <a:buClr>
                <a:schemeClr val="dk1"/>
              </a:buClr>
              <a:buSzPts val="1200"/>
              <a:buFont typeface="Times New Roman"/>
              <a:buChar char="•"/>
            </a:pPr>
            <a:r>
              <a:rPr i="0" lang="en" sz="1200" u="none">
                <a:solidFill>
                  <a:schemeClr val="dk1"/>
                </a:solidFill>
                <a:latin typeface="Times New Roman"/>
                <a:ea typeface="Times New Roman"/>
                <a:cs typeface="Times New Roman"/>
                <a:sym typeface="Times New Roman"/>
              </a:rPr>
              <a:t>Calling t.run() does not start a thread, it is just a simple method call.</a:t>
            </a:r>
            <a:endParaRPr sz="1200">
              <a:latin typeface="Times New Roman"/>
              <a:ea typeface="Times New Roman"/>
              <a:cs typeface="Times New Roman"/>
              <a:sym typeface="Times New Roman"/>
            </a:endParaRPr>
          </a:p>
          <a:p>
            <a:pPr indent="-254000" lvl="0" marL="342900" marR="0" rtl="0" algn="l">
              <a:lnSpc>
                <a:spcPct val="80000"/>
              </a:lnSpc>
              <a:spcBef>
                <a:spcPts val="520"/>
              </a:spcBef>
              <a:spcAft>
                <a:spcPts val="0"/>
              </a:spcAft>
              <a:buClr>
                <a:schemeClr val="dk1"/>
              </a:buClr>
              <a:buSzPts val="1200"/>
              <a:buFont typeface="Times New Roman"/>
              <a:buChar char="•"/>
            </a:pPr>
            <a:r>
              <a:rPr i="0" lang="en" sz="1200" u="none">
                <a:solidFill>
                  <a:schemeClr val="dk1"/>
                </a:solidFill>
                <a:latin typeface="Times New Roman"/>
                <a:ea typeface="Times New Roman"/>
                <a:cs typeface="Times New Roman"/>
                <a:sym typeface="Times New Roman"/>
              </a:rPr>
              <a:t>Creating an object does not create a thread, calling start() method creates the thread.</a:t>
            </a:r>
            <a:endParaRPr sz="12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61200" y="469983"/>
            <a:ext cx="8229600" cy="643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rPr lang="en"/>
              <a:t>Thread Scheduler</a:t>
            </a:r>
            <a:endParaRPr/>
          </a:p>
          <a:p>
            <a:pPr indent="0" lvl="0" marL="0" rtl="0" algn="ctr">
              <a:spcBef>
                <a:spcPts val="0"/>
              </a:spcBef>
              <a:spcAft>
                <a:spcPts val="0"/>
              </a:spcAft>
              <a:buNone/>
            </a:pPr>
            <a:r>
              <a:t/>
            </a:r>
            <a:endParaRPr/>
          </a:p>
        </p:txBody>
      </p:sp>
      <p:sp>
        <p:nvSpPr>
          <p:cNvPr id="97" name="Google Shape;97;p20"/>
          <p:cNvSpPr txBox="1"/>
          <p:nvPr>
            <p:ph idx="1" type="body"/>
          </p:nvPr>
        </p:nvSpPr>
        <p:spPr>
          <a:xfrm>
            <a:off x="457200" y="1200150"/>
            <a:ext cx="8229600" cy="3394575"/>
          </a:xfrm>
          <a:prstGeom prst="rect">
            <a:avLst/>
          </a:prstGeom>
        </p:spPr>
        <p:txBody>
          <a:bodyPr anchorCtr="0" anchor="t" bIns="45700" lIns="91425" spcFirstLastPara="1" rIns="91425" wrap="square" tIns="45700">
            <a:noAutofit/>
          </a:bodyPr>
          <a:lstStyle/>
          <a:p>
            <a:pPr indent="-304800" lvl="0" marL="457200" rtl="0" algn="l">
              <a:spcBef>
                <a:spcPts val="36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The thread scheduler is the part of the JVM (although most JVMs map Java threads directly to native threads on the underlying OS) that decides which thread should run at any given moment, and also takes threads out of the run state. </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Assuming a single processor machine, only one thread can actually run at a time.</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Only one stack can ever be executing at one time. </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Thread scheduler that decides which thread, of all that are eligible will actually run.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457200" y="154483"/>
            <a:ext cx="8229600" cy="64305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t>Thread States</a:t>
            </a:r>
            <a:endParaRPr/>
          </a:p>
        </p:txBody>
      </p:sp>
      <p:sp>
        <p:nvSpPr>
          <p:cNvPr id="103" name="Google Shape;103;p21"/>
          <p:cNvSpPr txBox="1"/>
          <p:nvPr>
            <p:ph idx="1" type="body"/>
          </p:nvPr>
        </p:nvSpPr>
        <p:spPr>
          <a:xfrm>
            <a:off x="457200" y="1200150"/>
            <a:ext cx="8229600" cy="3394575"/>
          </a:xfrm>
          <a:prstGeom prst="rect">
            <a:avLst/>
          </a:prstGeom>
        </p:spPr>
        <p:txBody>
          <a:bodyPr anchorCtr="0" anchor="t" bIns="45700" lIns="91425" spcFirstLastPara="1" rIns="91425" wrap="square" tIns="45700">
            <a:noAutofit/>
          </a:bodyPr>
          <a:lstStyle/>
          <a:p>
            <a:pPr indent="0" lvl="0" marL="0" rtl="0" algn="l">
              <a:spcBef>
                <a:spcPts val="360"/>
              </a:spcBef>
              <a:spcAft>
                <a:spcPts val="1200"/>
              </a:spcAft>
              <a:buNone/>
            </a:pPr>
            <a:r>
              <a:t/>
            </a:r>
            <a:endParaRPr/>
          </a:p>
        </p:txBody>
      </p:sp>
      <p:pic>
        <p:nvPicPr>
          <p:cNvPr id="104" name="Google Shape;104;p21"/>
          <p:cNvPicPr preferRelativeResize="0"/>
          <p:nvPr/>
        </p:nvPicPr>
        <p:blipFill>
          <a:blip r:embed="rId3">
            <a:alphaModFix/>
          </a:blip>
          <a:stretch>
            <a:fillRect/>
          </a:stretch>
        </p:blipFill>
        <p:spPr>
          <a:xfrm>
            <a:off x="457200" y="1000069"/>
            <a:ext cx="7915374" cy="293606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457200" y="154483"/>
            <a:ext cx="8229600" cy="64305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t/>
            </a:r>
            <a:endParaRPr sz="3500">
              <a:latin typeface="Times New Roman"/>
              <a:ea typeface="Times New Roman"/>
              <a:cs typeface="Times New Roman"/>
              <a:sym typeface="Times New Roman"/>
            </a:endParaRPr>
          </a:p>
          <a:p>
            <a:pPr indent="0" lvl="0" marL="0" rtl="0" algn="ctr">
              <a:spcBef>
                <a:spcPts val="0"/>
              </a:spcBef>
              <a:spcAft>
                <a:spcPts val="0"/>
              </a:spcAft>
              <a:buClr>
                <a:schemeClr val="dk1"/>
              </a:buClr>
              <a:buSzPts val="1100"/>
              <a:buFont typeface="Arial"/>
              <a:buNone/>
            </a:pPr>
            <a:r>
              <a:rPr lang="en" sz="3500">
                <a:latin typeface="Times New Roman"/>
                <a:ea typeface="Times New Roman"/>
                <a:cs typeface="Times New Roman"/>
                <a:sym typeface="Times New Roman"/>
              </a:rPr>
              <a:t>Preventing Thread Execution</a:t>
            </a:r>
            <a:endParaRPr sz="3500">
              <a:latin typeface="Times New Roman"/>
              <a:ea typeface="Times New Roman"/>
              <a:cs typeface="Times New Roman"/>
              <a:sym typeface="Times New Roman"/>
            </a:endParaRPr>
          </a:p>
          <a:p>
            <a:pPr indent="0" lvl="0" marL="0" rtl="0" algn="ctr">
              <a:spcBef>
                <a:spcPts val="0"/>
              </a:spcBef>
              <a:spcAft>
                <a:spcPts val="0"/>
              </a:spcAft>
              <a:buNone/>
            </a:pPr>
            <a:r>
              <a:t/>
            </a:r>
            <a:endParaRPr sz="3500">
              <a:latin typeface="Times New Roman"/>
              <a:ea typeface="Times New Roman"/>
              <a:cs typeface="Times New Roman"/>
              <a:sym typeface="Times New Roman"/>
            </a:endParaRPr>
          </a:p>
        </p:txBody>
      </p:sp>
      <p:sp>
        <p:nvSpPr>
          <p:cNvPr id="110" name="Google Shape;110;p22"/>
          <p:cNvSpPr txBox="1"/>
          <p:nvPr>
            <p:ph idx="1" type="body"/>
          </p:nvPr>
        </p:nvSpPr>
        <p:spPr>
          <a:xfrm>
            <a:off x="457200" y="1200150"/>
            <a:ext cx="8229600" cy="3394575"/>
          </a:xfrm>
          <a:prstGeom prst="rect">
            <a:avLst/>
          </a:prstGeom>
        </p:spPr>
        <p:txBody>
          <a:bodyPr anchorCtr="0" anchor="t" bIns="45700" lIns="91425" spcFirstLastPara="1" rIns="91425" wrap="square" tIns="45700">
            <a:noAutofit/>
          </a:bodyPr>
          <a:lstStyle/>
          <a:p>
            <a:pPr indent="-342900" lvl="0" marL="457200" rtl="0" algn="l">
              <a:spcBef>
                <a:spcPts val="360"/>
              </a:spcBef>
              <a:spcAft>
                <a:spcPts val="0"/>
              </a:spcAft>
              <a:buSzPts val="1800"/>
              <a:buFont typeface="Times New Roman"/>
              <a:buChar char="●"/>
            </a:pPr>
            <a:r>
              <a:rPr lang="en">
                <a:solidFill>
                  <a:schemeClr val="dk1"/>
                </a:solidFill>
                <a:latin typeface="Times New Roman"/>
                <a:ea typeface="Times New Roman"/>
                <a:cs typeface="Times New Roman"/>
                <a:sym typeface="Times New Roman"/>
              </a:rPr>
              <a:t>Sleeping</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solidFill>
                  <a:schemeClr val="dk1"/>
                </a:solidFill>
                <a:latin typeface="Times New Roman"/>
                <a:ea typeface="Times New Roman"/>
                <a:cs typeface="Times New Roman"/>
                <a:sym typeface="Times New Roman"/>
              </a:rPr>
              <a:t>Waiting</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solidFill>
                  <a:schemeClr val="dk1"/>
                </a:solidFill>
                <a:latin typeface="Times New Roman"/>
                <a:ea typeface="Times New Roman"/>
                <a:cs typeface="Times New Roman"/>
                <a:sym typeface="Times New Roman"/>
              </a:rPr>
              <a:t>Blocked because it needs an object's lock</a:t>
            </a:r>
            <a:endParaRPr>
              <a:solidFill>
                <a:schemeClr val="dk1"/>
              </a:solidFill>
              <a:latin typeface="Times New Roman"/>
              <a:ea typeface="Times New Roman"/>
              <a:cs typeface="Times New Roman"/>
              <a:sym typeface="Times New Roman"/>
            </a:endParaRPr>
          </a:p>
          <a:p>
            <a:pPr indent="0" lvl="0" marL="45720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457200" y="154483"/>
            <a:ext cx="8229600" cy="64305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latin typeface="Times New Roman"/>
                <a:ea typeface="Times New Roman"/>
                <a:cs typeface="Times New Roman"/>
                <a:sym typeface="Times New Roman"/>
              </a:rPr>
              <a:t>Sleeping</a:t>
            </a:r>
            <a:endParaRPr>
              <a:latin typeface="Times New Roman"/>
              <a:ea typeface="Times New Roman"/>
              <a:cs typeface="Times New Roman"/>
              <a:sym typeface="Times New Roman"/>
            </a:endParaRPr>
          </a:p>
        </p:txBody>
      </p:sp>
      <p:sp>
        <p:nvSpPr>
          <p:cNvPr id="116" name="Google Shape;116;p23"/>
          <p:cNvSpPr txBox="1"/>
          <p:nvPr>
            <p:ph idx="1" type="body"/>
          </p:nvPr>
        </p:nvSpPr>
        <p:spPr>
          <a:xfrm>
            <a:off x="457200" y="1200150"/>
            <a:ext cx="8229600" cy="3394575"/>
          </a:xfrm>
          <a:prstGeom prst="rect">
            <a:avLst/>
          </a:prstGeom>
        </p:spPr>
        <p:txBody>
          <a:bodyPr anchorCtr="0" anchor="t" bIns="45700" lIns="91425" spcFirstLastPara="1" rIns="91425" wrap="square" tIns="45700">
            <a:noAutofit/>
          </a:bodyPr>
          <a:lstStyle/>
          <a:p>
            <a:pPr indent="0" lvl="0" marL="0" rtl="0" algn="l">
              <a:spcBef>
                <a:spcPts val="360"/>
              </a:spcBef>
              <a:spcAft>
                <a:spcPts val="1200"/>
              </a:spcAft>
              <a:buNone/>
            </a:pPr>
            <a:r>
              <a:t/>
            </a:r>
            <a:endParaRPr/>
          </a:p>
        </p:txBody>
      </p:sp>
      <p:pic>
        <p:nvPicPr>
          <p:cNvPr id="117" name="Google Shape;117;p23"/>
          <p:cNvPicPr preferRelativeResize="0"/>
          <p:nvPr/>
        </p:nvPicPr>
        <p:blipFill>
          <a:blip r:embed="rId3">
            <a:alphaModFix/>
          </a:blip>
          <a:stretch>
            <a:fillRect/>
          </a:stretch>
        </p:blipFill>
        <p:spPr>
          <a:xfrm>
            <a:off x="203425" y="894614"/>
            <a:ext cx="6858000" cy="2482471"/>
          </a:xfrm>
          <a:prstGeom prst="rect">
            <a:avLst/>
          </a:prstGeom>
          <a:noFill/>
          <a:ln>
            <a:noFill/>
          </a:ln>
        </p:spPr>
      </p:pic>
      <p:pic>
        <p:nvPicPr>
          <p:cNvPr id="118" name="Google Shape;118;p23"/>
          <p:cNvPicPr preferRelativeResize="0"/>
          <p:nvPr/>
        </p:nvPicPr>
        <p:blipFill>
          <a:blip r:embed="rId4">
            <a:alphaModFix/>
          </a:blip>
          <a:stretch>
            <a:fillRect/>
          </a:stretch>
        </p:blipFill>
        <p:spPr>
          <a:xfrm>
            <a:off x="203425" y="2328903"/>
            <a:ext cx="6858000" cy="218178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457200" y="154483"/>
            <a:ext cx="8229600" cy="64305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
              <a:t>Sleeping</a:t>
            </a:r>
            <a:endParaRPr/>
          </a:p>
          <a:p>
            <a:pPr indent="0" lvl="0" marL="0" rtl="0" algn="ctr">
              <a:spcBef>
                <a:spcPts val="0"/>
              </a:spcBef>
              <a:spcAft>
                <a:spcPts val="0"/>
              </a:spcAft>
              <a:buNone/>
            </a:pPr>
            <a:r>
              <a:t/>
            </a:r>
            <a:endParaRPr/>
          </a:p>
        </p:txBody>
      </p:sp>
      <p:sp>
        <p:nvSpPr>
          <p:cNvPr id="124" name="Google Shape;124;p24"/>
          <p:cNvSpPr txBox="1"/>
          <p:nvPr>
            <p:ph idx="1" type="body"/>
          </p:nvPr>
        </p:nvSpPr>
        <p:spPr>
          <a:xfrm>
            <a:off x="457200" y="1200150"/>
            <a:ext cx="11107500" cy="3394575"/>
          </a:xfrm>
          <a:prstGeom prst="rect">
            <a:avLst/>
          </a:prstGeom>
        </p:spPr>
        <p:txBody>
          <a:bodyPr anchorCtr="0" anchor="t" bIns="45700" lIns="91425" spcFirstLastPara="1" rIns="91425" wrap="square" tIns="45700">
            <a:noAutofit/>
          </a:bodyPr>
          <a:lstStyle/>
          <a:p>
            <a:pPr indent="0" lvl="0" marL="0" rtl="0" algn="l">
              <a:spcBef>
                <a:spcPts val="360"/>
              </a:spcBef>
              <a:spcAft>
                <a:spcPts val="1200"/>
              </a:spcAft>
              <a:buNone/>
            </a:pPr>
            <a:r>
              <a:t/>
            </a:r>
            <a:endParaRPr/>
          </a:p>
        </p:txBody>
      </p:sp>
      <p:pic>
        <p:nvPicPr>
          <p:cNvPr id="125" name="Google Shape;125;p24"/>
          <p:cNvPicPr preferRelativeResize="0"/>
          <p:nvPr/>
        </p:nvPicPr>
        <p:blipFill>
          <a:blip r:embed="rId3">
            <a:alphaModFix/>
          </a:blip>
          <a:stretch>
            <a:fillRect/>
          </a:stretch>
        </p:blipFill>
        <p:spPr>
          <a:xfrm>
            <a:off x="31348" y="600444"/>
            <a:ext cx="5609137" cy="4395169"/>
          </a:xfrm>
          <a:prstGeom prst="rect">
            <a:avLst/>
          </a:prstGeom>
          <a:noFill/>
          <a:ln>
            <a:noFill/>
          </a:ln>
        </p:spPr>
      </p:pic>
      <p:pic>
        <p:nvPicPr>
          <p:cNvPr id="126" name="Google Shape;126;p24"/>
          <p:cNvPicPr preferRelativeResize="0"/>
          <p:nvPr/>
        </p:nvPicPr>
        <p:blipFill rotWithShape="1">
          <a:blip r:embed="rId4">
            <a:alphaModFix/>
          </a:blip>
          <a:srcRect b="13323" l="17958" r="-1759" t="2882"/>
          <a:stretch/>
        </p:blipFill>
        <p:spPr>
          <a:xfrm>
            <a:off x="5905663" y="835075"/>
            <a:ext cx="4907756" cy="2993231"/>
          </a:xfrm>
          <a:prstGeom prst="rect">
            <a:avLst/>
          </a:prstGeom>
          <a:noFill/>
          <a:ln>
            <a:noFill/>
          </a:ln>
        </p:spPr>
      </p:pic>
      <p:sp>
        <p:nvSpPr>
          <p:cNvPr id="127" name="Google Shape;127;p24"/>
          <p:cNvSpPr txBox="1"/>
          <p:nvPr/>
        </p:nvSpPr>
        <p:spPr>
          <a:xfrm>
            <a:off x="5849875" y="4142225"/>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This output </a:t>
            </a:r>
            <a:r>
              <a:rPr lang="en"/>
              <a:t>behavior is still not guaranteed.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457200" y="154483"/>
            <a:ext cx="8229600" cy="64305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rPr lang="en"/>
              <a:t>Setting a Thread's Priority</a:t>
            </a:r>
            <a:endParaRPr/>
          </a:p>
          <a:p>
            <a:pPr indent="0" lvl="0" marL="0" rtl="0" algn="ctr">
              <a:spcBef>
                <a:spcPts val="0"/>
              </a:spcBef>
              <a:spcAft>
                <a:spcPts val="0"/>
              </a:spcAft>
              <a:buNone/>
            </a:pPr>
            <a:r>
              <a:t/>
            </a:r>
            <a:endParaRPr/>
          </a:p>
        </p:txBody>
      </p:sp>
      <p:sp>
        <p:nvSpPr>
          <p:cNvPr id="133" name="Google Shape;133;p25"/>
          <p:cNvSpPr txBox="1"/>
          <p:nvPr>
            <p:ph idx="1" type="body"/>
          </p:nvPr>
        </p:nvSpPr>
        <p:spPr>
          <a:xfrm>
            <a:off x="457200" y="1200150"/>
            <a:ext cx="10158300" cy="3394575"/>
          </a:xfrm>
          <a:prstGeom prst="rect">
            <a:avLst/>
          </a:prstGeom>
        </p:spPr>
        <p:txBody>
          <a:bodyPr anchorCtr="0" anchor="t" bIns="45700" lIns="91425" spcFirstLastPara="1" rIns="91425" wrap="square" tIns="45700">
            <a:noAutofit/>
          </a:bodyPr>
          <a:lstStyle/>
          <a:p>
            <a:pPr indent="0" lvl="0" marL="0" rtl="0" algn="l">
              <a:spcBef>
                <a:spcPts val="360"/>
              </a:spcBef>
              <a:spcAft>
                <a:spcPts val="1200"/>
              </a:spcAft>
              <a:buNone/>
            </a:pPr>
            <a:r>
              <a:t/>
            </a:r>
            <a:endParaRPr/>
          </a:p>
        </p:txBody>
      </p:sp>
      <p:pic>
        <p:nvPicPr>
          <p:cNvPr id="134" name="Google Shape;134;p25"/>
          <p:cNvPicPr preferRelativeResize="0"/>
          <p:nvPr/>
        </p:nvPicPr>
        <p:blipFill>
          <a:blip r:embed="rId3">
            <a:alphaModFix/>
          </a:blip>
          <a:stretch>
            <a:fillRect/>
          </a:stretch>
        </p:blipFill>
        <p:spPr>
          <a:xfrm>
            <a:off x="668475" y="1708266"/>
            <a:ext cx="5086350" cy="1407319"/>
          </a:xfrm>
          <a:prstGeom prst="rect">
            <a:avLst/>
          </a:prstGeom>
          <a:noFill/>
          <a:ln>
            <a:noFill/>
          </a:ln>
        </p:spPr>
      </p:pic>
      <p:pic>
        <p:nvPicPr>
          <p:cNvPr id="135" name="Google Shape;135;p25"/>
          <p:cNvPicPr preferRelativeResize="0"/>
          <p:nvPr/>
        </p:nvPicPr>
        <p:blipFill>
          <a:blip r:embed="rId4">
            <a:alphaModFix/>
          </a:blip>
          <a:stretch>
            <a:fillRect/>
          </a:stretch>
        </p:blipFill>
        <p:spPr>
          <a:xfrm>
            <a:off x="593013" y="3284094"/>
            <a:ext cx="4722019" cy="1085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sz="3000">
                <a:latin typeface="Times New Roman"/>
                <a:ea typeface="Times New Roman"/>
                <a:cs typeface="Times New Roman"/>
                <a:sym typeface="Times New Roman"/>
              </a:rPr>
              <a:t>Java Thread Priorities</a:t>
            </a:r>
            <a:endParaRPr sz="3000">
              <a:latin typeface="Times New Roman"/>
              <a:ea typeface="Times New Roman"/>
              <a:cs typeface="Times New Roman"/>
              <a:sym typeface="Times New Roman"/>
            </a:endParaRPr>
          </a:p>
        </p:txBody>
      </p:sp>
      <p:sp>
        <p:nvSpPr>
          <p:cNvPr id="141" name="Google Shape;141;p26"/>
          <p:cNvSpPr txBox="1"/>
          <p:nvPr>
            <p:ph idx="1" type="body"/>
          </p:nvPr>
        </p:nvSpPr>
        <p:spPr>
          <a:xfrm>
            <a:off x="457200" y="1200150"/>
            <a:ext cx="8229600" cy="33945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Thread.MIN_PRIORITY (1)</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Thread.NORM_PRIORITY (5)</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Thread.MAX_PRIORITY (10)</a:t>
            </a: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sz="4800">
              <a:latin typeface="Times New Roman"/>
              <a:ea typeface="Times New Roman"/>
              <a:cs typeface="Times New Roman"/>
              <a:sym typeface="Times New Roman"/>
            </a:endParaRPr>
          </a:p>
          <a:p>
            <a:pPr indent="0" lvl="0" marL="0" rtl="0" algn="ctr">
              <a:spcBef>
                <a:spcPts val="0"/>
              </a:spcBef>
              <a:spcAft>
                <a:spcPts val="0"/>
              </a:spcAft>
              <a:buClr>
                <a:schemeClr val="dk1"/>
              </a:buClr>
              <a:buSzPts val="1100"/>
              <a:buFont typeface="Arial"/>
              <a:buNone/>
            </a:pPr>
            <a:r>
              <a:rPr lang="en" sz="4800">
                <a:latin typeface="Times New Roman"/>
                <a:ea typeface="Times New Roman"/>
                <a:cs typeface="Times New Roman"/>
                <a:sym typeface="Times New Roman"/>
              </a:rPr>
              <a:t>yield( ) Method</a:t>
            </a:r>
            <a:endParaRPr sz="4800">
              <a:latin typeface="Times New Roman"/>
              <a:ea typeface="Times New Roman"/>
              <a:cs typeface="Times New Roman"/>
              <a:sym typeface="Times New Roman"/>
            </a:endParaRPr>
          </a:p>
          <a:p>
            <a:pPr indent="0" lvl="0" marL="0" rtl="0" algn="ctr">
              <a:spcBef>
                <a:spcPts val="0"/>
              </a:spcBef>
              <a:spcAft>
                <a:spcPts val="0"/>
              </a:spcAft>
              <a:buNone/>
            </a:pPr>
            <a:r>
              <a:t/>
            </a:r>
            <a:endParaRPr sz="4800">
              <a:latin typeface="Times New Roman"/>
              <a:ea typeface="Times New Roman"/>
              <a:cs typeface="Times New Roman"/>
              <a:sym typeface="Times New Roman"/>
            </a:endParaRPr>
          </a:p>
        </p:txBody>
      </p:sp>
      <p:sp>
        <p:nvSpPr>
          <p:cNvPr id="147" name="Google Shape;147;p27"/>
          <p:cNvSpPr txBox="1"/>
          <p:nvPr>
            <p:ph idx="1" type="body"/>
          </p:nvPr>
        </p:nvSpPr>
        <p:spPr>
          <a:xfrm>
            <a:off x="457200" y="1200150"/>
            <a:ext cx="8229600" cy="33945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100"/>
              <a:buFont typeface="Arial"/>
              <a:buNone/>
            </a:pPr>
            <a:r>
              <a:t/>
            </a:r>
            <a:endParaRPr>
              <a:solidFill>
                <a:srgbClr val="000000"/>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a:solidFill>
                  <a:srgbClr val="000000"/>
                </a:solidFill>
                <a:latin typeface="Times New Roman"/>
                <a:ea typeface="Times New Roman"/>
                <a:cs typeface="Times New Roman"/>
                <a:sym typeface="Times New Roman"/>
              </a:rPr>
              <a:t>make the currently running thread head back to runnable to allow other threads of the same priority to get their turn.</a:t>
            </a:r>
            <a:endParaRPr>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8"/>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 sz="3100">
                <a:latin typeface="Times New Roman"/>
                <a:ea typeface="Times New Roman"/>
                <a:cs typeface="Times New Roman"/>
                <a:sym typeface="Times New Roman"/>
              </a:rPr>
              <a:t>join( ) Method</a:t>
            </a:r>
            <a:endParaRPr sz="3100">
              <a:latin typeface="Times New Roman"/>
              <a:ea typeface="Times New Roman"/>
              <a:cs typeface="Times New Roman"/>
              <a:sym typeface="Times New Roman"/>
            </a:endParaRPr>
          </a:p>
          <a:p>
            <a:pPr indent="0" lvl="0" marL="0" rtl="0" algn="ctr">
              <a:spcBef>
                <a:spcPts val="0"/>
              </a:spcBef>
              <a:spcAft>
                <a:spcPts val="0"/>
              </a:spcAft>
              <a:buNone/>
            </a:pPr>
            <a:r>
              <a:t/>
            </a:r>
            <a:endParaRPr sz="3100">
              <a:latin typeface="Times New Roman"/>
              <a:ea typeface="Times New Roman"/>
              <a:cs typeface="Times New Roman"/>
              <a:sym typeface="Times New Roman"/>
            </a:endParaRPr>
          </a:p>
        </p:txBody>
      </p:sp>
      <p:sp>
        <p:nvSpPr>
          <p:cNvPr id="153" name="Google Shape;153;p28"/>
          <p:cNvSpPr txBox="1"/>
          <p:nvPr>
            <p:ph idx="1" type="body"/>
          </p:nvPr>
        </p:nvSpPr>
        <p:spPr>
          <a:xfrm>
            <a:off x="457200" y="1200150"/>
            <a:ext cx="8229600" cy="3394500"/>
          </a:xfrm>
          <a:prstGeom prst="rect">
            <a:avLst/>
          </a:prstGeom>
        </p:spPr>
        <p:txBody>
          <a:bodyPr anchorCtr="0" anchor="t" bIns="45700" lIns="91425" spcFirstLastPara="1" rIns="91425" wrap="square" tIns="45700">
            <a:noAutofit/>
          </a:bodyPr>
          <a:lstStyle/>
          <a:p>
            <a:pPr indent="-342900" lvl="0" marL="457200" rtl="0" algn="l">
              <a:spcBef>
                <a:spcPts val="360"/>
              </a:spcBef>
              <a:spcAft>
                <a:spcPts val="0"/>
              </a:spcAft>
              <a:buSzPts val="1800"/>
              <a:buFont typeface="Times New Roman"/>
              <a:buChar char="●"/>
            </a:pPr>
            <a:r>
              <a:rPr lang="en">
                <a:solidFill>
                  <a:schemeClr val="dk1"/>
                </a:solidFill>
                <a:latin typeface="Times New Roman"/>
                <a:ea typeface="Times New Roman"/>
                <a:cs typeface="Times New Roman"/>
                <a:sym typeface="Times New Roman"/>
              </a:rPr>
              <a:t>l</a:t>
            </a:r>
            <a:r>
              <a:rPr lang="en">
                <a:solidFill>
                  <a:schemeClr val="dk1"/>
                </a:solidFill>
                <a:latin typeface="Times New Roman"/>
                <a:ea typeface="Times New Roman"/>
                <a:cs typeface="Times New Roman"/>
                <a:sym typeface="Times New Roman"/>
              </a:rPr>
              <a:t>ets one thread "join onto the end" of another thread.</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solidFill>
                  <a:schemeClr val="dk1"/>
                </a:solidFill>
                <a:latin typeface="Times New Roman"/>
                <a:ea typeface="Times New Roman"/>
                <a:cs typeface="Times New Roman"/>
                <a:sym typeface="Times New Roman"/>
              </a:rPr>
              <a:t>If you have a thread B that can't do its work until another thread A has completed its work, then you want thread B to "join" thread A.</a:t>
            </a: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