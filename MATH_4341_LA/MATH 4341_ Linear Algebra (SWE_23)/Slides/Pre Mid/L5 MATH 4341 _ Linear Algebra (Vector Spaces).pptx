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Questrial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Nunito-bold.fntdata"/><Relationship Id="rId10" Type="http://schemas.openxmlformats.org/officeDocument/2006/relationships/slide" Target="slides/slide6.xml"/><Relationship Id="rId32" Type="http://schemas.openxmlformats.org/officeDocument/2006/relationships/font" Target="fonts/Nunito-regular.fntdata"/><Relationship Id="rId13" Type="http://schemas.openxmlformats.org/officeDocument/2006/relationships/slide" Target="slides/slide9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8.xml"/><Relationship Id="rId34" Type="http://schemas.openxmlformats.org/officeDocument/2006/relationships/font" Target="fonts/Nunito-italic.fntdata"/><Relationship Id="rId15" Type="http://schemas.openxmlformats.org/officeDocument/2006/relationships/slide" Target="slides/slide11.xml"/><Relationship Id="rId37" Type="http://schemas.openxmlformats.org/officeDocument/2006/relationships/font" Target="fonts/Questrial-regular.fntdata"/><Relationship Id="rId14" Type="http://schemas.openxmlformats.org/officeDocument/2006/relationships/slide" Target="slides/slide10.xml"/><Relationship Id="rId36" Type="http://schemas.openxmlformats.org/officeDocument/2006/relationships/font" Target="fonts/BebasNeue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8f9c6d7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8f9c6d7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91759050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091759050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91759050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091759050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91759050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091759050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91759050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91759050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91759050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091759050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091759050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091759050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91759050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091759050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91759050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091759050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91759050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091759050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93635346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93635346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936353466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0936353466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09363534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09363534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093635346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093635346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936353466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0936353466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0936353466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0936353466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0a09b384c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0a09b384c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093635346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093635346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0936353466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0936353466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0936353466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0936353466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936353466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0936353466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0936353466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0936353466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09dcde617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09dcde617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0239697f0e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0239697f0e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00ba8dc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00ba8dc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youtu.be/8o5Cmfpeo6g?feature=shared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758250" y="1298900"/>
            <a:ext cx="7627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Vector Spaces and Subspaces</a:t>
            </a:r>
            <a:endParaRPr sz="42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Vectorspace</a:t>
            </a:r>
            <a:endParaRPr/>
          </a:p>
        </p:txBody>
      </p:sp>
      <p:cxnSp>
        <p:nvCxnSpPr>
          <p:cNvPr id="145" name="Google Shape;145;p2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6"/>
          <p:cNvSpPr txBox="1"/>
          <p:nvPr/>
        </p:nvSpPr>
        <p:spPr>
          <a:xfrm>
            <a:off x="754175" y="1425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space formed of a bunch of vectors.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7" name="Google Shape;147;p26"/>
          <p:cNvGrpSpPr/>
          <p:nvPr/>
        </p:nvGrpSpPr>
        <p:grpSpPr>
          <a:xfrm>
            <a:off x="2921800" y="3140775"/>
            <a:ext cx="665100" cy="927625"/>
            <a:chOff x="2083600" y="3064575"/>
            <a:chExt cx="665100" cy="927625"/>
          </a:xfrm>
        </p:grpSpPr>
        <p:sp>
          <p:nvSpPr>
            <p:cNvPr id="148" name="Google Shape;148;p26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49" name="Google Shape;149;p26"/>
            <p:cNvSpPr txBox="1"/>
            <p:nvPr/>
          </p:nvSpPr>
          <p:spPr>
            <a:xfrm>
              <a:off x="2232526" y="3064575"/>
              <a:ext cx="3669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50" name="Google Shape;150;p26"/>
          <p:cNvSpPr txBox="1"/>
          <p:nvPr/>
        </p:nvSpPr>
        <p:spPr>
          <a:xfrm>
            <a:off x="754175" y="2187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 vector space?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51" name="Google Shape;151;p26"/>
          <p:cNvGrpSpPr/>
          <p:nvPr/>
        </p:nvGrpSpPr>
        <p:grpSpPr>
          <a:xfrm>
            <a:off x="4179100" y="3140775"/>
            <a:ext cx="665100" cy="927625"/>
            <a:chOff x="2083600" y="3064575"/>
            <a:chExt cx="665100" cy="927625"/>
          </a:xfrm>
        </p:grpSpPr>
        <p:sp>
          <p:nvSpPr>
            <p:cNvPr id="152" name="Google Shape;152;p26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53" name="Google Shape;153;p26"/>
            <p:cNvSpPr txBox="1"/>
            <p:nvPr/>
          </p:nvSpPr>
          <p:spPr>
            <a:xfrm>
              <a:off x="2232526" y="3064575"/>
              <a:ext cx="3669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4" name="Google Shape;154;p26"/>
          <p:cNvGrpSpPr/>
          <p:nvPr/>
        </p:nvGrpSpPr>
        <p:grpSpPr>
          <a:xfrm>
            <a:off x="5436400" y="3140775"/>
            <a:ext cx="665100" cy="927625"/>
            <a:chOff x="2083600" y="3064575"/>
            <a:chExt cx="665100" cy="927625"/>
          </a:xfrm>
        </p:grpSpPr>
        <p:sp>
          <p:nvSpPr>
            <p:cNvPr id="155" name="Google Shape;155;p26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2232526" y="3064575"/>
              <a:ext cx="3669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𝝿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e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Vectorspace</a:t>
            </a:r>
            <a:endParaRPr/>
          </a:p>
        </p:txBody>
      </p:sp>
      <p:cxnSp>
        <p:nvCxnSpPr>
          <p:cNvPr id="162" name="Google Shape;162;p2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7"/>
          <p:cNvSpPr txBox="1"/>
          <p:nvPr/>
        </p:nvSpPr>
        <p:spPr>
          <a:xfrm>
            <a:off x="754175" y="1425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Characteristics of vector space -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754175" y="2187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Linear combination of any vectors within a vector space must also reside within that vector space.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754175" y="3177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Origin must be part of the vector space.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Quick question</a:t>
            </a:r>
            <a:endParaRPr/>
          </a:p>
        </p:txBody>
      </p:sp>
      <p:cxnSp>
        <p:nvCxnSpPr>
          <p:cNvPr id="171" name="Google Shape;171;p2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8"/>
          <p:cNvSpPr txBox="1"/>
          <p:nvPr/>
        </p:nvSpPr>
        <p:spPr>
          <a:xfrm>
            <a:off x="754175" y="1425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the first quadrant a vectorspace?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3" name="Google Shape;173;p28"/>
          <p:cNvPicPr preferRelativeResize="0"/>
          <p:nvPr/>
        </p:nvPicPr>
        <p:blipFill rotWithShape="1">
          <a:blip r:embed="rId3">
            <a:alphaModFix/>
          </a:blip>
          <a:srcRect b="10046" l="27503" r="27485" t="9523"/>
          <a:stretch/>
        </p:blipFill>
        <p:spPr>
          <a:xfrm>
            <a:off x="703100" y="2076300"/>
            <a:ext cx="2616150" cy="26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/>
          <p:nvPr/>
        </p:nvSpPr>
        <p:spPr>
          <a:xfrm>
            <a:off x="2014650" y="2140575"/>
            <a:ext cx="1238700" cy="1231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863425" y="2301475"/>
            <a:ext cx="436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Contains origin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3863425" y="2834875"/>
            <a:ext cx="476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Contains linear combination of the vectors inside the vector space.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 rotWithShape="1">
          <a:blip r:embed="rId4">
            <a:alphaModFix/>
          </a:blip>
          <a:srcRect b="14545" l="7767" r="54180" t="14367"/>
          <a:stretch/>
        </p:blipFill>
        <p:spPr>
          <a:xfrm>
            <a:off x="6255273" y="2407083"/>
            <a:ext cx="357675" cy="3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4">
            <a:alphaModFix/>
          </a:blip>
          <a:srcRect b="15407" l="54104" r="6221" t="14017"/>
          <a:stretch/>
        </p:blipFill>
        <p:spPr>
          <a:xfrm>
            <a:off x="8054022" y="3372075"/>
            <a:ext cx="375652" cy="3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idx="8" type="title"/>
          </p:nvPr>
        </p:nvSpPr>
        <p:spPr>
          <a:xfrm>
            <a:off x="720000" y="5183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latin typeface="Nunito"/>
                <a:ea typeface="Nunito"/>
                <a:cs typeface="Nunito"/>
                <a:sym typeface="Nunito"/>
              </a:rPr>
              <a:t>What’s a vector space inside R</a:t>
            </a:r>
            <a:r>
              <a:rPr b="1" baseline="30000" lang="es" sz="20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="1" lang="es" sz="2000">
                <a:latin typeface="Nunito"/>
                <a:ea typeface="Nunito"/>
                <a:cs typeface="Nunito"/>
                <a:sym typeface="Nunito"/>
              </a:rPr>
              <a:t>?</a:t>
            </a:r>
            <a:endParaRPr/>
          </a:p>
        </p:txBody>
      </p:sp>
      <p:cxnSp>
        <p:nvCxnSpPr>
          <p:cNvPr id="184" name="Google Shape;184;p2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9"/>
          <p:cNvSpPr txBox="1"/>
          <p:nvPr/>
        </p:nvSpPr>
        <p:spPr>
          <a:xfrm>
            <a:off x="754175" y="1044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5400" y="1524000"/>
            <a:ext cx="2487500" cy="248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29"/>
          <p:cNvCxnSpPr/>
          <p:nvPr/>
        </p:nvCxnSpPr>
        <p:spPr>
          <a:xfrm flipH="1" rot="10800000">
            <a:off x="4661775" y="2403950"/>
            <a:ext cx="365100" cy="3651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9"/>
          <p:cNvCxnSpPr/>
          <p:nvPr/>
        </p:nvCxnSpPr>
        <p:spPr>
          <a:xfrm flipH="1" rot="10800000">
            <a:off x="4661775" y="2403950"/>
            <a:ext cx="365100" cy="3651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9"/>
          <p:cNvCxnSpPr/>
          <p:nvPr/>
        </p:nvCxnSpPr>
        <p:spPr>
          <a:xfrm flipH="1" rot="10800000">
            <a:off x="5026875" y="2038850"/>
            <a:ext cx="365100" cy="3651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9"/>
          <p:cNvCxnSpPr/>
          <p:nvPr/>
        </p:nvCxnSpPr>
        <p:spPr>
          <a:xfrm flipH="1" rot="10800000">
            <a:off x="5391975" y="1673750"/>
            <a:ext cx="365100" cy="3651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9"/>
          <p:cNvCxnSpPr/>
          <p:nvPr/>
        </p:nvCxnSpPr>
        <p:spPr>
          <a:xfrm flipH="1">
            <a:off x="4296675" y="2769050"/>
            <a:ext cx="365100" cy="3651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9"/>
          <p:cNvCxnSpPr/>
          <p:nvPr/>
        </p:nvCxnSpPr>
        <p:spPr>
          <a:xfrm flipH="1">
            <a:off x="3931575" y="3134150"/>
            <a:ext cx="365100" cy="3651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9"/>
          <p:cNvCxnSpPr/>
          <p:nvPr/>
        </p:nvCxnSpPr>
        <p:spPr>
          <a:xfrm flipH="1">
            <a:off x="3566475" y="3499250"/>
            <a:ext cx="365100" cy="3651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9"/>
          <p:cNvSpPr/>
          <p:nvPr/>
        </p:nvSpPr>
        <p:spPr>
          <a:xfrm rot="-2700000">
            <a:off x="5182072" y="2927037"/>
            <a:ext cx="2612194" cy="100593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SUBSPACE</a:t>
            </a:r>
            <a:endParaRPr b="1" sz="32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Subspace</a:t>
            </a:r>
            <a:endParaRPr/>
          </a:p>
        </p:txBody>
      </p:sp>
      <p:cxnSp>
        <p:nvCxnSpPr>
          <p:cNvPr id="200" name="Google Shape;200;p3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30"/>
          <p:cNvSpPr txBox="1"/>
          <p:nvPr/>
        </p:nvSpPr>
        <p:spPr>
          <a:xfrm>
            <a:off x="754175" y="1425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Subset of a vector space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754175" y="2187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Characteristics -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754175" y="27207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Same as vector space.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Subspace</a:t>
            </a:r>
            <a:endParaRPr/>
          </a:p>
        </p:txBody>
      </p:sp>
      <p:cxnSp>
        <p:nvCxnSpPr>
          <p:cNvPr id="209" name="Google Shape;209;p3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1"/>
          <p:cNvSpPr txBox="1"/>
          <p:nvPr/>
        </p:nvSpPr>
        <p:spPr>
          <a:xfrm>
            <a:off x="754175" y="1425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Are they subspaces of 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838" y="1998050"/>
            <a:ext cx="2323874" cy="216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2487" y="1998050"/>
            <a:ext cx="2278887" cy="216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Subspace</a:t>
            </a:r>
            <a:endParaRPr/>
          </a:p>
        </p:txBody>
      </p:sp>
      <p:cxnSp>
        <p:nvCxnSpPr>
          <p:cNvPr id="218" name="Google Shape;218;p32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32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So, can any line be a vector space?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663" y="1904550"/>
            <a:ext cx="2323875" cy="22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idx="8" type="title"/>
          </p:nvPr>
        </p:nvSpPr>
        <p:spPr>
          <a:xfrm>
            <a:off x="720000" y="5183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latin typeface="Nunito"/>
                <a:ea typeface="Nunito"/>
                <a:cs typeface="Nunito"/>
                <a:sym typeface="Nunito"/>
              </a:rPr>
              <a:t>Recap</a:t>
            </a:r>
            <a:endParaRPr sz="4000"/>
          </a:p>
        </p:txBody>
      </p:sp>
      <p:cxnSp>
        <p:nvCxnSpPr>
          <p:cNvPr id="226" name="Google Shape;226;p33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33"/>
          <p:cNvSpPr txBox="1"/>
          <p:nvPr/>
        </p:nvSpPr>
        <p:spPr>
          <a:xfrm>
            <a:off x="754175" y="1044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 which space do these vectors lie?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29" name="Google Shape;229;p33"/>
          <p:cNvGrpSpPr/>
          <p:nvPr/>
        </p:nvGrpSpPr>
        <p:grpSpPr>
          <a:xfrm>
            <a:off x="2726400" y="2439205"/>
            <a:ext cx="665100" cy="927625"/>
            <a:chOff x="2083600" y="3064575"/>
            <a:chExt cx="665100" cy="927625"/>
          </a:xfrm>
        </p:grpSpPr>
        <p:sp>
          <p:nvSpPr>
            <p:cNvPr id="230" name="Google Shape;230;p33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31" name="Google Shape;231;p33"/>
            <p:cNvSpPr txBox="1"/>
            <p:nvPr/>
          </p:nvSpPr>
          <p:spPr>
            <a:xfrm>
              <a:off x="2232526" y="3064575"/>
              <a:ext cx="3669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32" name="Google Shape;232;p33"/>
          <p:cNvSpPr txBox="1"/>
          <p:nvPr/>
        </p:nvSpPr>
        <p:spPr>
          <a:xfrm>
            <a:off x="2797200" y="4261000"/>
            <a:ext cx="52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1" baseline="30000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33" name="Google Shape;233;p33"/>
          <p:cNvGrpSpPr/>
          <p:nvPr/>
        </p:nvGrpSpPr>
        <p:grpSpPr>
          <a:xfrm>
            <a:off x="4326600" y="2179609"/>
            <a:ext cx="665100" cy="1446817"/>
            <a:chOff x="2083600" y="3064575"/>
            <a:chExt cx="665100" cy="927625"/>
          </a:xfrm>
        </p:grpSpPr>
        <p:sp>
          <p:nvSpPr>
            <p:cNvPr id="234" name="Google Shape;234;p33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35" name="Google Shape;235;p33"/>
            <p:cNvSpPr txBox="1"/>
            <p:nvPr/>
          </p:nvSpPr>
          <p:spPr>
            <a:xfrm>
              <a:off x="2232526" y="3064575"/>
              <a:ext cx="3669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6" name="Google Shape;236;p33"/>
          <p:cNvGrpSpPr/>
          <p:nvPr/>
        </p:nvGrpSpPr>
        <p:grpSpPr>
          <a:xfrm>
            <a:off x="5926800" y="1796500"/>
            <a:ext cx="665100" cy="2213034"/>
            <a:chOff x="2083600" y="3064575"/>
            <a:chExt cx="665100" cy="927625"/>
          </a:xfrm>
        </p:grpSpPr>
        <p:sp>
          <p:nvSpPr>
            <p:cNvPr id="237" name="Google Shape;237;p33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38" name="Google Shape;238;p33"/>
            <p:cNvSpPr txBox="1"/>
            <p:nvPr/>
          </p:nvSpPr>
          <p:spPr>
            <a:xfrm>
              <a:off x="2232525" y="3064575"/>
              <a:ext cx="4650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baseline="-25000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………….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n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39" name="Google Shape;239;p33"/>
          <p:cNvSpPr txBox="1"/>
          <p:nvPr/>
        </p:nvSpPr>
        <p:spPr>
          <a:xfrm>
            <a:off x="4397400" y="4261000"/>
            <a:ext cx="52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1" baseline="30000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5997600" y="4261000"/>
            <a:ext cx="52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endParaRPr b="1" baseline="30000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Subspace</a:t>
            </a:r>
            <a:endParaRPr/>
          </a:p>
        </p:txBody>
      </p:sp>
      <p:cxnSp>
        <p:nvCxnSpPr>
          <p:cNvPr id="246" name="Google Shape;246;p34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34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are the possible subspaces of 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754175" y="18825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itself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754175" y="2415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Origin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754175" y="2949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Vector(line) passing through the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origin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Subspace</a:t>
            </a:r>
            <a:endParaRPr/>
          </a:p>
        </p:txBody>
      </p:sp>
      <p:cxnSp>
        <p:nvCxnSpPr>
          <p:cNvPr id="256" name="Google Shape;256;p35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5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are the possible subspaces of 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754175" y="18825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itself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754175" y="2415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Origin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754175" y="2949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Vector(line) passing through the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origin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754175" y="34827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Plane</a:t>
            </a: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passing through the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origin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Subspace</a:t>
            </a:r>
            <a:endParaRPr/>
          </a:p>
        </p:txBody>
      </p:sp>
      <p:cxnSp>
        <p:nvCxnSpPr>
          <p:cNvPr id="267" name="Google Shape;267;p3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8" name="Google Shape;2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050" y="1345850"/>
            <a:ext cx="2323874" cy="216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300" y="1345850"/>
            <a:ext cx="2278887" cy="2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 txBox="1"/>
          <p:nvPr/>
        </p:nvSpPr>
        <p:spPr>
          <a:xfrm>
            <a:off x="990513" y="3704150"/>
            <a:ext cx="348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Subspace P </a:t>
            </a:r>
            <a:endParaRPr b="1" baseline="30000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line through origin in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1" baseline="30000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4671988" y="3704150"/>
            <a:ext cx="348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Subspace Q </a:t>
            </a:r>
            <a:endParaRPr b="1" baseline="30000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plane through origin in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b="1" baseline="30000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Subspace</a:t>
            </a:r>
            <a:endParaRPr/>
          </a:p>
        </p:txBody>
      </p:sp>
      <p:cxnSp>
        <p:nvCxnSpPr>
          <p:cNvPr id="277" name="Google Shape;277;p3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7"/>
          <p:cNvSpPr txBox="1"/>
          <p:nvPr/>
        </p:nvSpPr>
        <p:spPr>
          <a:xfrm>
            <a:off x="754175" y="14253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(P ⋃ Q) a subspace?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754175" y="2415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(P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∩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Q) a subspace?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0" name="Google Shape;280;p37"/>
          <p:cNvPicPr preferRelativeResize="0"/>
          <p:nvPr/>
        </p:nvPicPr>
        <p:blipFill rotWithShape="1">
          <a:blip r:embed="rId3">
            <a:alphaModFix/>
          </a:blip>
          <a:srcRect b="14545" l="7767" r="54180" t="14367"/>
          <a:stretch/>
        </p:blipFill>
        <p:spPr>
          <a:xfrm>
            <a:off x="4188585" y="2484783"/>
            <a:ext cx="357675" cy="3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7"/>
          <p:cNvPicPr preferRelativeResize="0"/>
          <p:nvPr/>
        </p:nvPicPr>
        <p:blipFill rotWithShape="1">
          <a:blip r:embed="rId3">
            <a:alphaModFix/>
          </a:blip>
          <a:srcRect b="15407" l="54104" r="6221" t="14017"/>
          <a:stretch/>
        </p:blipFill>
        <p:spPr>
          <a:xfrm>
            <a:off x="4179597" y="1496550"/>
            <a:ext cx="375652" cy="3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Column Space</a:t>
            </a:r>
            <a:endParaRPr/>
          </a:p>
        </p:txBody>
      </p:sp>
      <p:cxnSp>
        <p:nvCxnSpPr>
          <p:cNvPr id="287" name="Google Shape;287;p3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8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 is the space covered by the columns of A?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89" name="Google Shape;289;p38"/>
          <p:cNvGrpSpPr/>
          <p:nvPr/>
        </p:nvGrpSpPr>
        <p:grpSpPr>
          <a:xfrm>
            <a:off x="3954900" y="2078778"/>
            <a:ext cx="1153046" cy="1446833"/>
            <a:chOff x="2045434" y="3064569"/>
            <a:chExt cx="1287600" cy="927636"/>
          </a:xfrm>
        </p:grpSpPr>
        <p:sp>
          <p:nvSpPr>
            <p:cNvPr id="290" name="Google Shape;290;p38"/>
            <p:cNvSpPr/>
            <p:nvPr/>
          </p:nvSpPr>
          <p:spPr>
            <a:xfrm>
              <a:off x="2045434" y="3073305"/>
              <a:ext cx="12876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91" name="Google Shape;291;p38"/>
            <p:cNvSpPr txBox="1"/>
            <p:nvPr/>
          </p:nvSpPr>
          <p:spPr>
            <a:xfrm>
              <a:off x="2232525" y="3064569"/>
              <a:ext cx="987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    -1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2     4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3     0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92" name="Google Shape;292;p38"/>
          <p:cNvSpPr txBox="1"/>
          <p:nvPr/>
        </p:nvSpPr>
        <p:spPr>
          <a:xfrm>
            <a:off x="754175" y="38637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plane </a:t>
            </a: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="1" baseline="30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passing through origin.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Column Space</a:t>
            </a:r>
            <a:endParaRPr/>
          </a:p>
        </p:txBody>
      </p:sp>
      <p:cxnSp>
        <p:nvCxnSpPr>
          <p:cNvPr id="298" name="Google Shape;298;p3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9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subspace covered by the columns of any matrix.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00" name="Google Shape;300;p39"/>
          <p:cNvGrpSpPr/>
          <p:nvPr/>
        </p:nvGrpSpPr>
        <p:grpSpPr>
          <a:xfrm>
            <a:off x="2726400" y="2439200"/>
            <a:ext cx="1139700" cy="927625"/>
            <a:chOff x="2083600" y="3064570"/>
            <a:chExt cx="1139700" cy="927625"/>
          </a:xfrm>
        </p:grpSpPr>
        <p:sp>
          <p:nvSpPr>
            <p:cNvPr id="301" name="Google Shape;301;p39"/>
            <p:cNvSpPr/>
            <p:nvPr/>
          </p:nvSpPr>
          <p:spPr>
            <a:xfrm>
              <a:off x="2083600" y="3073295"/>
              <a:ext cx="11397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02" name="Google Shape;302;p39"/>
            <p:cNvSpPr txBox="1"/>
            <p:nvPr/>
          </p:nvSpPr>
          <p:spPr>
            <a:xfrm>
              <a:off x="2232524" y="3064570"/>
              <a:ext cx="8646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1     0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0     1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03" name="Google Shape;303;p39"/>
          <p:cNvGrpSpPr/>
          <p:nvPr/>
        </p:nvGrpSpPr>
        <p:grpSpPr>
          <a:xfrm>
            <a:off x="5012400" y="2439200"/>
            <a:ext cx="1139700" cy="927625"/>
            <a:chOff x="2083600" y="3064570"/>
            <a:chExt cx="1139700" cy="927625"/>
          </a:xfrm>
        </p:grpSpPr>
        <p:sp>
          <p:nvSpPr>
            <p:cNvPr id="304" name="Google Shape;304;p39"/>
            <p:cNvSpPr/>
            <p:nvPr/>
          </p:nvSpPr>
          <p:spPr>
            <a:xfrm>
              <a:off x="2083600" y="3073295"/>
              <a:ext cx="11397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05" name="Google Shape;305;p39"/>
            <p:cNvSpPr txBox="1"/>
            <p:nvPr/>
          </p:nvSpPr>
          <p:spPr>
            <a:xfrm>
              <a:off x="2232524" y="3064570"/>
              <a:ext cx="8646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     6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2     4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Column Space</a:t>
            </a:r>
            <a:endParaRPr/>
          </a:p>
        </p:txBody>
      </p:sp>
      <p:cxnSp>
        <p:nvCxnSpPr>
          <p:cNvPr id="311" name="Google Shape;311;p4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40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What’s the column space of matrix A?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13" name="Google Shape;313;p40"/>
          <p:cNvGrpSpPr/>
          <p:nvPr/>
        </p:nvGrpSpPr>
        <p:grpSpPr>
          <a:xfrm>
            <a:off x="3616700" y="2071850"/>
            <a:ext cx="1762200" cy="1862425"/>
            <a:chOff x="2007400" y="3064570"/>
            <a:chExt cx="1762200" cy="1862425"/>
          </a:xfrm>
        </p:grpSpPr>
        <p:sp>
          <p:nvSpPr>
            <p:cNvPr id="314" name="Google Shape;314;p40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15" name="Google Shape;315;p40"/>
            <p:cNvSpPr txBox="1"/>
            <p:nvPr/>
          </p:nvSpPr>
          <p:spPr>
            <a:xfrm>
              <a:off x="2232526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     1     2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2     1     3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3     1     4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4     1     5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Column Space</a:t>
            </a:r>
            <a:endParaRPr/>
          </a:p>
        </p:txBody>
      </p:sp>
      <p:cxnSp>
        <p:nvCxnSpPr>
          <p:cNvPr id="321" name="Google Shape;321;p4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41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which b can Ax=b be solved?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23" name="Google Shape;323;p41"/>
          <p:cNvGrpSpPr/>
          <p:nvPr/>
        </p:nvGrpSpPr>
        <p:grpSpPr>
          <a:xfrm>
            <a:off x="2321300" y="2071850"/>
            <a:ext cx="1762200" cy="1862425"/>
            <a:chOff x="2007400" y="3064570"/>
            <a:chExt cx="1762200" cy="1862425"/>
          </a:xfrm>
        </p:grpSpPr>
        <p:sp>
          <p:nvSpPr>
            <p:cNvPr id="324" name="Google Shape;324;p41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5" name="Google Shape;325;p41"/>
            <p:cNvSpPr txBox="1"/>
            <p:nvPr/>
          </p:nvSpPr>
          <p:spPr>
            <a:xfrm>
              <a:off x="2232526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1     1     2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2     1     3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3     1     4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4     1     5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26" name="Google Shape;326;p41"/>
          <p:cNvGrpSpPr/>
          <p:nvPr/>
        </p:nvGrpSpPr>
        <p:grpSpPr>
          <a:xfrm>
            <a:off x="4326600" y="2279650"/>
            <a:ext cx="665100" cy="1446825"/>
            <a:chOff x="2083600" y="3064569"/>
            <a:chExt cx="665100" cy="927631"/>
          </a:xfrm>
        </p:grpSpPr>
        <p:sp>
          <p:nvSpPr>
            <p:cNvPr id="327" name="Google Shape;327;p41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8" name="Google Shape;328;p41"/>
            <p:cNvSpPr txBox="1"/>
            <p:nvPr/>
          </p:nvSpPr>
          <p:spPr>
            <a:xfrm>
              <a:off x="2198907" y="3064569"/>
              <a:ext cx="516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baseline="-25000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29" name="Google Shape;329;p41"/>
          <p:cNvGrpSpPr/>
          <p:nvPr/>
        </p:nvGrpSpPr>
        <p:grpSpPr>
          <a:xfrm>
            <a:off x="5597800" y="2071850"/>
            <a:ext cx="665054" cy="1862425"/>
            <a:chOff x="2007400" y="3064570"/>
            <a:chExt cx="1762200" cy="1862425"/>
          </a:xfrm>
        </p:grpSpPr>
        <p:sp>
          <p:nvSpPr>
            <p:cNvPr id="330" name="Google Shape;330;p41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31" name="Google Shape;331;p41"/>
            <p:cNvSpPr txBox="1"/>
            <p:nvPr/>
          </p:nvSpPr>
          <p:spPr>
            <a:xfrm>
              <a:off x="2232526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endParaRPr b="1" baseline="-25000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 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 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4 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32" name="Google Shape;332;p41"/>
          <p:cNvSpPr txBox="1"/>
          <p:nvPr/>
        </p:nvSpPr>
        <p:spPr>
          <a:xfrm>
            <a:off x="5131193" y="2720750"/>
            <a:ext cx="4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Column Space</a:t>
            </a:r>
            <a:endParaRPr/>
          </a:p>
        </p:txBody>
      </p:sp>
      <p:cxnSp>
        <p:nvCxnSpPr>
          <p:cNvPr id="338" name="Google Shape;338;p42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42"/>
          <p:cNvSpPr txBox="1"/>
          <p:nvPr/>
        </p:nvSpPr>
        <p:spPr>
          <a:xfrm>
            <a:off x="677975" y="1272950"/>
            <a:ext cx="80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40" name="Google Shape;340;p42"/>
          <p:cNvGrpSpPr/>
          <p:nvPr/>
        </p:nvGrpSpPr>
        <p:grpSpPr>
          <a:xfrm>
            <a:off x="1752725" y="1881350"/>
            <a:ext cx="715827" cy="1862425"/>
            <a:chOff x="2007400" y="3064570"/>
            <a:chExt cx="1896733" cy="1862425"/>
          </a:xfrm>
        </p:grpSpPr>
        <p:sp>
          <p:nvSpPr>
            <p:cNvPr id="341" name="Google Shape;341;p42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42" name="Google Shape;342;p42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endParaRPr b="1" baseline="-25000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3" name="Google Shape;343;p42"/>
          <p:cNvGrpSpPr/>
          <p:nvPr/>
        </p:nvGrpSpPr>
        <p:grpSpPr>
          <a:xfrm>
            <a:off x="3200525" y="1881350"/>
            <a:ext cx="715827" cy="1862425"/>
            <a:chOff x="2007400" y="3064570"/>
            <a:chExt cx="1896733" cy="1862425"/>
          </a:xfrm>
        </p:grpSpPr>
        <p:sp>
          <p:nvSpPr>
            <p:cNvPr id="344" name="Google Shape;344;p42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45" name="Google Shape;345;p42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6" name="Google Shape;346;p42"/>
          <p:cNvGrpSpPr/>
          <p:nvPr/>
        </p:nvGrpSpPr>
        <p:grpSpPr>
          <a:xfrm>
            <a:off x="4648325" y="1881350"/>
            <a:ext cx="715827" cy="1862425"/>
            <a:chOff x="2007400" y="3064570"/>
            <a:chExt cx="1896733" cy="1862425"/>
          </a:xfrm>
        </p:grpSpPr>
        <p:sp>
          <p:nvSpPr>
            <p:cNvPr id="347" name="Google Shape;347;p42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48" name="Google Shape;348;p42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5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9" name="Google Shape;349;p42"/>
          <p:cNvGrpSpPr/>
          <p:nvPr/>
        </p:nvGrpSpPr>
        <p:grpSpPr>
          <a:xfrm>
            <a:off x="6096125" y="1881350"/>
            <a:ext cx="715827" cy="1862425"/>
            <a:chOff x="2007400" y="3064570"/>
            <a:chExt cx="1896733" cy="1862425"/>
          </a:xfrm>
        </p:grpSpPr>
        <p:sp>
          <p:nvSpPr>
            <p:cNvPr id="350" name="Google Shape;350;p42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51" name="Google Shape;351;p42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b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52" name="Google Shape;352;p42"/>
          <p:cNvSpPr txBox="1"/>
          <p:nvPr/>
        </p:nvSpPr>
        <p:spPr>
          <a:xfrm>
            <a:off x="1244400" y="2571525"/>
            <a:ext cx="50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b="1" baseline="-25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p42"/>
          <p:cNvSpPr txBox="1"/>
          <p:nvPr/>
        </p:nvSpPr>
        <p:spPr>
          <a:xfrm>
            <a:off x="2514825" y="2571525"/>
            <a:ext cx="6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+x</a:t>
            </a:r>
            <a:r>
              <a:rPr b="1" baseline="-25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p42"/>
          <p:cNvSpPr txBox="1"/>
          <p:nvPr/>
        </p:nvSpPr>
        <p:spPr>
          <a:xfrm>
            <a:off x="3962625" y="2571525"/>
            <a:ext cx="6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+x</a:t>
            </a:r>
            <a:r>
              <a:rPr b="1" baseline="-25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42"/>
          <p:cNvSpPr txBox="1"/>
          <p:nvPr/>
        </p:nvSpPr>
        <p:spPr>
          <a:xfrm>
            <a:off x="5562825" y="2571525"/>
            <a:ext cx="6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Null Space</a:t>
            </a:r>
            <a:endParaRPr/>
          </a:p>
        </p:txBody>
      </p:sp>
      <p:cxnSp>
        <p:nvCxnSpPr>
          <p:cNvPr id="361" name="Google Shape;361;p43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43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which x can I solve Ax=0?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63" name="Google Shape;363;p43"/>
          <p:cNvGrpSpPr/>
          <p:nvPr/>
        </p:nvGrpSpPr>
        <p:grpSpPr>
          <a:xfrm>
            <a:off x="2321300" y="2071850"/>
            <a:ext cx="1762200" cy="1862425"/>
            <a:chOff x="2007400" y="3064570"/>
            <a:chExt cx="1762200" cy="1862425"/>
          </a:xfrm>
        </p:grpSpPr>
        <p:sp>
          <p:nvSpPr>
            <p:cNvPr id="364" name="Google Shape;364;p43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5" name="Google Shape;365;p43"/>
            <p:cNvSpPr txBox="1"/>
            <p:nvPr/>
          </p:nvSpPr>
          <p:spPr>
            <a:xfrm>
              <a:off x="2232526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1     1     2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2     1     3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3     1     4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4     1     5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66" name="Google Shape;366;p43"/>
          <p:cNvGrpSpPr/>
          <p:nvPr/>
        </p:nvGrpSpPr>
        <p:grpSpPr>
          <a:xfrm>
            <a:off x="4326600" y="2279650"/>
            <a:ext cx="665100" cy="1446825"/>
            <a:chOff x="2083600" y="3064569"/>
            <a:chExt cx="665100" cy="927631"/>
          </a:xfrm>
        </p:grpSpPr>
        <p:sp>
          <p:nvSpPr>
            <p:cNvPr id="367" name="Google Shape;367;p43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68" name="Google Shape;368;p43"/>
            <p:cNvSpPr txBox="1"/>
            <p:nvPr/>
          </p:nvSpPr>
          <p:spPr>
            <a:xfrm>
              <a:off x="2198907" y="3064569"/>
              <a:ext cx="516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baseline="-25000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69" name="Google Shape;369;p43"/>
          <p:cNvGrpSpPr/>
          <p:nvPr/>
        </p:nvGrpSpPr>
        <p:grpSpPr>
          <a:xfrm>
            <a:off x="5597800" y="2071850"/>
            <a:ext cx="715827" cy="1862425"/>
            <a:chOff x="2007400" y="3064570"/>
            <a:chExt cx="1896733" cy="1862425"/>
          </a:xfrm>
        </p:grpSpPr>
        <p:sp>
          <p:nvSpPr>
            <p:cNvPr id="370" name="Google Shape;370;p43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71" name="Google Shape;371;p43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72" name="Google Shape;372;p43"/>
          <p:cNvSpPr txBox="1"/>
          <p:nvPr/>
        </p:nvSpPr>
        <p:spPr>
          <a:xfrm>
            <a:off x="5131193" y="2720750"/>
            <a:ext cx="4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Null Space</a:t>
            </a:r>
            <a:endParaRPr/>
          </a:p>
        </p:txBody>
      </p:sp>
      <p:cxnSp>
        <p:nvCxnSpPr>
          <p:cNvPr id="378" name="Google Shape;378;p44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44"/>
          <p:cNvSpPr txBox="1"/>
          <p:nvPr/>
        </p:nvSpPr>
        <p:spPr>
          <a:xfrm>
            <a:off x="677975" y="1272950"/>
            <a:ext cx="80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Solutions of Ax = 0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80" name="Google Shape;380;p44"/>
          <p:cNvGrpSpPr/>
          <p:nvPr/>
        </p:nvGrpSpPr>
        <p:grpSpPr>
          <a:xfrm>
            <a:off x="1752725" y="2262350"/>
            <a:ext cx="715827" cy="1862425"/>
            <a:chOff x="2007400" y="3064570"/>
            <a:chExt cx="1896733" cy="1862425"/>
          </a:xfrm>
        </p:grpSpPr>
        <p:sp>
          <p:nvSpPr>
            <p:cNvPr id="381" name="Google Shape;381;p44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82" name="Google Shape;382;p44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endParaRPr b="1" baseline="-25000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83" name="Google Shape;383;p44"/>
          <p:cNvGrpSpPr/>
          <p:nvPr/>
        </p:nvGrpSpPr>
        <p:grpSpPr>
          <a:xfrm>
            <a:off x="3200525" y="2262350"/>
            <a:ext cx="715827" cy="1862425"/>
            <a:chOff x="2007400" y="3064570"/>
            <a:chExt cx="1896733" cy="1862425"/>
          </a:xfrm>
        </p:grpSpPr>
        <p:sp>
          <p:nvSpPr>
            <p:cNvPr id="384" name="Google Shape;384;p44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85" name="Google Shape;385;p44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86" name="Google Shape;386;p44"/>
          <p:cNvGrpSpPr/>
          <p:nvPr/>
        </p:nvGrpSpPr>
        <p:grpSpPr>
          <a:xfrm>
            <a:off x="4648325" y="2262350"/>
            <a:ext cx="715827" cy="1862425"/>
            <a:chOff x="2007400" y="3064570"/>
            <a:chExt cx="1896733" cy="1862425"/>
          </a:xfrm>
        </p:grpSpPr>
        <p:sp>
          <p:nvSpPr>
            <p:cNvPr id="387" name="Google Shape;387;p44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88" name="Google Shape;388;p44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5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89" name="Google Shape;389;p44"/>
          <p:cNvGrpSpPr/>
          <p:nvPr/>
        </p:nvGrpSpPr>
        <p:grpSpPr>
          <a:xfrm>
            <a:off x="6096125" y="2262350"/>
            <a:ext cx="715827" cy="1862425"/>
            <a:chOff x="2007400" y="3064570"/>
            <a:chExt cx="1896733" cy="1862425"/>
          </a:xfrm>
        </p:grpSpPr>
        <p:sp>
          <p:nvSpPr>
            <p:cNvPr id="390" name="Google Shape;390;p44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91" name="Google Shape;391;p44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92" name="Google Shape;392;p44"/>
          <p:cNvSpPr txBox="1"/>
          <p:nvPr/>
        </p:nvSpPr>
        <p:spPr>
          <a:xfrm>
            <a:off x="1244400" y="2952525"/>
            <a:ext cx="50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b="1" baseline="-25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3" name="Google Shape;393;p44"/>
          <p:cNvSpPr txBox="1"/>
          <p:nvPr/>
        </p:nvSpPr>
        <p:spPr>
          <a:xfrm>
            <a:off x="2514825" y="2952525"/>
            <a:ext cx="6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b="1" baseline="-25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4" name="Google Shape;394;p44"/>
          <p:cNvSpPr txBox="1"/>
          <p:nvPr/>
        </p:nvSpPr>
        <p:spPr>
          <a:xfrm>
            <a:off x="3962625" y="2952525"/>
            <a:ext cx="6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+x</a:t>
            </a:r>
            <a:r>
              <a:rPr b="1" baseline="-25000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5" name="Google Shape;395;p44"/>
          <p:cNvSpPr txBox="1"/>
          <p:nvPr/>
        </p:nvSpPr>
        <p:spPr>
          <a:xfrm>
            <a:off x="5562825" y="2952525"/>
            <a:ext cx="6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Null Space</a:t>
            </a:r>
            <a:endParaRPr/>
          </a:p>
        </p:txBody>
      </p:sp>
      <p:cxnSp>
        <p:nvCxnSpPr>
          <p:cNvPr id="401" name="Google Shape;401;p45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45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which x can I solve Ax=0?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03" name="Google Shape;403;p45"/>
          <p:cNvGrpSpPr/>
          <p:nvPr/>
        </p:nvGrpSpPr>
        <p:grpSpPr>
          <a:xfrm>
            <a:off x="2726400" y="2279650"/>
            <a:ext cx="674189" cy="1446825"/>
            <a:chOff x="2083600" y="3064569"/>
            <a:chExt cx="674189" cy="927631"/>
          </a:xfrm>
        </p:grpSpPr>
        <p:sp>
          <p:nvSpPr>
            <p:cNvPr id="404" name="Google Shape;404;p45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5" name="Google Shape;405;p45"/>
            <p:cNvSpPr txBox="1"/>
            <p:nvPr/>
          </p:nvSpPr>
          <p:spPr>
            <a:xfrm>
              <a:off x="2241489" y="3064569"/>
              <a:ext cx="516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06" name="Google Shape;406;p45"/>
          <p:cNvGrpSpPr/>
          <p:nvPr/>
        </p:nvGrpSpPr>
        <p:grpSpPr>
          <a:xfrm>
            <a:off x="4479000" y="2279650"/>
            <a:ext cx="674189" cy="1446825"/>
            <a:chOff x="2083600" y="3064569"/>
            <a:chExt cx="674189" cy="927631"/>
          </a:xfrm>
        </p:grpSpPr>
        <p:sp>
          <p:nvSpPr>
            <p:cNvPr id="407" name="Google Shape;407;p45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8" name="Google Shape;408;p45"/>
            <p:cNvSpPr txBox="1"/>
            <p:nvPr/>
          </p:nvSpPr>
          <p:spPr>
            <a:xfrm>
              <a:off x="2241489" y="3064569"/>
              <a:ext cx="516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-1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09" name="Google Shape;409;p45"/>
          <p:cNvSpPr txBox="1"/>
          <p:nvPr/>
        </p:nvSpPr>
        <p:spPr>
          <a:xfrm>
            <a:off x="4030775" y="2720750"/>
            <a:ext cx="4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Null Space</a:t>
            </a:r>
            <a:endParaRPr/>
          </a:p>
        </p:txBody>
      </p:sp>
      <p:cxnSp>
        <p:nvCxnSpPr>
          <p:cNvPr id="415" name="Google Shape;415;p4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46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the span of the null space a subspace?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17" name="Google Shape;417;p46"/>
          <p:cNvGrpSpPr/>
          <p:nvPr/>
        </p:nvGrpSpPr>
        <p:grpSpPr>
          <a:xfrm>
            <a:off x="4250400" y="2279650"/>
            <a:ext cx="674189" cy="1446825"/>
            <a:chOff x="2083600" y="3064569"/>
            <a:chExt cx="674189" cy="927631"/>
          </a:xfrm>
        </p:grpSpPr>
        <p:sp>
          <p:nvSpPr>
            <p:cNvPr id="418" name="Google Shape;418;p46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9" name="Google Shape;419;p46"/>
            <p:cNvSpPr txBox="1"/>
            <p:nvPr/>
          </p:nvSpPr>
          <p:spPr>
            <a:xfrm>
              <a:off x="2241489" y="3064569"/>
              <a:ext cx="516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-1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0" name="Google Shape;420;p46"/>
          <p:cNvSpPr txBox="1"/>
          <p:nvPr/>
        </p:nvSpPr>
        <p:spPr>
          <a:xfrm>
            <a:off x="3802175" y="2720750"/>
            <a:ext cx="4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1" name="Google Shape;421;p46"/>
          <p:cNvSpPr txBox="1"/>
          <p:nvPr/>
        </p:nvSpPr>
        <p:spPr>
          <a:xfrm>
            <a:off x="754175" y="4320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Yes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Null Space</a:t>
            </a:r>
            <a:endParaRPr/>
          </a:p>
        </p:txBody>
      </p:sp>
      <p:cxnSp>
        <p:nvCxnSpPr>
          <p:cNvPr id="427" name="Google Shape;427;p4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47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Null space of Independent matrices?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29" name="Google Shape;429;p47"/>
          <p:cNvGrpSpPr/>
          <p:nvPr/>
        </p:nvGrpSpPr>
        <p:grpSpPr>
          <a:xfrm>
            <a:off x="4250400" y="2279650"/>
            <a:ext cx="674189" cy="1446825"/>
            <a:chOff x="2083600" y="3064569"/>
            <a:chExt cx="674189" cy="927631"/>
          </a:xfrm>
        </p:grpSpPr>
        <p:sp>
          <p:nvSpPr>
            <p:cNvPr id="430" name="Google Shape;430;p47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31" name="Google Shape;431;p47"/>
            <p:cNvSpPr txBox="1"/>
            <p:nvPr/>
          </p:nvSpPr>
          <p:spPr>
            <a:xfrm>
              <a:off x="2241489" y="3064569"/>
              <a:ext cx="516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Quick Question</a:t>
            </a:r>
            <a:endParaRPr/>
          </a:p>
        </p:txBody>
      </p:sp>
      <p:cxnSp>
        <p:nvCxnSpPr>
          <p:cNvPr id="437" name="Google Shape;437;p4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48"/>
          <p:cNvSpPr txBox="1"/>
          <p:nvPr/>
        </p:nvSpPr>
        <p:spPr>
          <a:xfrm>
            <a:off x="754175" y="1272950"/>
            <a:ext cx="767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the solution a subspace?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39" name="Google Shape;439;p48"/>
          <p:cNvGrpSpPr/>
          <p:nvPr/>
        </p:nvGrpSpPr>
        <p:grpSpPr>
          <a:xfrm>
            <a:off x="2321300" y="2071850"/>
            <a:ext cx="1762200" cy="1862425"/>
            <a:chOff x="2007400" y="3064570"/>
            <a:chExt cx="1762200" cy="1862425"/>
          </a:xfrm>
        </p:grpSpPr>
        <p:sp>
          <p:nvSpPr>
            <p:cNvPr id="440" name="Google Shape;440;p48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41" name="Google Shape;441;p48"/>
            <p:cNvSpPr txBox="1"/>
            <p:nvPr/>
          </p:nvSpPr>
          <p:spPr>
            <a:xfrm>
              <a:off x="2232526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1     1     2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2     1     3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3     1     4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4     1     5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42" name="Google Shape;442;p48"/>
          <p:cNvGrpSpPr/>
          <p:nvPr/>
        </p:nvGrpSpPr>
        <p:grpSpPr>
          <a:xfrm>
            <a:off x="4326600" y="2279650"/>
            <a:ext cx="665100" cy="1446825"/>
            <a:chOff x="2083600" y="3064569"/>
            <a:chExt cx="665100" cy="927631"/>
          </a:xfrm>
        </p:grpSpPr>
        <p:sp>
          <p:nvSpPr>
            <p:cNvPr id="443" name="Google Shape;443;p48"/>
            <p:cNvSpPr/>
            <p:nvPr/>
          </p:nvSpPr>
          <p:spPr>
            <a:xfrm>
              <a:off x="2083600" y="3073300"/>
              <a:ext cx="665100" cy="9189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44" name="Google Shape;444;p48"/>
            <p:cNvSpPr txBox="1"/>
            <p:nvPr/>
          </p:nvSpPr>
          <p:spPr>
            <a:xfrm>
              <a:off x="2198907" y="3064569"/>
              <a:ext cx="5163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baseline="-25000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x</a:t>
              </a:r>
              <a:r>
                <a:rPr b="1" baseline="-25000" lang="es" sz="20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baseline="-25000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45" name="Google Shape;445;p48"/>
          <p:cNvGrpSpPr/>
          <p:nvPr/>
        </p:nvGrpSpPr>
        <p:grpSpPr>
          <a:xfrm>
            <a:off x="5597800" y="2071850"/>
            <a:ext cx="715827" cy="1862425"/>
            <a:chOff x="2007400" y="3064570"/>
            <a:chExt cx="1896733" cy="1862425"/>
          </a:xfrm>
        </p:grpSpPr>
        <p:sp>
          <p:nvSpPr>
            <p:cNvPr id="446" name="Google Shape;446;p48"/>
            <p:cNvSpPr/>
            <p:nvPr/>
          </p:nvSpPr>
          <p:spPr>
            <a:xfrm>
              <a:off x="2007400" y="3073295"/>
              <a:ext cx="1762200" cy="1853700"/>
            </a:xfrm>
            <a:prstGeom prst="bracketPair">
              <a:avLst/>
            </a:prstGeom>
            <a:noFill/>
            <a:ln cap="flat" cmpd="sng" w="28575">
              <a:solidFill>
                <a:srgbClr val="3F425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47" name="Google Shape;447;p48"/>
            <p:cNvSpPr txBox="1"/>
            <p:nvPr/>
          </p:nvSpPr>
          <p:spPr>
            <a:xfrm>
              <a:off x="2434433" y="3064570"/>
              <a:ext cx="1469700" cy="65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3F4252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endParaRPr b="1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48" name="Google Shape;448;p48"/>
          <p:cNvSpPr txBox="1"/>
          <p:nvPr/>
        </p:nvSpPr>
        <p:spPr>
          <a:xfrm>
            <a:off x="5131193" y="2720750"/>
            <a:ext cx="40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975" y="680200"/>
            <a:ext cx="4150675" cy="41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9"/>
          <p:cNvSpPr txBox="1"/>
          <p:nvPr/>
        </p:nvSpPr>
        <p:spPr>
          <a:xfrm>
            <a:off x="2723022" y="245400"/>
            <a:ext cx="3521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*while determining vector spaces*</a:t>
            </a:r>
            <a:endParaRPr b="1" sz="17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55" name="Google Shape;455;p49"/>
          <p:cNvSpPr txBox="1"/>
          <p:nvPr/>
        </p:nvSpPr>
        <p:spPr>
          <a:xfrm>
            <a:off x="4971500" y="2890550"/>
            <a:ext cx="1185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*the origin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/>
          <p:cNvSpPr txBox="1"/>
          <p:nvPr>
            <p:ph idx="8" type="title"/>
          </p:nvPr>
        </p:nvSpPr>
        <p:spPr>
          <a:xfrm>
            <a:off x="720000" y="3659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cxnSp>
        <p:nvCxnSpPr>
          <p:cNvPr id="461" name="Google Shape;461;p50"/>
          <p:cNvCxnSpPr/>
          <p:nvPr/>
        </p:nvCxnSpPr>
        <p:spPr>
          <a:xfrm>
            <a:off x="802850" y="10457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50"/>
          <p:cNvSpPr txBox="1"/>
          <p:nvPr/>
        </p:nvSpPr>
        <p:spPr>
          <a:xfrm>
            <a:off x="906575" y="1272950"/>
            <a:ext cx="6717000" cy="25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Gilbert Strang (L6)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1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468" name="Google Shape;4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