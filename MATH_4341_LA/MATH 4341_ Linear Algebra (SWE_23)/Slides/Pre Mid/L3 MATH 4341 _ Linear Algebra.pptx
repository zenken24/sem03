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3"/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Bebas Neue"/>
      <p:regular r:id="rId25"/>
    </p:embeddedFont>
    <p:embeddedFont>
      <p:font typeface="Questrial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Questrial-regular.fntdata"/><Relationship Id="rId25" Type="http://schemas.openxmlformats.org/officeDocument/2006/relationships/font" Target="fonts/Bebas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0ba8dc66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0ba8dc66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239697f0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0239697f0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0239697f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0239697f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0239697f0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0239697f0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239697f0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0239697f0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239697f0e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239697f0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0239697f0e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0239697f0e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239697f0e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0239697f0e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0239697f0e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0239697f0e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0239697f0e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0239697f0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00ba8dc66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00ba8dc66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0239697f0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0239697f0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8" name="Google Shape;138;p26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" name="Google Shape;139;p2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7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3" name="Google Shape;143;p27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8" name="Google Shape;148;p2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3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61" name="Google Shape;161;p3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64" name="Google Shape;164;p3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7" name="Google Shape;167;p33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3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4" name="Google Shape;174;p35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5" name="Google Shape;175;p3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9" name="Google Shape;179;p37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7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1" name="Google Shape;181;p37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3" name="Google Shape;183;p37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7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5" name="Google Shape;185;p37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7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1" name="Google Shape;191;p3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94" name="Google Shape;194;p38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5" name="Google Shape;195;p3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9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3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3" name="Google Shape;203;p4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1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8" name="Google Shape;208;p41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1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0" name="Google Shape;210;p4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" name="Google Shape;213;p42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2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5" name="Google Shape;215;p42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2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" name="Google Shape;217;p42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2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9" name="Google Shape;219;p4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2" name="Google Shape;222;p43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4" name="Google Shape;224;p43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6" name="Google Shape;226;p43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3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8" name="Google Shape;228;p43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0" name="Google Shape;230;p4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4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" name="Google Shape;233;p44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4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44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4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7" name="Google Shape;237;p44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4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44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4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44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4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44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4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8" name="Google Shape;248;p45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5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0" name="Google Shape;250;p45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6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5" name="Google Shape;255;p46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6" name="Google Shape;256;p46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6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youtu.be/QVKj3LADCnA?feature=share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 txBox="1"/>
          <p:nvPr>
            <p:ph type="ctrTitle"/>
          </p:nvPr>
        </p:nvSpPr>
        <p:spPr>
          <a:xfrm>
            <a:off x="758250" y="12989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Elimination with Matrices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49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267" name="Google Shape;267;p49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How do you solve a s</a:t>
            </a:r>
            <a:r>
              <a:rPr lang="es"/>
              <a:t>ystem of Linear Equations?</a:t>
            </a:r>
            <a:endParaRPr/>
          </a:p>
        </p:txBody>
      </p:sp>
      <p:cxnSp>
        <p:nvCxnSpPr>
          <p:cNvPr id="273" name="Google Shape;273;p50"/>
          <p:cNvCxnSpPr/>
          <p:nvPr/>
        </p:nvCxnSpPr>
        <p:spPr>
          <a:xfrm>
            <a:off x="802850" y="16553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50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5" name="Google Shape;275;p50"/>
          <p:cNvSpPr txBox="1"/>
          <p:nvPr/>
        </p:nvSpPr>
        <p:spPr>
          <a:xfrm>
            <a:off x="2466875" y="3475400"/>
            <a:ext cx="359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Cramer’s Rule ?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50"/>
          <p:cNvSpPr txBox="1"/>
          <p:nvPr/>
        </p:nvSpPr>
        <p:spPr>
          <a:xfrm>
            <a:off x="2466875" y="2408600"/>
            <a:ext cx="359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Determinants ??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/>
        </p:nvSpPr>
        <p:spPr>
          <a:xfrm>
            <a:off x="2466875" y="4389800"/>
            <a:ext cx="359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*We do……but later*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 rotWithShape="1">
          <a:blip r:embed="rId3">
            <a:alphaModFix/>
          </a:blip>
          <a:srcRect b="2425" l="2461" r="2878" t="29445"/>
          <a:stretch/>
        </p:blipFill>
        <p:spPr>
          <a:xfrm>
            <a:off x="1634626" y="286550"/>
            <a:ext cx="5578025" cy="41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How do you solve a system of Linear Equations?</a:t>
            </a:r>
            <a:endParaRPr/>
          </a:p>
        </p:txBody>
      </p:sp>
      <p:cxnSp>
        <p:nvCxnSpPr>
          <p:cNvPr id="288" name="Google Shape;288;p52"/>
          <p:cNvCxnSpPr/>
          <p:nvPr/>
        </p:nvCxnSpPr>
        <p:spPr>
          <a:xfrm>
            <a:off x="802850" y="16553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52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0" name="Google Shape;290;p52"/>
          <p:cNvSpPr txBox="1"/>
          <p:nvPr/>
        </p:nvSpPr>
        <p:spPr>
          <a:xfrm>
            <a:off x="2466875" y="2866600"/>
            <a:ext cx="359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Process of Elimination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296" name="Google Shape;296;p5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53"/>
          <p:cNvSpPr txBox="1"/>
          <p:nvPr/>
        </p:nvSpPr>
        <p:spPr>
          <a:xfrm>
            <a:off x="3533675" y="1646600"/>
            <a:ext cx="19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Success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53"/>
          <p:cNvSpPr txBox="1"/>
          <p:nvPr/>
        </p:nvSpPr>
        <p:spPr>
          <a:xfrm>
            <a:off x="866675" y="2637200"/>
            <a:ext cx="212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Elimination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9" name="Google Shape;299;p53"/>
          <p:cNvCxnSpPr>
            <a:stCxn id="298" idx="3"/>
          </p:cNvCxnSpPr>
          <p:nvPr/>
        </p:nvCxnSpPr>
        <p:spPr>
          <a:xfrm flipH="1" rot="10800000">
            <a:off x="2990975" y="1939850"/>
            <a:ext cx="828300" cy="9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53"/>
          <p:cNvCxnSpPr>
            <a:stCxn id="298" idx="3"/>
          </p:cNvCxnSpPr>
          <p:nvPr/>
        </p:nvCxnSpPr>
        <p:spPr>
          <a:xfrm>
            <a:off x="2990975" y="2923550"/>
            <a:ext cx="882600" cy="113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53"/>
          <p:cNvSpPr txBox="1"/>
          <p:nvPr/>
        </p:nvSpPr>
        <p:spPr>
          <a:xfrm>
            <a:off x="3533675" y="3780200"/>
            <a:ext cx="19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Failure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53"/>
          <p:cNvSpPr txBox="1"/>
          <p:nvPr/>
        </p:nvSpPr>
        <p:spPr>
          <a:xfrm>
            <a:off x="5362475" y="1646600"/>
            <a:ext cx="25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Good Matrix</a:t>
            </a:r>
            <a:endParaRPr b="1" sz="24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53"/>
          <p:cNvSpPr txBox="1"/>
          <p:nvPr/>
        </p:nvSpPr>
        <p:spPr>
          <a:xfrm>
            <a:off x="5438675" y="3780200"/>
            <a:ext cx="25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Bad</a:t>
            </a:r>
            <a:r>
              <a:rPr b="1" lang="es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 Matrix</a:t>
            </a:r>
            <a:endParaRPr b="1" sz="24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53"/>
          <p:cNvPicPr preferRelativeResize="0"/>
          <p:nvPr/>
        </p:nvPicPr>
        <p:blipFill rotWithShape="1">
          <a:blip r:embed="rId3">
            <a:alphaModFix/>
          </a:blip>
          <a:srcRect b="14545" l="7767" r="54180" t="14367"/>
          <a:stretch/>
        </p:blipFill>
        <p:spPr>
          <a:xfrm>
            <a:off x="7774594" y="1660738"/>
            <a:ext cx="538675" cy="544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3"/>
          <p:cNvPicPr preferRelativeResize="0"/>
          <p:nvPr/>
        </p:nvPicPr>
        <p:blipFill rotWithShape="1">
          <a:blip r:embed="rId3">
            <a:alphaModFix/>
          </a:blip>
          <a:srcRect b="15407" l="54104" r="6221" t="14017"/>
          <a:stretch/>
        </p:blipFill>
        <p:spPr>
          <a:xfrm>
            <a:off x="7774600" y="3780200"/>
            <a:ext cx="59509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311" name="Google Shape;311;p5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54"/>
          <p:cNvSpPr txBox="1"/>
          <p:nvPr/>
        </p:nvSpPr>
        <p:spPr>
          <a:xfrm>
            <a:off x="1019075" y="1679303"/>
            <a:ext cx="25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Good Matrix</a:t>
            </a:r>
            <a:endParaRPr b="1" sz="24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54"/>
          <p:cNvSpPr txBox="1"/>
          <p:nvPr/>
        </p:nvSpPr>
        <p:spPr>
          <a:xfrm>
            <a:off x="905800" y="3097659"/>
            <a:ext cx="25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Bad Matrix</a:t>
            </a:r>
            <a:endParaRPr b="1" sz="24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4" name="Google Shape;314;p54"/>
          <p:cNvPicPr preferRelativeResize="0"/>
          <p:nvPr/>
        </p:nvPicPr>
        <p:blipFill rotWithShape="1">
          <a:blip r:embed="rId3">
            <a:alphaModFix/>
          </a:blip>
          <a:srcRect b="14545" l="7767" r="54180" t="14367"/>
          <a:stretch/>
        </p:blipFill>
        <p:spPr>
          <a:xfrm>
            <a:off x="719998" y="1769497"/>
            <a:ext cx="394625" cy="3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4"/>
          <p:cNvPicPr preferRelativeResize="0"/>
          <p:nvPr/>
        </p:nvPicPr>
        <p:blipFill rotWithShape="1">
          <a:blip r:embed="rId3">
            <a:alphaModFix/>
          </a:blip>
          <a:srcRect b="15407" l="54104" r="6221" t="14017"/>
          <a:stretch/>
        </p:blipFill>
        <p:spPr>
          <a:xfrm>
            <a:off x="720000" y="3190849"/>
            <a:ext cx="414393" cy="39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4"/>
          <p:cNvSpPr txBox="1"/>
          <p:nvPr/>
        </p:nvSpPr>
        <p:spPr>
          <a:xfrm>
            <a:off x="3097821" y="1668429"/>
            <a:ext cx="369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Invertible Matrix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54"/>
          <p:cNvSpPr txBox="1"/>
          <p:nvPr/>
        </p:nvSpPr>
        <p:spPr>
          <a:xfrm>
            <a:off x="3097827" y="3116225"/>
            <a:ext cx="569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Non-</a:t>
            </a: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Invertible / Singular Matrix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323" name="Google Shape;323;p5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55"/>
          <p:cNvSpPr txBox="1"/>
          <p:nvPr/>
        </p:nvSpPr>
        <p:spPr>
          <a:xfrm>
            <a:off x="754175" y="14253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to do?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55"/>
          <p:cNvSpPr txBox="1"/>
          <p:nvPr/>
        </p:nvSpPr>
        <p:spPr>
          <a:xfrm>
            <a:off x="754175" y="18063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Convert A to U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55"/>
          <p:cNvSpPr txBox="1"/>
          <p:nvPr/>
        </p:nvSpPr>
        <p:spPr>
          <a:xfrm>
            <a:off x="754175" y="2415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 to solve?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55"/>
          <p:cNvSpPr txBox="1"/>
          <p:nvPr/>
        </p:nvSpPr>
        <p:spPr>
          <a:xfrm>
            <a:off x="754175" y="2796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Backward substitution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333" name="Google Shape;333;p5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56"/>
          <p:cNvSpPr txBox="1"/>
          <p:nvPr/>
        </p:nvSpPr>
        <p:spPr>
          <a:xfrm>
            <a:off x="754175" y="14253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is a pivot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56"/>
          <p:cNvSpPr txBox="1"/>
          <p:nvPr/>
        </p:nvSpPr>
        <p:spPr>
          <a:xfrm>
            <a:off x="754175" y="1806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non-zero element in a matrix that is used during the process of Gaussian elimination (or row reduction) to eliminate other elements in its column.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341" name="Google Shape;341;p5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57"/>
          <p:cNvSpPr txBox="1"/>
          <p:nvPr/>
        </p:nvSpPr>
        <p:spPr>
          <a:xfrm>
            <a:off x="754175" y="14253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Types of Failure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57"/>
          <p:cNvSpPr txBox="1"/>
          <p:nvPr/>
        </p:nvSpPr>
        <p:spPr>
          <a:xfrm>
            <a:off x="754175" y="2111150"/>
            <a:ext cx="42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the first pivot position is zero.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57"/>
          <p:cNvSpPr txBox="1"/>
          <p:nvPr/>
        </p:nvSpPr>
        <p:spPr>
          <a:xfrm>
            <a:off x="754175" y="3177950"/>
            <a:ext cx="42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the last pivot position is zero.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57"/>
          <p:cNvSpPr txBox="1"/>
          <p:nvPr/>
        </p:nvSpPr>
        <p:spPr>
          <a:xfrm>
            <a:off x="5352275" y="2111150"/>
            <a:ext cx="259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Temporary Failure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57"/>
          <p:cNvSpPr txBox="1"/>
          <p:nvPr/>
        </p:nvSpPr>
        <p:spPr>
          <a:xfrm>
            <a:off x="5352275" y="3177950"/>
            <a:ext cx="259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Permanent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Failure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Process of Elimination</a:t>
            </a:r>
            <a:endParaRPr/>
          </a:p>
        </p:txBody>
      </p:sp>
      <p:cxnSp>
        <p:nvCxnSpPr>
          <p:cNvPr id="352" name="Google Shape;352;p5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58"/>
          <p:cNvSpPr txBox="1"/>
          <p:nvPr/>
        </p:nvSpPr>
        <p:spPr>
          <a:xfrm>
            <a:off x="754175" y="14253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 to deal with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Failures?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58"/>
          <p:cNvSpPr txBox="1"/>
          <p:nvPr/>
        </p:nvSpPr>
        <p:spPr>
          <a:xfrm>
            <a:off x="3802175" y="2339750"/>
            <a:ext cx="42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Exchange Rows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58"/>
          <p:cNvSpPr txBox="1"/>
          <p:nvPr/>
        </p:nvSpPr>
        <p:spPr>
          <a:xfrm>
            <a:off x="780275" y="2339750"/>
            <a:ext cx="259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Temporary Failure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58"/>
          <p:cNvSpPr txBox="1"/>
          <p:nvPr/>
        </p:nvSpPr>
        <p:spPr>
          <a:xfrm>
            <a:off x="780275" y="3177950"/>
            <a:ext cx="259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Permanent Failure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425" y="427438"/>
            <a:ext cx="7313152" cy="428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Summary of Today’s Class</a:t>
            </a:r>
            <a:endParaRPr/>
          </a:p>
        </p:txBody>
      </p:sp>
      <p:cxnSp>
        <p:nvCxnSpPr>
          <p:cNvPr id="367" name="Google Shape;367;p60"/>
          <p:cNvCxnSpPr/>
          <p:nvPr/>
        </p:nvCxnSpPr>
        <p:spPr>
          <a:xfrm>
            <a:off x="802850" y="1045726"/>
            <a:ext cx="562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8" name="Google Shape;3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849" y="1152825"/>
            <a:ext cx="3625300" cy="36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—</a:t>
            </a:r>
            <a:r>
              <a:rPr b="1" lang="es"/>
              <a:t>Gilbert Strang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61"/>
          <p:cNvSpPr txBox="1"/>
          <p:nvPr>
            <p:ph idx="1" type="subTitle"/>
          </p:nvPr>
        </p:nvSpPr>
        <p:spPr>
          <a:xfrm>
            <a:off x="1047500" y="1184750"/>
            <a:ext cx="7346100" cy="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“</a:t>
            </a:r>
            <a:r>
              <a:rPr i="1" lang="es" sz="2100"/>
              <a:t>In fact the idea of </a:t>
            </a:r>
            <a:r>
              <a:rPr b="1" i="1" lang="es" sz="2100"/>
              <a:t>Elimination </a:t>
            </a:r>
            <a:r>
              <a:rPr i="1" lang="es" sz="2100"/>
              <a:t>is ……. you would have thought of it, right?</a:t>
            </a:r>
            <a:endParaRPr sz="2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cxnSp>
        <p:nvCxnSpPr>
          <p:cNvPr id="375" name="Google Shape;375;p61"/>
          <p:cNvCxnSpPr/>
          <p:nvPr/>
        </p:nvCxnSpPr>
        <p:spPr>
          <a:xfrm>
            <a:off x="4729925" y="3629506"/>
            <a:ext cx="303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61"/>
          <p:cNvSpPr txBox="1"/>
          <p:nvPr>
            <p:ph idx="1" type="subTitle"/>
          </p:nvPr>
        </p:nvSpPr>
        <p:spPr>
          <a:xfrm>
            <a:off x="1199900" y="1495297"/>
            <a:ext cx="73461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100"/>
              <a:t>I mean Gauss thought of it before we did</a:t>
            </a:r>
            <a:endParaRPr i="1" sz="2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77" name="Google Shape;377;p61"/>
          <p:cNvSpPr txBox="1"/>
          <p:nvPr>
            <p:ph idx="1" type="subTitle"/>
          </p:nvPr>
        </p:nvSpPr>
        <p:spPr>
          <a:xfrm>
            <a:off x="1047500" y="1837847"/>
            <a:ext cx="7346100" cy="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100"/>
              <a:t>only because he was born earlier.”</a:t>
            </a:r>
            <a:endParaRPr i="1" sz="2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/>
          </a:p>
        </p:txBody>
      </p:sp>
      <p:sp>
        <p:nvSpPr>
          <p:cNvPr id="378" name="Google Shape;378;p61"/>
          <p:cNvSpPr txBox="1"/>
          <p:nvPr>
            <p:ph idx="1" type="subTitle"/>
          </p:nvPr>
        </p:nvSpPr>
        <p:spPr>
          <a:xfrm>
            <a:off x="1047500" y="2447447"/>
            <a:ext cx="7346100" cy="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100"/>
              <a:t>“”……And died earlier too</a:t>
            </a:r>
            <a:r>
              <a:rPr i="1" lang="es" sz="2100"/>
              <a:t>”</a:t>
            </a:r>
            <a:endParaRPr i="1" sz="2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/>
          <p:nvPr>
            <p:ph idx="8" type="title"/>
          </p:nvPr>
        </p:nvSpPr>
        <p:spPr>
          <a:xfrm>
            <a:off x="720000" y="365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384" name="Google Shape;384;p62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62"/>
          <p:cNvSpPr txBox="1"/>
          <p:nvPr/>
        </p:nvSpPr>
        <p:spPr>
          <a:xfrm>
            <a:off x="906575" y="1272950"/>
            <a:ext cx="6717000" cy="25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(L2)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391" name="Google Shape;39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