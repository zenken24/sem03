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Bebas Neue"/>
      <p:regular r:id="rId28"/>
    </p:embeddedFont>
    <p:embeddedFont>
      <p:font typeface="Questrial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Nuni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BebasNeue-regular.fntdata"/><Relationship Id="rId27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Questrial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0ba8dc66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0ba8dc66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0ba8dc66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0ba8dc66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0ba8dc66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00ba8dc66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0ba8dc668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00ba8dc668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0cee93b6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0cee93b6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00cee93b6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00cee93b6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0cee93b6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0cee93b6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0cee93b6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00cee93b6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00cee93b6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00cee93b6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0cee93b6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00cee93b6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0cee93b6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00cee93b6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0cee93b6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00cee93b6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892d6136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892d6136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00cee93b6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00cee93b6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0cee93b6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0cee93b6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ff5d749a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ff5d749a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0ba8dc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0ba8dc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ZK3O402wf1c&amp;list=PL49CF3715CB9EF31D&amp;ab_channel=MITOpenCourseWar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758250" y="1298900"/>
            <a:ext cx="7627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/>
              <a:t>Geometry of Linear Algebra </a:t>
            </a: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System of Linear Equations</a:t>
            </a:r>
            <a:endParaRPr/>
          </a:p>
        </p:txBody>
      </p:sp>
      <p:cxnSp>
        <p:nvCxnSpPr>
          <p:cNvPr id="145" name="Google Shape;145;p26"/>
          <p:cNvCxnSpPr/>
          <p:nvPr/>
        </p:nvCxnSpPr>
        <p:spPr>
          <a:xfrm>
            <a:off x="802850" y="1045726"/>
            <a:ext cx="56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6"/>
          <p:cNvSpPr txBox="1"/>
          <p:nvPr/>
        </p:nvSpPr>
        <p:spPr>
          <a:xfrm>
            <a:off x="906575" y="1272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754175" y="1272950"/>
            <a:ext cx="67170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 variables, n equations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2434325" y="2224625"/>
            <a:ext cx="35964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2x – y = 0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–x + 2y = 3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System of Linear Equations</a:t>
            </a:r>
            <a:endParaRPr/>
          </a:p>
        </p:txBody>
      </p:sp>
      <p:cxnSp>
        <p:nvCxnSpPr>
          <p:cNvPr id="154" name="Google Shape;154;p27"/>
          <p:cNvCxnSpPr/>
          <p:nvPr/>
        </p:nvCxnSpPr>
        <p:spPr>
          <a:xfrm>
            <a:off x="802850" y="1045726"/>
            <a:ext cx="562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7"/>
          <p:cNvSpPr/>
          <p:nvPr/>
        </p:nvSpPr>
        <p:spPr>
          <a:xfrm>
            <a:off x="2432900" y="1549289"/>
            <a:ext cx="12027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2537333" y="1540575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 -1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-1     2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4369600" y="15493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4518526" y="15405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y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5969800" y="15493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6118726" y="15405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3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5307001" y="16650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62" name="Google Shape;162;p27"/>
          <p:cNvGrpSpPr/>
          <p:nvPr/>
        </p:nvGrpSpPr>
        <p:grpSpPr>
          <a:xfrm>
            <a:off x="2021613" y="2744663"/>
            <a:ext cx="2076925" cy="321900"/>
            <a:chOff x="1908200" y="2576563"/>
            <a:chExt cx="2076925" cy="321900"/>
          </a:xfrm>
        </p:grpSpPr>
        <p:sp>
          <p:nvSpPr>
            <p:cNvPr id="163" name="Google Shape;163;p27"/>
            <p:cNvSpPr txBox="1"/>
            <p:nvPr/>
          </p:nvSpPr>
          <p:spPr>
            <a:xfrm>
              <a:off x="1908200" y="2576563"/>
              <a:ext cx="1099500" cy="3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Coefficient</a:t>
              </a:r>
              <a:r>
                <a:rPr b="1" lang="es" sz="12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of x</a:t>
              </a:r>
              <a:endParaRPr b="1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64" name="Google Shape;164;p27"/>
            <p:cNvSpPr txBox="1"/>
            <p:nvPr/>
          </p:nvSpPr>
          <p:spPr>
            <a:xfrm>
              <a:off x="2885625" y="2576563"/>
              <a:ext cx="1099500" cy="3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Coefficient of y</a:t>
              </a:r>
              <a:endParaRPr b="1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65" name="Google Shape;165;p27"/>
          <p:cNvSpPr txBox="1"/>
          <p:nvPr/>
        </p:nvSpPr>
        <p:spPr>
          <a:xfrm>
            <a:off x="2118675" y="3551450"/>
            <a:ext cx="18828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Coefficient Matrix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4212250" y="2707675"/>
            <a:ext cx="92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Variable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5764500" y="2743200"/>
            <a:ext cx="104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Solution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Set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68" name="Google Shape;168;p27"/>
          <p:cNvCxnSpPr>
            <a:endCxn id="163" idx="0"/>
          </p:cNvCxnSpPr>
          <p:nvPr/>
        </p:nvCxnSpPr>
        <p:spPr>
          <a:xfrm flipH="1">
            <a:off x="2571363" y="2453363"/>
            <a:ext cx="243900" cy="29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7"/>
          <p:cNvCxnSpPr>
            <a:endCxn id="164" idx="0"/>
          </p:cNvCxnSpPr>
          <p:nvPr/>
        </p:nvCxnSpPr>
        <p:spPr>
          <a:xfrm>
            <a:off x="3349288" y="2461163"/>
            <a:ext cx="199500" cy="28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7"/>
          <p:cNvSpPr/>
          <p:nvPr/>
        </p:nvSpPr>
        <p:spPr>
          <a:xfrm rot="-5400000">
            <a:off x="2950850" y="2904900"/>
            <a:ext cx="199500" cy="1075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Matrix Form</a:t>
            </a:r>
            <a:endParaRPr/>
          </a:p>
        </p:txBody>
      </p:sp>
      <p:cxnSp>
        <p:nvCxnSpPr>
          <p:cNvPr id="176" name="Google Shape;176;p28"/>
          <p:cNvCxnSpPr/>
          <p:nvPr/>
        </p:nvCxnSpPr>
        <p:spPr>
          <a:xfrm>
            <a:off x="802850" y="1045726"/>
            <a:ext cx="414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8"/>
          <p:cNvSpPr txBox="1"/>
          <p:nvPr/>
        </p:nvSpPr>
        <p:spPr>
          <a:xfrm>
            <a:off x="906575" y="1272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2583300" y="2400350"/>
            <a:ext cx="3596400" cy="9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Ax = b</a:t>
            </a:r>
            <a:endParaRPr b="1" sz="2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533475" y="2225275"/>
            <a:ext cx="1696200" cy="9894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/>
        </p:nvSpPr>
        <p:spPr>
          <a:xfrm>
            <a:off x="1135175" y="2227525"/>
            <a:ext cx="17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2x – y = 0</a:t>
            </a:r>
            <a:endParaRPr b="1" sz="20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29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Row Picture</a:t>
            </a:r>
            <a:endParaRPr/>
          </a:p>
        </p:txBody>
      </p:sp>
      <p:cxnSp>
        <p:nvCxnSpPr>
          <p:cNvPr id="186" name="Google Shape;186;p29"/>
          <p:cNvCxnSpPr/>
          <p:nvPr/>
        </p:nvCxnSpPr>
        <p:spPr>
          <a:xfrm>
            <a:off x="802850" y="1045726"/>
            <a:ext cx="414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9"/>
          <p:cNvSpPr txBox="1"/>
          <p:nvPr/>
        </p:nvSpPr>
        <p:spPr>
          <a:xfrm>
            <a:off x="906575" y="1272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One equation at a time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88" name="Google Shape;188;p29"/>
          <p:cNvCxnSpPr/>
          <p:nvPr/>
        </p:nvCxnSpPr>
        <p:spPr>
          <a:xfrm>
            <a:off x="3856525" y="2018125"/>
            <a:ext cx="0" cy="267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9" name="Google Shape;189;p29"/>
          <p:cNvPicPr preferRelativeResize="0"/>
          <p:nvPr/>
        </p:nvPicPr>
        <p:blipFill rotWithShape="1">
          <a:blip r:embed="rId3">
            <a:alphaModFix/>
          </a:blip>
          <a:srcRect b="5859" l="5321" r="5097" t="6560"/>
          <a:stretch/>
        </p:blipFill>
        <p:spPr>
          <a:xfrm>
            <a:off x="5112075" y="1643725"/>
            <a:ext cx="3148950" cy="307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/>
        </p:nvSpPr>
        <p:spPr>
          <a:xfrm>
            <a:off x="533400" y="27432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–x + 2y = 3</a:t>
            </a:r>
            <a:endParaRPr>
              <a:solidFill>
                <a:srgbClr val="FF00FF"/>
              </a:solidFill>
            </a:endParaRPr>
          </a:p>
        </p:txBody>
      </p:sp>
      <p:cxnSp>
        <p:nvCxnSpPr>
          <p:cNvPr id="191" name="Google Shape;191;p29"/>
          <p:cNvCxnSpPr/>
          <p:nvPr/>
        </p:nvCxnSpPr>
        <p:spPr>
          <a:xfrm flipH="1" rot="10800000">
            <a:off x="5991600" y="1790550"/>
            <a:ext cx="1413600" cy="2795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9"/>
          <p:cNvCxnSpPr/>
          <p:nvPr/>
        </p:nvCxnSpPr>
        <p:spPr>
          <a:xfrm flipH="1">
            <a:off x="5426350" y="2332250"/>
            <a:ext cx="2528400" cy="127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9"/>
          <p:cNvSpPr txBox="1"/>
          <p:nvPr/>
        </p:nvSpPr>
        <p:spPr>
          <a:xfrm>
            <a:off x="533400" y="34290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Point of Intersection = (1,2)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378200" y="4114800"/>
            <a:ext cx="330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Solution of the two equations !!!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6799579" y="2864354"/>
            <a:ext cx="84900" cy="84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4826900" y="4087525"/>
            <a:ext cx="17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2x – y = 0</a:t>
            </a:r>
            <a:endParaRPr b="1" sz="10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6477000" y="19812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2x – y = 0</a:t>
            </a:r>
            <a:endParaRPr b="1" sz="10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6984675" y="2820150"/>
            <a:ext cx="51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(1,2)</a:t>
            </a:r>
            <a:endParaRPr b="1"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Row Picture</a:t>
            </a:r>
            <a:endParaRPr/>
          </a:p>
        </p:txBody>
      </p:sp>
      <p:cxnSp>
        <p:nvCxnSpPr>
          <p:cNvPr id="204" name="Google Shape;204;p30"/>
          <p:cNvCxnSpPr/>
          <p:nvPr/>
        </p:nvCxnSpPr>
        <p:spPr>
          <a:xfrm>
            <a:off x="802850" y="1045726"/>
            <a:ext cx="414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0"/>
          <p:cNvSpPr/>
          <p:nvPr/>
        </p:nvSpPr>
        <p:spPr>
          <a:xfrm>
            <a:off x="2585300" y="1854089"/>
            <a:ext cx="12027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2689733" y="1845375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 -1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-1     2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3912400" y="18541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4061326" y="18453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       y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5207800" y="18541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5356726" y="18453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0       3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4697401" y="19698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12" name="Google Shape;212;p30"/>
          <p:cNvCxnSpPr/>
          <p:nvPr/>
        </p:nvCxnSpPr>
        <p:spPr>
          <a:xfrm>
            <a:off x="2256226" y="2087325"/>
            <a:ext cx="4070100" cy="0"/>
          </a:xfrm>
          <a:prstGeom prst="straightConnector1">
            <a:avLst/>
          </a:prstGeom>
          <a:noFill/>
          <a:ln cap="flat" cmpd="sng" w="38100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0"/>
          <p:cNvCxnSpPr/>
          <p:nvPr/>
        </p:nvCxnSpPr>
        <p:spPr>
          <a:xfrm>
            <a:off x="2256226" y="2544525"/>
            <a:ext cx="4070100" cy="0"/>
          </a:xfrm>
          <a:prstGeom prst="straightConnector1">
            <a:avLst/>
          </a:prstGeom>
          <a:noFill/>
          <a:ln cap="flat" cmpd="sng" w="38100">
            <a:solidFill>
              <a:srgbClr val="EA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Column Picture</a:t>
            </a:r>
            <a:endParaRPr/>
          </a:p>
        </p:txBody>
      </p:sp>
      <p:cxnSp>
        <p:nvCxnSpPr>
          <p:cNvPr id="219" name="Google Shape;219;p31"/>
          <p:cNvCxnSpPr/>
          <p:nvPr/>
        </p:nvCxnSpPr>
        <p:spPr>
          <a:xfrm>
            <a:off x="802850" y="1045726"/>
            <a:ext cx="414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1"/>
          <p:cNvSpPr/>
          <p:nvPr/>
        </p:nvSpPr>
        <p:spPr>
          <a:xfrm>
            <a:off x="1616925" y="2235100"/>
            <a:ext cx="16377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1927733" y="2226375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 -1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-1      2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2" name="Google Shape;222;p31"/>
          <p:cNvSpPr/>
          <p:nvPr/>
        </p:nvSpPr>
        <p:spPr>
          <a:xfrm>
            <a:off x="3912400" y="22351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4061326" y="22263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       y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5588800" y="22351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5737726" y="22263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0       3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4926001" y="23508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4044634" y="2785009"/>
            <a:ext cx="366900" cy="348600"/>
          </a:xfrm>
          <a:prstGeom prst="ellipse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4044634" y="2316193"/>
            <a:ext cx="366900" cy="348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1895700" y="2246513"/>
            <a:ext cx="476400" cy="91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2493684" y="2253018"/>
            <a:ext cx="476400" cy="9189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31" name="Google Shape;231;p31"/>
          <p:cNvCxnSpPr>
            <a:stCxn id="228" idx="0"/>
            <a:endCxn id="229" idx="0"/>
          </p:cNvCxnSpPr>
          <p:nvPr/>
        </p:nvCxnSpPr>
        <p:spPr>
          <a:xfrm flipH="1" rot="5400000">
            <a:off x="3146134" y="1234243"/>
            <a:ext cx="69600" cy="2094300"/>
          </a:xfrm>
          <a:prstGeom prst="curvedConnector3">
            <a:avLst>
              <a:gd fmla="val 1051427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1"/>
          <p:cNvCxnSpPr>
            <a:stCxn id="230" idx="2"/>
            <a:endCxn id="227" idx="4"/>
          </p:cNvCxnSpPr>
          <p:nvPr/>
        </p:nvCxnSpPr>
        <p:spPr>
          <a:xfrm rot="-5400000">
            <a:off x="3460734" y="2404668"/>
            <a:ext cx="38400" cy="1496100"/>
          </a:xfrm>
          <a:prstGeom prst="curvedConnector3">
            <a:avLst>
              <a:gd fmla="val -1915773" name="adj1"/>
            </a:avLst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1"/>
          <p:cNvSpPr txBox="1"/>
          <p:nvPr/>
        </p:nvSpPr>
        <p:spPr>
          <a:xfrm>
            <a:off x="3045200" y="4191000"/>
            <a:ext cx="33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(Vector Multiplication)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Column Picture</a:t>
            </a:r>
            <a:endParaRPr/>
          </a:p>
        </p:txBody>
      </p:sp>
      <p:cxnSp>
        <p:nvCxnSpPr>
          <p:cNvPr id="239" name="Google Shape;239;p32"/>
          <p:cNvCxnSpPr/>
          <p:nvPr/>
        </p:nvCxnSpPr>
        <p:spPr>
          <a:xfrm>
            <a:off x="802850" y="1045726"/>
            <a:ext cx="414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2"/>
          <p:cNvSpPr txBox="1"/>
          <p:nvPr/>
        </p:nvSpPr>
        <p:spPr>
          <a:xfrm>
            <a:off x="906575" y="1272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754175" y="1272950"/>
            <a:ext cx="67170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Find a combination that satisfies the solution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3988600" y="22351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5588800" y="22351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5737726" y="22263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0       3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4926001" y="23508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2388400" y="22351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2461125" y="2232880"/>
            <a:ext cx="47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-1  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1981200" y="2438400"/>
            <a:ext cx="4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endParaRPr/>
          </a:p>
        </p:txBody>
      </p:sp>
      <p:sp>
        <p:nvSpPr>
          <p:cNvPr id="249" name="Google Shape;249;p32"/>
          <p:cNvSpPr txBox="1"/>
          <p:nvPr/>
        </p:nvSpPr>
        <p:spPr>
          <a:xfrm>
            <a:off x="4084557" y="2232880"/>
            <a:ext cx="4773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-1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2  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3182279" y="2438400"/>
            <a:ext cx="47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+"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/>
        </p:nvSpPr>
        <p:spPr>
          <a:xfrm>
            <a:off x="906575" y="12729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754175" y="815750"/>
            <a:ext cx="67170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Now try this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2765075" y="188885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2x – y = 0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–x + 2y -z = -1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-3y + 4z =4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/>
          <p:nvPr/>
        </p:nvSpPr>
        <p:spPr>
          <a:xfrm>
            <a:off x="2068775" y="1396908"/>
            <a:ext cx="2100300" cy="16047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2343569" y="1552191"/>
            <a:ext cx="15585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 -1	   0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-1     2     -1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  -3      4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4903000" y="1403268"/>
            <a:ext cx="665100" cy="15897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5051926" y="1585191"/>
            <a:ext cx="3669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       y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z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6503200" y="1403127"/>
            <a:ext cx="665100" cy="15747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6575925" y="1590441"/>
            <a:ext cx="5163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    -1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4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5840401" y="18174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2118675" y="3434363"/>
            <a:ext cx="18828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Coefficient Matrix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4669450" y="3255863"/>
            <a:ext cx="92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Variable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6221700" y="3255863"/>
            <a:ext cx="104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Solution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Set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Quick Questions</a:t>
            </a:r>
            <a:endParaRPr/>
          </a:p>
        </p:txBody>
      </p:sp>
      <p:cxnSp>
        <p:nvCxnSpPr>
          <p:cNvPr id="277" name="Google Shape;277;p35"/>
          <p:cNvCxnSpPr/>
          <p:nvPr/>
        </p:nvCxnSpPr>
        <p:spPr>
          <a:xfrm>
            <a:off x="802850" y="1045726"/>
            <a:ext cx="414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5"/>
          <p:cNvSpPr txBox="1"/>
          <p:nvPr/>
        </p:nvSpPr>
        <p:spPr>
          <a:xfrm>
            <a:off x="906575" y="11967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754175" y="1196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 : Intersection of two planes?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754175" y="1577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Ans : A straight line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906575" y="23397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754175" y="2339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 : Intersection of 3 planes?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754175" y="2720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Ans : A point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Can you solve every b for Ax = b?</a:t>
            </a:r>
            <a:endParaRPr/>
          </a:p>
        </p:txBody>
      </p:sp>
      <p:cxnSp>
        <p:nvCxnSpPr>
          <p:cNvPr id="289" name="Google Shape;289;p36"/>
          <p:cNvCxnSpPr/>
          <p:nvPr/>
        </p:nvCxnSpPr>
        <p:spPr>
          <a:xfrm>
            <a:off x="802850" y="1045726"/>
            <a:ext cx="683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6"/>
          <p:cNvSpPr txBox="1"/>
          <p:nvPr/>
        </p:nvSpPr>
        <p:spPr>
          <a:xfrm>
            <a:off x="906575" y="11967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754175" y="1196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Yes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2" name="Google Shape;292;p36"/>
          <p:cNvSpPr txBox="1"/>
          <p:nvPr/>
        </p:nvSpPr>
        <p:spPr>
          <a:xfrm>
            <a:off x="754175" y="17301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36"/>
          <p:cNvSpPr txBox="1"/>
          <p:nvPr/>
        </p:nvSpPr>
        <p:spPr>
          <a:xfrm>
            <a:off x="754175" y="21873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coefficient matrix is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Invertible</a:t>
            </a: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(Not Singular)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754175" y="2720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    All the vectors lie on the same plane.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Can you solve every b for Ax = b?</a:t>
            </a:r>
            <a:endParaRPr/>
          </a:p>
        </p:txBody>
      </p:sp>
      <p:cxnSp>
        <p:nvCxnSpPr>
          <p:cNvPr id="300" name="Google Shape;300;p37"/>
          <p:cNvCxnSpPr/>
          <p:nvPr/>
        </p:nvCxnSpPr>
        <p:spPr>
          <a:xfrm>
            <a:off x="802850" y="1045726"/>
            <a:ext cx="683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37"/>
          <p:cNvSpPr txBox="1"/>
          <p:nvPr/>
        </p:nvSpPr>
        <p:spPr>
          <a:xfrm>
            <a:off x="906575" y="1196750"/>
            <a:ext cx="67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754175" y="1196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Yes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754175" y="17301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When the matrix is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4" name="Google Shape;304;p37"/>
          <p:cNvSpPr txBox="1"/>
          <p:nvPr/>
        </p:nvSpPr>
        <p:spPr>
          <a:xfrm>
            <a:off x="754175" y="23397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Independent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Non-Singular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Invertible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idx="8" type="title"/>
          </p:nvPr>
        </p:nvSpPr>
        <p:spPr>
          <a:xfrm>
            <a:off x="3014425" y="1685400"/>
            <a:ext cx="339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0"/>
              <a:t>Recap</a:t>
            </a:r>
            <a:endParaRPr sz="7000"/>
          </a:p>
        </p:txBody>
      </p:sp>
      <p:cxnSp>
        <p:nvCxnSpPr>
          <p:cNvPr id="310" name="Google Shape;310;p38"/>
          <p:cNvCxnSpPr/>
          <p:nvPr/>
        </p:nvCxnSpPr>
        <p:spPr>
          <a:xfrm>
            <a:off x="762025" y="3275676"/>
            <a:ext cx="79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8"/>
          <p:cNvSpPr txBox="1"/>
          <p:nvPr/>
        </p:nvSpPr>
        <p:spPr>
          <a:xfrm>
            <a:off x="1592375" y="3406550"/>
            <a:ext cx="67170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Matrix multiplication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Matrix Multiplication (1)</a:t>
            </a:r>
            <a:endParaRPr/>
          </a:p>
        </p:txBody>
      </p:sp>
      <p:cxnSp>
        <p:nvCxnSpPr>
          <p:cNvPr id="317" name="Google Shape;317;p39"/>
          <p:cNvCxnSpPr/>
          <p:nvPr/>
        </p:nvCxnSpPr>
        <p:spPr>
          <a:xfrm>
            <a:off x="802850" y="1045726"/>
            <a:ext cx="683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39"/>
          <p:cNvSpPr/>
          <p:nvPr/>
        </p:nvSpPr>
        <p:spPr>
          <a:xfrm>
            <a:off x="2051900" y="2311289"/>
            <a:ext cx="12027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39"/>
          <p:cNvSpPr txBox="1"/>
          <p:nvPr/>
        </p:nvSpPr>
        <p:spPr>
          <a:xfrm>
            <a:off x="2156333" y="2302575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7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0      9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3988600" y="23113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4137526" y="23025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5588800" y="2311300"/>
            <a:ext cx="168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737725" y="2302575"/>
            <a:ext cx="1454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2x1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+ 7x2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4926001" y="24270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2151250" y="2386350"/>
            <a:ext cx="952500" cy="33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p39"/>
          <p:cNvSpPr/>
          <p:nvPr/>
        </p:nvSpPr>
        <p:spPr>
          <a:xfrm rot="5400000">
            <a:off x="3836475" y="2602300"/>
            <a:ext cx="952500" cy="33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27" name="Google Shape;327;p39"/>
          <p:cNvCxnSpPr>
            <a:stCxn id="325" idx="0"/>
            <a:endCxn id="326" idx="1"/>
          </p:cNvCxnSpPr>
          <p:nvPr/>
        </p:nvCxnSpPr>
        <p:spPr>
          <a:xfrm rot="-5400000">
            <a:off x="3424150" y="1497900"/>
            <a:ext cx="91800" cy="1685100"/>
          </a:xfrm>
          <a:prstGeom prst="curvedConnector3">
            <a:avLst>
              <a:gd fmla="val 50612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9"/>
          <p:cNvSpPr/>
          <p:nvPr/>
        </p:nvSpPr>
        <p:spPr>
          <a:xfrm>
            <a:off x="2151250" y="2843775"/>
            <a:ext cx="952500" cy="3369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39"/>
          <p:cNvSpPr/>
          <p:nvPr/>
        </p:nvSpPr>
        <p:spPr>
          <a:xfrm rot="5400000">
            <a:off x="3836475" y="2602300"/>
            <a:ext cx="952500" cy="3369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5737725" y="2759775"/>
            <a:ext cx="1454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x1 + 9x2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31" name="Google Shape;331;p39"/>
          <p:cNvCxnSpPr>
            <a:stCxn id="328" idx="2"/>
            <a:endCxn id="329" idx="3"/>
          </p:cNvCxnSpPr>
          <p:nvPr/>
        </p:nvCxnSpPr>
        <p:spPr>
          <a:xfrm flipH="1" rot="-5400000">
            <a:off x="3436900" y="2371275"/>
            <a:ext cx="66300" cy="1685100"/>
          </a:xfrm>
          <a:prstGeom prst="curvedConnector3">
            <a:avLst>
              <a:gd fmla="val 459201" name="adj1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39"/>
          <p:cNvSpPr txBox="1"/>
          <p:nvPr/>
        </p:nvSpPr>
        <p:spPr>
          <a:xfrm>
            <a:off x="5737725" y="2302575"/>
            <a:ext cx="1454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16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5737725" y="2759775"/>
            <a:ext cx="1454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18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"/>
          <p:cNvSpPr txBox="1"/>
          <p:nvPr>
            <p:ph idx="8" type="title"/>
          </p:nvPr>
        </p:nvSpPr>
        <p:spPr>
          <a:xfrm>
            <a:off x="720000" y="365925"/>
            <a:ext cx="73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Matrix Multiplication (2)</a:t>
            </a:r>
            <a:endParaRPr/>
          </a:p>
        </p:txBody>
      </p:sp>
      <p:cxnSp>
        <p:nvCxnSpPr>
          <p:cNvPr id="339" name="Google Shape;339;p40"/>
          <p:cNvCxnSpPr/>
          <p:nvPr/>
        </p:nvCxnSpPr>
        <p:spPr>
          <a:xfrm>
            <a:off x="802850" y="1045726"/>
            <a:ext cx="6831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40"/>
          <p:cNvSpPr/>
          <p:nvPr/>
        </p:nvSpPr>
        <p:spPr>
          <a:xfrm>
            <a:off x="2051900" y="1244489"/>
            <a:ext cx="12027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2156333" y="1235775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2      7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0      9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40"/>
          <p:cNvSpPr/>
          <p:nvPr/>
        </p:nvSpPr>
        <p:spPr>
          <a:xfrm>
            <a:off x="3988600" y="1244500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4137526" y="123577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 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5588800" y="1244500"/>
            <a:ext cx="168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p40"/>
          <p:cNvSpPr txBox="1"/>
          <p:nvPr/>
        </p:nvSpPr>
        <p:spPr>
          <a:xfrm>
            <a:off x="4926001" y="13602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1438700" y="3429963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7" name="Google Shape;347;p40"/>
          <p:cNvSpPr txBox="1"/>
          <p:nvPr/>
        </p:nvSpPr>
        <p:spPr>
          <a:xfrm>
            <a:off x="1576010" y="3487269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2962700" y="3429963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40"/>
          <p:cNvSpPr txBox="1"/>
          <p:nvPr/>
        </p:nvSpPr>
        <p:spPr>
          <a:xfrm>
            <a:off x="3100010" y="3487269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9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0" name="Google Shape;350;p40"/>
          <p:cNvSpPr txBox="1"/>
          <p:nvPr/>
        </p:nvSpPr>
        <p:spPr>
          <a:xfrm>
            <a:off x="990125" y="3669963"/>
            <a:ext cx="476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1" name="Google Shape;351;p40"/>
          <p:cNvSpPr txBox="1"/>
          <p:nvPr/>
        </p:nvSpPr>
        <p:spPr>
          <a:xfrm>
            <a:off x="2100300" y="3669963"/>
            <a:ext cx="476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+"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2" name="Google Shape;352;p40"/>
          <p:cNvSpPr txBox="1"/>
          <p:nvPr/>
        </p:nvSpPr>
        <p:spPr>
          <a:xfrm>
            <a:off x="3935401" y="35700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p40"/>
          <p:cNvSpPr/>
          <p:nvPr/>
        </p:nvSpPr>
        <p:spPr>
          <a:xfrm>
            <a:off x="4639100" y="3429963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p40"/>
          <p:cNvSpPr txBox="1"/>
          <p:nvPr/>
        </p:nvSpPr>
        <p:spPr>
          <a:xfrm>
            <a:off x="4776410" y="3487269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 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40"/>
          <p:cNvSpPr/>
          <p:nvPr/>
        </p:nvSpPr>
        <p:spPr>
          <a:xfrm>
            <a:off x="5782100" y="3429963"/>
            <a:ext cx="665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5878048" y="3487269"/>
            <a:ext cx="592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18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5300700" y="3669963"/>
            <a:ext cx="476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+"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40"/>
          <p:cNvSpPr txBox="1"/>
          <p:nvPr/>
        </p:nvSpPr>
        <p:spPr>
          <a:xfrm>
            <a:off x="6754801" y="3570050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40"/>
          <p:cNvSpPr/>
          <p:nvPr/>
        </p:nvSpPr>
        <p:spPr>
          <a:xfrm>
            <a:off x="7458500" y="3429975"/>
            <a:ext cx="791100" cy="918900"/>
          </a:xfrm>
          <a:prstGeom prst="bracketPair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40"/>
          <p:cNvSpPr txBox="1"/>
          <p:nvPr/>
        </p:nvSpPr>
        <p:spPr>
          <a:xfrm>
            <a:off x="7595801" y="3487275"/>
            <a:ext cx="592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16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18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825" y="447325"/>
            <a:ext cx="6308351" cy="424884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1"/>
          <p:cNvSpPr txBox="1"/>
          <p:nvPr/>
        </p:nvSpPr>
        <p:spPr>
          <a:xfrm>
            <a:off x="5004575" y="607275"/>
            <a:ext cx="2674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highlight>
                  <a:schemeClr val="dk1"/>
                </a:highlight>
                <a:latin typeface="Impact"/>
                <a:ea typeface="Impact"/>
                <a:cs typeface="Impact"/>
                <a:sym typeface="Impact"/>
              </a:rPr>
              <a:t>Span of Independent Vectors</a:t>
            </a:r>
            <a:endParaRPr sz="1700">
              <a:solidFill>
                <a:schemeClr val="dk2"/>
              </a:solidFill>
              <a:highlight>
                <a:schemeClr val="dk1"/>
              </a:highlight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1295400" y="68580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highlight>
                  <a:schemeClr val="dk1"/>
                </a:highlight>
                <a:latin typeface="Impact"/>
                <a:ea typeface="Impact"/>
                <a:cs typeface="Impact"/>
                <a:sym typeface="Impact"/>
              </a:rPr>
              <a:t>Span of Dependent </a:t>
            </a:r>
            <a:endParaRPr sz="1700">
              <a:solidFill>
                <a:schemeClr val="dk2"/>
              </a:solidFill>
              <a:highlight>
                <a:schemeClr val="dk1"/>
              </a:highlight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highlight>
                  <a:schemeClr val="dk1"/>
                </a:highlight>
                <a:latin typeface="Impact"/>
                <a:ea typeface="Impact"/>
                <a:cs typeface="Impact"/>
                <a:sym typeface="Impact"/>
              </a:rPr>
              <a:t>Vectors</a:t>
            </a:r>
            <a:endParaRPr sz="1700">
              <a:solidFill>
                <a:schemeClr val="dk2"/>
              </a:solidFill>
              <a:highlight>
                <a:schemeClr val="dk1"/>
              </a:highlight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 txBox="1"/>
          <p:nvPr>
            <p:ph idx="8" type="title"/>
          </p:nvPr>
        </p:nvSpPr>
        <p:spPr>
          <a:xfrm>
            <a:off x="720000" y="3659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cxnSp>
        <p:nvCxnSpPr>
          <p:cNvPr id="373" name="Google Shape;373;p42"/>
          <p:cNvCxnSpPr/>
          <p:nvPr/>
        </p:nvCxnSpPr>
        <p:spPr>
          <a:xfrm>
            <a:off x="802850" y="10457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42"/>
          <p:cNvSpPr txBox="1"/>
          <p:nvPr/>
        </p:nvSpPr>
        <p:spPr>
          <a:xfrm>
            <a:off x="906575" y="1272950"/>
            <a:ext cx="6717000" cy="25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Gilbert Strang (L1)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380" name="Google Shape;3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