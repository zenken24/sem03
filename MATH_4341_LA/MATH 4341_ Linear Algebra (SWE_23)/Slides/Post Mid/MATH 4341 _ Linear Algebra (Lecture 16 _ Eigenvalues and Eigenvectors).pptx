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5143500" cx="9144000"/>
  <p:notesSz cx="6858000" cy="9144000"/>
  <p:embeddedFontLst>
    <p:embeddedFont>
      <p:font typeface="Roboto Serif"/>
      <p:regular r:id="rId43"/>
      <p:bold r:id="rId44"/>
      <p:italic r:id="rId45"/>
      <p:boldItalic r:id="rId46"/>
    </p:embeddedFont>
    <p:embeddedFont>
      <p:font typeface="Nunito"/>
      <p:regular r:id="rId47"/>
      <p:bold r:id="rId48"/>
      <p:italic r:id="rId49"/>
      <p:boldItalic r:id="rId50"/>
    </p:embeddedFont>
    <p:embeddedFont>
      <p:font typeface="Bebas Neue"/>
      <p:regular r:id="rId51"/>
    </p:embeddedFont>
    <p:embeddedFont>
      <p:font typeface="Questrial"/>
      <p:regular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RobotoSerif-bold.fntdata"/><Relationship Id="rId43" Type="http://schemas.openxmlformats.org/officeDocument/2006/relationships/font" Target="fonts/RobotoSerif-regular.fntdata"/><Relationship Id="rId46" Type="http://schemas.openxmlformats.org/officeDocument/2006/relationships/font" Target="fonts/RobotoSerif-boldItalic.fntdata"/><Relationship Id="rId45" Type="http://schemas.openxmlformats.org/officeDocument/2006/relationships/font" Target="fonts/RobotoSerif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Nunito-bold.fntdata"/><Relationship Id="rId47" Type="http://schemas.openxmlformats.org/officeDocument/2006/relationships/font" Target="fonts/Nunito-regular.fntdata"/><Relationship Id="rId49" Type="http://schemas.openxmlformats.org/officeDocument/2006/relationships/font" Target="fonts/Nuni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BebasNeue-regular.fntdata"/><Relationship Id="rId50" Type="http://schemas.openxmlformats.org/officeDocument/2006/relationships/font" Target="fonts/Nunito-boldItalic.fntdata"/><Relationship Id="rId52" Type="http://schemas.openxmlformats.org/officeDocument/2006/relationships/font" Target="fonts/Questrial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1db9835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1db9835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c51b9a5f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c51b9a5f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c51b9a5f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c51b9a5f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1db98358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1db98358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c51b9a5f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3c51b9a5f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c51b9a5f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3c51b9a5f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c51b9a5f4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3c51b9a5f4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3c51b9a5f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3c51b9a5f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3cbf8db02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3cbf8db02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cbf8db02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3cbf8db02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3cbf8db02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3cbf8db02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cbf8db02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3cbf8db02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3cbf8db02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3cbf8db02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3cbf8db026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3cbf8db02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3cbf8db02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3cbf8db02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3cbf8db026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3cbf8db026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3cbf8db02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3cbf8db02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3cbf8db026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3cbf8db026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3cbf8db026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3cbf8db026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3cbf8db026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3cbf8db026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bf8db026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bf8db026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3cbf8db026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3cbf8db026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3cbf8db026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3cbf8db026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3cbf8db026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3cbf8db026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3cbf8db026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3cbf8db026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3cbf8db026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3cbf8db026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3cbf8db026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3cbf8db026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335287252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335287252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3cdf18f08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3cdf18f08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3cdf18f0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3cdf18f0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bf8db026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bf8db026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414b89525a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414b89525a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3cbf8db02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3cbf8db02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3cbf8db026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3cbf8db026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3cbf8db026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3cbf8db026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00ba8dc6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00ba8dc6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e207fd22f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e207fd22f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040075" y="1807225"/>
            <a:ext cx="4084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040075" y="3900750"/>
            <a:ext cx="4553400" cy="56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117025" y="2560625"/>
            <a:ext cx="40176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5999150" y="1075000"/>
            <a:ext cx="2135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10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439500" y="3556833"/>
            <a:ext cx="3695400" cy="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941825" y="1202500"/>
            <a:ext cx="7194000" cy="3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vvic"/>
              <a:buAutoNum type="arabicPeriod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907137" y="3077720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886463" y="820194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349937" y="3565479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886463" y="1316836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0000" y="445025"/>
            <a:ext cx="607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329250" y="826025"/>
            <a:ext cx="4015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335700" y="1602275"/>
            <a:ext cx="38133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3" name="Google Shape;33;p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638700" y="3202625"/>
            <a:ext cx="7866900" cy="10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" name="Google Shape;36;p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713225" y="1033212"/>
            <a:ext cx="4402200" cy="157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713225" y="2756088"/>
            <a:ext cx="34245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740550" y="2653478"/>
            <a:ext cx="4667100" cy="129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1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33800" y="1916675"/>
            <a:ext cx="44025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605133" y="3172601"/>
            <a:ext cx="43134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7" name="Google Shape;47;p1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" name="Google Shape;53;p13"/>
          <p:cNvSpPr txBox="1"/>
          <p:nvPr>
            <p:ph idx="3" type="subTitle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4" type="title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5" name="Google Shape;55;p13"/>
          <p:cNvSpPr txBox="1"/>
          <p:nvPr>
            <p:ph idx="5" type="subTitle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6" type="title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idx="7" type="subTitle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8" type="title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9" type="title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13" type="title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14" type="title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15" type="title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617850" y="1661475"/>
            <a:ext cx="3775800" cy="11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920400" y="2626775"/>
            <a:ext cx="33462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4920400" y="1545450"/>
            <a:ext cx="2881800" cy="69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0000" y="1381075"/>
            <a:ext cx="7343700" cy="31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1442987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1442987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title"/>
          </p:nvPr>
        </p:nvSpPr>
        <p:spPr>
          <a:xfrm>
            <a:off x="5257513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" name="Google Shape;80;p17"/>
          <p:cNvSpPr txBox="1"/>
          <p:nvPr>
            <p:ph idx="3" type="subTitle"/>
          </p:nvPr>
        </p:nvSpPr>
        <p:spPr>
          <a:xfrm>
            <a:off x="5257513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1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710750" y="33800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10750" y="3785547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title"/>
          </p:nvPr>
        </p:nvSpPr>
        <p:spPr>
          <a:xfrm>
            <a:off x="710750" y="12231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710750" y="1627900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title"/>
          </p:nvPr>
        </p:nvSpPr>
        <p:spPr>
          <a:xfrm>
            <a:off x="710750" y="2301213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710750" y="2706729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6" type="title"/>
          </p:nvPr>
        </p:nvSpPr>
        <p:spPr>
          <a:xfrm>
            <a:off x="710750" y="387250"/>
            <a:ext cx="4724700" cy="77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1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772650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772650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2" type="title"/>
          </p:nvPr>
        </p:nvSpPr>
        <p:spPr>
          <a:xfrm>
            <a:off x="3291776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9"/>
          <p:cNvSpPr txBox="1"/>
          <p:nvPr>
            <p:ph idx="3" type="subTitle"/>
          </p:nvPr>
        </p:nvSpPr>
        <p:spPr>
          <a:xfrm>
            <a:off x="3291777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title"/>
          </p:nvPr>
        </p:nvSpPr>
        <p:spPr>
          <a:xfrm>
            <a:off x="772650" y="3083619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9"/>
          <p:cNvSpPr txBox="1"/>
          <p:nvPr>
            <p:ph idx="5" type="subTitle"/>
          </p:nvPr>
        </p:nvSpPr>
        <p:spPr>
          <a:xfrm>
            <a:off x="772650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6" type="title"/>
          </p:nvPr>
        </p:nvSpPr>
        <p:spPr>
          <a:xfrm>
            <a:off x="3300396" y="3083619"/>
            <a:ext cx="242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9"/>
          <p:cNvSpPr txBox="1"/>
          <p:nvPr>
            <p:ph idx="7" type="subTitle"/>
          </p:nvPr>
        </p:nvSpPr>
        <p:spPr>
          <a:xfrm>
            <a:off x="3291777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" name="Google Shape;102;p1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6651929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6651929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2" type="title"/>
          </p:nvPr>
        </p:nvSpPr>
        <p:spPr>
          <a:xfrm>
            <a:off x="3876449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3876450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4" type="title"/>
          </p:nvPr>
        </p:nvSpPr>
        <p:spPr>
          <a:xfrm>
            <a:off x="3876453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3876455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6" type="title"/>
          </p:nvPr>
        </p:nvSpPr>
        <p:spPr>
          <a:xfrm>
            <a:off x="3876449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3876450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8" type="title"/>
          </p:nvPr>
        </p:nvSpPr>
        <p:spPr>
          <a:xfrm>
            <a:off x="6651925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3" name="Google Shape;113;p20"/>
          <p:cNvSpPr txBox="1"/>
          <p:nvPr>
            <p:ph idx="9" type="subTitle"/>
          </p:nvPr>
        </p:nvSpPr>
        <p:spPr>
          <a:xfrm>
            <a:off x="6651925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3" type="title"/>
          </p:nvPr>
        </p:nvSpPr>
        <p:spPr>
          <a:xfrm>
            <a:off x="6651925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5" name="Google Shape;115;p20"/>
          <p:cNvSpPr txBox="1"/>
          <p:nvPr>
            <p:ph idx="14" type="subTitle"/>
          </p:nvPr>
        </p:nvSpPr>
        <p:spPr>
          <a:xfrm>
            <a:off x="6651925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5" type="title"/>
          </p:nvPr>
        </p:nvSpPr>
        <p:spPr>
          <a:xfrm>
            <a:off x="796200" y="2024325"/>
            <a:ext cx="2117100" cy="95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2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hasCustomPrompt="1" type="title"/>
          </p:nvPr>
        </p:nvSpPr>
        <p:spPr>
          <a:xfrm>
            <a:off x="1055400" y="983350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1055400" y="1811650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hasCustomPrompt="1" idx="2" type="title"/>
          </p:nvPr>
        </p:nvSpPr>
        <p:spPr>
          <a:xfrm>
            <a:off x="1055400" y="2605127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2" name="Google Shape;122;p21"/>
          <p:cNvSpPr txBox="1"/>
          <p:nvPr>
            <p:ph idx="3" type="subTitle"/>
          </p:nvPr>
        </p:nvSpPr>
        <p:spPr>
          <a:xfrm>
            <a:off x="1055400" y="3433423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type="ctrTitle"/>
          </p:nvPr>
        </p:nvSpPr>
        <p:spPr>
          <a:xfrm>
            <a:off x="2429950" y="499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3265350" y="1502417"/>
            <a:ext cx="2613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8" name="Google Shape;128;p22"/>
          <p:cNvSpPr txBox="1"/>
          <p:nvPr>
            <p:ph idx="2" type="subTitle"/>
          </p:nvPr>
        </p:nvSpPr>
        <p:spPr>
          <a:xfrm>
            <a:off x="2425000" y="4124521"/>
            <a:ext cx="42939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22"/>
          <p:cNvSpPr txBox="1"/>
          <p:nvPr/>
        </p:nvSpPr>
        <p:spPr>
          <a:xfrm>
            <a:off x="2730325" y="3416238"/>
            <a:ext cx="3705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CRÉDITOS: Esta plantilla de presentación fue creada por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que incluye iconos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infografías e imágenes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e ilustraciones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2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6.png"/><Relationship Id="rId6" Type="http://schemas.openxmlformats.org/officeDocument/2006/relationships/image" Target="../media/image45.png"/><Relationship Id="rId7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47.png"/><Relationship Id="rId13" Type="http://schemas.openxmlformats.org/officeDocument/2006/relationships/image" Target="../media/image51.png"/><Relationship Id="rId1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9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5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38.png"/><Relationship Id="rId9" Type="http://schemas.openxmlformats.org/officeDocument/2006/relationships/image" Target="../media/image55.png"/><Relationship Id="rId5" Type="http://schemas.openxmlformats.org/officeDocument/2006/relationships/image" Target="../media/image39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0.png"/><Relationship Id="rId4" Type="http://schemas.openxmlformats.org/officeDocument/2006/relationships/image" Target="../media/image6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3.png"/><Relationship Id="rId4" Type="http://schemas.openxmlformats.org/officeDocument/2006/relationships/image" Target="../media/image61.png"/><Relationship Id="rId5" Type="http://schemas.openxmlformats.org/officeDocument/2006/relationships/image" Target="../media/image65.png"/><Relationship Id="rId6" Type="http://schemas.openxmlformats.org/officeDocument/2006/relationships/image" Target="../media/image7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6.png"/><Relationship Id="rId4" Type="http://schemas.openxmlformats.org/officeDocument/2006/relationships/image" Target="../media/image6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7.png"/><Relationship Id="rId4" Type="http://schemas.openxmlformats.org/officeDocument/2006/relationships/image" Target="../media/image71.png"/><Relationship Id="rId5" Type="http://schemas.openxmlformats.org/officeDocument/2006/relationships/image" Target="../media/image73.png"/><Relationship Id="rId6" Type="http://schemas.openxmlformats.org/officeDocument/2006/relationships/image" Target="../media/image6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youtu.be/cdZnhQjJu4I?feature=shared" TargetMode="External"/><Relationship Id="rId4" Type="http://schemas.openxmlformats.org/officeDocument/2006/relationships/hyperlink" Target="https://youtu.be/PFDu9oVAE-g?feature=shared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ctrTitle"/>
          </p:nvPr>
        </p:nvSpPr>
        <p:spPr>
          <a:xfrm>
            <a:off x="758250" y="1222700"/>
            <a:ext cx="7627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Eigenvalues and Eigenvectors</a:t>
            </a:r>
            <a:endParaRPr sz="4200"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s" sz="2500">
                <a:latin typeface="Nunito"/>
                <a:ea typeface="Nunito"/>
                <a:cs typeface="Nunito"/>
                <a:sym typeface="Nunito"/>
              </a:rPr>
              <a:t>MATH 4341 : Linear Algebra</a:t>
            </a:r>
            <a:endParaRPr b="0" sz="25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1139550" y="3125700"/>
            <a:ext cx="68649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Aashnan Rahman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Junior Lecturer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Department of Computer Science and Engineering (CSE</a:t>
            </a:r>
            <a:r>
              <a:rPr lang="es" sz="1300"/>
              <a:t>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Islamic University of Technology</a:t>
            </a:r>
            <a:endParaRPr sz="1300"/>
          </a:p>
        </p:txBody>
      </p:sp>
      <p:cxnSp>
        <p:nvCxnSpPr>
          <p:cNvPr id="139" name="Google Shape;139;p25"/>
          <p:cNvCxnSpPr/>
          <p:nvPr/>
        </p:nvCxnSpPr>
        <p:spPr>
          <a:xfrm>
            <a:off x="2608341" y="2934643"/>
            <a:ext cx="3927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Recap</a:t>
            </a:r>
            <a:endParaRPr sz="2300"/>
          </a:p>
        </p:txBody>
      </p:sp>
      <p:cxnSp>
        <p:nvCxnSpPr>
          <p:cNvPr id="145" name="Google Shape;145;p2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6"/>
          <p:cNvSpPr txBox="1"/>
          <p:nvPr/>
        </p:nvSpPr>
        <p:spPr>
          <a:xfrm>
            <a:off x="822250" y="1392350"/>
            <a:ext cx="5515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Linear Transformation</a:t>
            </a:r>
            <a:endParaRPr b="1" sz="1900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822250" y="1849550"/>
            <a:ext cx="75255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function between two vectorspaces that preserves the operation of </a:t>
            </a: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vector addition</a:t>
            </a: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scalar multiplication</a:t>
            </a: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822250" y="3068750"/>
            <a:ext cx="5515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Span</a:t>
            </a:r>
            <a:endParaRPr b="1" sz="1900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822250" y="3525950"/>
            <a:ext cx="75255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collection of all possible linear combinations of some vectors.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 sz="2300"/>
          </a:p>
        </p:txBody>
      </p:sp>
      <p:cxnSp>
        <p:nvCxnSpPr>
          <p:cNvPr id="155" name="Google Shape;155;p2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6" name="Google Shape;156;p27"/>
          <p:cNvGrpSpPr/>
          <p:nvPr/>
        </p:nvGrpSpPr>
        <p:grpSpPr>
          <a:xfrm>
            <a:off x="1543923" y="2685078"/>
            <a:ext cx="770400" cy="626644"/>
            <a:chOff x="1086723" y="1676625"/>
            <a:chExt cx="770400" cy="626644"/>
          </a:xfrm>
        </p:grpSpPr>
        <p:sp>
          <p:nvSpPr>
            <p:cNvPr id="157" name="Google Shape;157;p27"/>
            <p:cNvSpPr txBox="1"/>
            <p:nvPr/>
          </p:nvSpPr>
          <p:spPr>
            <a:xfrm>
              <a:off x="1131400" y="1676625"/>
              <a:ext cx="717300" cy="5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3     1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0     4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1086723" y="1687369"/>
              <a:ext cx="770400" cy="61590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59" name="Google Shape;159;p27"/>
          <p:cNvGrpSpPr/>
          <p:nvPr/>
        </p:nvGrpSpPr>
        <p:grpSpPr>
          <a:xfrm>
            <a:off x="2355675" y="2685075"/>
            <a:ext cx="410100" cy="626650"/>
            <a:chOff x="1974675" y="1712325"/>
            <a:chExt cx="410100" cy="626650"/>
          </a:xfrm>
        </p:grpSpPr>
        <p:sp>
          <p:nvSpPr>
            <p:cNvPr id="160" name="Google Shape;160;p27"/>
            <p:cNvSpPr txBox="1"/>
            <p:nvPr/>
          </p:nvSpPr>
          <p:spPr>
            <a:xfrm>
              <a:off x="1974675" y="1712325"/>
              <a:ext cx="410100" cy="5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2  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–1  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1987543" y="1723075"/>
              <a:ext cx="369000" cy="61590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62" name="Google Shape;162;p27"/>
          <p:cNvSpPr txBox="1"/>
          <p:nvPr/>
        </p:nvSpPr>
        <p:spPr>
          <a:xfrm>
            <a:off x="2840775" y="2807350"/>
            <a:ext cx="410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63" name="Google Shape;163;p27"/>
          <p:cNvGrpSpPr/>
          <p:nvPr/>
        </p:nvGrpSpPr>
        <p:grpSpPr>
          <a:xfrm>
            <a:off x="3193875" y="2685075"/>
            <a:ext cx="521700" cy="626650"/>
            <a:chOff x="1974675" y="1712325"/>
            <a:chExt cx="521700" cy="626650"/>
          </a:xfrm>
        </p:grpSpPr>
        <p:sp>
          <p:nvSpPr>
            <p:cNvPr id="164" name="Google Shape;164;p27"/>
            <p:cNvSpPr txBox="1"/>
            <p:nvPr/>
          </p:nvSpPr>
          <p:spPr>
            <a:xfrm>
              <a:off x="1974675" y="1712325"/>
              <a:ext cx="521700" cy="5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 5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–4 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2049355" y="1723075"/>
              <a:ext cx="369000" cy="61590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002" y="1251625"/>
            <a:ext cx="3494873" cy="351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000" y="1251625"/>
            <a:ext cx="3494873" cy="3494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 sz="2300"/>
          </a:p>
        </p:txBody>
      </p:sp>
      <p:cxnSp>
        <p:nvCxnSpPr>
          <p:cNvPr id="173" name="Google Shape;173;p28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4" name="Google Shape;174;p28"/>
          <p:cNvGrpSpPr/>
          <p:nvPr/>
        </p:nvGrpSpPr>
        <p:grpSpPr>
          <a:xfrm>
            <a:off x="1543923" y="2685078"/>
            <a:ext cx="770400" cy="626644"/>
            <a:chOff x="1086723" y="1676625"/>
            <a:chExt cx="770400" cy="626644"/>
          </a:xfrm>
        </p:grpSpPr>
        <p:sp>
          <p:nvSpPr>
            <p:cNvPr id="175" name="Google Shape;175;p28"/>
            <p:cNvSpPr txBox="1"/>
            <p:nvPr/>
          </p:nvSpPr>
          <p:spPr>
            <a:xfrm>
              <a:off x="1131400" y="1676625"/>
              <a:ext cx="717300" cy="5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3     1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0     4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1086723" y="1687369"/>
              <a:ext cx="770400" cy="61590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7" name="Google Shape;177;p28"/>
          <p:cNvGrpSpPr/>
          <p:nvPr/>
        </p:nvGrpSpPr>
        <p:grpSpPr>
          <a:xfrm>
            <a:off x="2355675" y="2685075"/>
            <a:ext cx="410100" cy="626650"/>
            <a:chOff x="1974675" y="1712325"/>
            <a:chExt cx="410100" cy="626650"/>
          </a:xfrm>
        </p:grpSpPr>
        <p:sp>
          <p:nvSpPr>
            <p:cNvPr id="178" name="Google Shape;178;p28"/>
            <p:cNvSpPr txBox="1"/>
            <p:nvPr/>
          </p:nvSpPr>
          <p:spPr>
            <a:xfrm>
              <a:off x="1974675" y="1712325"/>
              <a:ext cx="410100" cy="5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2  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0  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1987543" y="1723075"/>
              <a:ext cx="369000" cy="61590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80" name="Google Shape;180;p28"/>
          <p:cNvSpPr txBox="1"/>
          <p:nvPr/>
        </p:nvSpPr>
        <p:spPr>
          <a:xfrm>
            <a:off x="2840775" y="2807350"/>
            <a:ext cx="410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81" name="Google Shape;181;p28"/>
          <p:cNvGrpSpPr/>
          <p:nvPr/>
        </p:nvGrpSpPr>
        <p:grpSpPr>
          <a:xfrm>
            <a:off x="3193875" y="2685075"/>
            <a:ext cx="521700" cy="626650"/>
            <a:chOff x="1974675" y="1712325"/>
            <a:chExt cx="521700" cy="626650"/>
          </a:xfrm>
        </p:grpSpPr>
        <p:sp>
          <p:nvSpPr>
            <p:cNvPr id="182" name="Google Shape;182;p28"/>
            <p:cNvSpPr txBox="1"/>
            <p:nvPr/>
          </p:nvSpPr>
          <p:spPr>
            <a:xfrm>
              <a:off x="1974675" y="1712325"/>
              <a:ext cx="521700" cy="5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 6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 0 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2049355" y="1723075"/>
              <a:ext cx="369000" cy="61590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450" y="1305225"/>
            <a:ext cx="3500900" cy="348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1200" y="1305225"/>
            <a:ext cx="3500900" cy="350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29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9"/>
          <p:cNvSpPr txBox="1"/>
          <p:nvPr/>
        </p:nvSpPr>
        <p:spPr>
          <a:xfrm>
            <a:off x="802725" y="1253500"/>
            <a:ext cx="752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Some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vectors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will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remain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in its span even after being multiplied by a matrix, such vectors are known as 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Eigenvectors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30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30"/>
          <p:cNvSpPr txBox="1"/>
          <p:nvPr/>
        </p:nvSpPr>
        <p:spPr>
          <a:xfrm>
            <a:off x="802725" y="1710700"/>
            <a:ext cx="80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vector</a:t>
            </a: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which stays on the </a:t>
            </a:r>
            <a:r>
              <a:rPr b="1"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same span </a:t>
            </a: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(stretched/squeezed)</a:t>
            </a:r>
            <a:r>
              <a:rPr b="1"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after transformation.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822250" y="1239950"/>
            <a:ext cx="5515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 u="sng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Eigenvectors</a:t>
            </a:r>
            <a:endParaRPr b="1" sz="1900" u="sng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802725" y="2929900"/>
            <a:ext cx="80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b="1"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factors </a:t>
            </a: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by which the eigenvectors get squeezed or stretched.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822250" y="2459150"/>
            <a:ext cx="5515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 u="sng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Eigenvalues</a:t>
            </a:r>
            <a:endParaRPr b="1" sz="1900" u="sng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" name="Google Shape;208;p31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9" name="Google Shape;209;p31"/>
          <p:cNvGrpSpPr/>
          <p:nvPr/>
        </p:nvGrpSpPr>
        <p:grpSpPr>
          <a:xfrm>
            <a:off x="2998048" y="1582203"/>
            <a:ext cx="770400" cy="626644"/>
            <a:chOff x="1086723" y="1676625"/>
            <a:chExt cx="770400" cy="626644"/>
          </a:xfrm>
        </p:grpSpPr>
        <p:sp>
          <p:nvSpPr>
            <p:cNvPr id="210" name="Google Shape;210;p31"/>
            <p:cNvSpPr txBox="1"/>
            <p:nvPr/>
          </p:nvSpPr>
          <p:spPr>
            <a:xfrm>
              <a:off x="1131400" y="1676625"/>
              <a:ext cx="717300" cy="5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3     1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0     4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11" name="Google Shape;211;p31"/>
            <p:cNvSpPr/>
            <p:nvPr/>
          </p:nvSpPr>
          <p:spPr>
            <a:xfrm>
              <a:off x="1086723" y="1687369"/>
              <a:ext cx="770400" cy="61590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12" name="Google Shape;212;p31"/>
          <p:cNvGrpSpPr/>
          <p:nvPr/>
        </p:nvGrpSpPr>
        <p:grpSpPr>
          <a:xfrm>
            <a:off x="3809800" y="1582200"/>
            <a:ext cx="410100" cy="626650"/>
            <a:chOff x="1974675" y="1712325"/>
            <a:chExt cx="410100" cy="626650"/>
          </a:xfrm>
        </p:grpSpPr>
        <p:sp>
          <p:nvSpPr>
            <p:cNvPr id="213" name="Google Shape;213;p31"/>
            <p:cNvSpPr txBox="1"/>
            <p:nvPr/>
          </p:nvSpPr>
          <p:spPr>
            <a:xfrm>
              <a:off x="1974675" y="1712325"/>
              <a:ext cx="410100" cy="5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2  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0  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14" name="Google Shape;214;p31"/>
            <p:cNvSpPr/>
            <p:nvPr/>
          </p:nvSpPr>
          <p:spPr>
            <a:xfrm>
              <a:off x="1987543" y="1723075"/>
              <a:ext cx="369000" cy="61590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15" name="Google Shape;215;p31"/>
          <p:cNvSpPr txBox="1"/>
          <p:nvPr/>
        </p:nvSpPr>
        <p:spPr>
          <a:xfrm>
            <a:off x="4294900" y="1704475"/>
            <a:ext cx="410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16" name="Google Shape;216;p31"/>
          <p:cNvGrpSpPr/>
          <p:nvPr/>
        </p:nvGrpSpPr>
        <p:grpSpPr>
          <a:xfrm>
            <a:off x="4648000" y="1582200"/>
            <a:ext cx="521700" cy="626650"/>
            <a:chOff x="1974675" y="1712325"/>
            <a:chExt cx="521700" cy="626650"/>
          </a:xfrm>
        </p:grpSpPr>
        <p:sp>
          <p:nvSpPr>
            <p:cNvPr id="217" name="Google Shape;217;p31"/>
            <p:cNvSpPr txBox="1"/>
            <p:nvPr/>
          </p:nvSpPr>
          <p:spPr>
            <a:xfrm>
              <a:off x="1974675" y="1712325"/>
              <a:ext cx="521700" cy="5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 6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 0 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18" name="Google Shape;218;p31"/>
            <p:cNvSpPr/>
            <p:nvPr/>
          </p:nvSpPr>
          <p:spPr>
            <a:xfrm>
              <a:off x="2049355" y="1723075"/>
              <a:ext cx="369000" cy="61590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19" name="Google Shape;219;p31"/>
          <p:cNvGrpSpPr/>
          <p:nvPr/>
        </p:nvGrpSpPr>
        <p:grpSpPr>
          <a:xfrm>
            <a:off x="5723047" y="1610847"/>
            <a:ext cx="410100" cy="626650"/>
            <a:chOff x="1974675" y="1712325"/>
            <a:chExt cx="410100" cy="626650"/>
          </a:xfrm>
        </p:grpSpPr>
        <p:sp>
          <p:nvSpPr>
            <p:cNvPr id="220" name="Google Shape;220;p31"/>
            <p:cNvSpPr txBox="1"/>
            <p:nvPr/>
          </p:nvSpPr>
          <p:spPr>
            <a:xfrm>
              <a:off x="1974675" y="1712325"/>
              <a:ext cx="410100" cy="5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2  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 0     </a:t>
              </a:r>
              <a:endPara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21" name="Google Shape;221;p31"/>
            <p:cNvSpPr/>
            <p:nvPr/>
          </p:nvSpPr>
          <p:spPr>
            <a:xfrm>
              <a:off x="1987543" y="1723075"/>
              <a:ext cx="369000" cy="615900"/>
            </a:xfrm>
            <a:prstGeom prst="bracketPair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22" name="Google Shape;222;p31"/>
          <p:cNvSpPr txBox="1"/>
          <p:nvPr/>
        </p:nvSpPr>
        <p:spPr>
          <a:xfrm>
            <a:off x="5204297" y="1701735"/>
            <a:ext cx="4101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5449848" y="1736492"/>
            <a:ext cx="3081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24" name="Google Shape;224;p31"/>
          <p:cNvCxnSpPr>
            <a:stCxn id="214" idx="2"/>
          </p:cNvCxnSpPr>
          <p:nvPr/>
        </p:nvCxnSpPr>
        <p:spPr>
          <a:xfrm>
            <a:off x="4007168" y="2208850"/>
            <a:ext cx="0" cy="974400"/>
          </a:xfrm>
          <a:prstGeom prst="straightConnector1">
            <a:avLst/>
          </a:prstGeom>
          <a:noFill/>
          <a:ln cap="flat" cmpd="sng" w="9525">
            <a:solidFill>
              <a:srgbClr val="24242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" name="Google Shape;225;p31"/>
          <p:cNvCxnSpPr/>
          <p:nvPr/>
        </p:nvCxnSpPr>
        <p:spPr>
          <a:xfrm>
            <a:off x="5603893" y="2208850"/>
            <a:ext cx="0" cy="974400"/>
          </a:xfrm>
          <a:prstGeom prst="straightConnector1">
            <a:avLst/>
          </a:prstGeom>
          <a:noFill/>
          <a:ln cap="flat" cmpd="sng" w="9525">
            <a:solidFill>
              <a:srgbClr val="24242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6" name="Google Shape;226;p31"/>
          <p:cNvSpPr txBox="1"/>
          <p:nvPr/>
        </p:nvSpPr>
        <p:spPr>
          <a:xfrm>
            <a:off x="3441375" y="3242975"/>
            <a:ext cx="1131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Eigenvector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5041575" y="3242975"/>
            <a:ext cx="1131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Eigenvalue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32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2"/>
          <p:cNvSpPr txBox="1"/>
          <p:nvPr/>
        </p:nvSpPr>
        <p:spPr>
          <a:xfrm>
            <a:off x="650325" y="1253500"/>
            <a:ext cx="80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Eigenvalues have very strong relationship </a:t>
            </a: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with</a:t>
            </a: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determinants of a matrix.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650325" y="1634500"/>
            <a:ext cx="800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</a:pP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Eigenvalues can be negative </a:t>
            </a: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(Flipped orientation)</a:t>
            </a: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" name="Google Shape;241;p33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33"/>
          <p:cNvCxnSpPr/>
          <p:nvPr/>
        </p:nvCxnSpPr>
        <p:spPr>
          <a:xfrm>
            <a:off x="3873618" y="2695125"/>
            <a:ext cx="0" cy="974400"/>
          </a:xfrm>
          <a:prstGeom prst="straightConnector1">
            <a:avLst/>
          </a:prstGeom>
          <a:noFill/>
          <a:ln cap="flat" cmpd="sng" w="9525">
            <a:solidFill>
              <a:srgbClr val="24242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" name="Google Shape;243;p33"/>
          <p:cNvCxnSpPr/>
          <p:nvPr/>
        </p:nvCxnSpPr>
        <p:spPr>
          <a:xfrm>
            <a:off x="5470343" y="2695125"/>
            <a:ext cx="0" cy="974400"/>
          </a:xfrm>
          <a:prstGeom prst="straightConnector1">
            <a:avLst/>
          </a:prstGeom>
          <a:noFill/>
          <a:ln cap="flat" cmpd="sng" w="9525">
            <a:solidFill>
              <a:srgbClr val="24242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4" name="Google Shape;244;p33"/>
          <p:cNvSpPr txBox="1"/>
          <p:nvPr/>
        </p:nvSpPr>
        <p:spPr>
          <a:xfrm>
            <a:off x="3307825" y="3729250"/>
            <a:ext cx="1131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Eigenvector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4908025" y="3729250"/>
            <a:ext cx="1131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Eigenvalue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6" name="Google Shape;24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225" y="1687375"/>
            <a:ext cx="3138762" cy="9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2" name="Google Shape;252;p34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3" name="Google Shape;25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850" y="1522650"/>
            <a:ext cx="39719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850" y="2101350"/>
            <a:ext cx="3810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4"/>
          <p:cNvSpPr txBox="1"/>
          <p:nvPr/>
        </p:nvSpPr>
        <p:spPr>
          <a:xfrm>
            <a:off x="2418625" y="3337381"/>
            <a:ext cx="4209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FF0000"/>
                </a:solidFill>
                <a:latin typeface="Roboto Serif"/>
                <a:ea typeface="Roboto Serif"/>
                <a:cs typeface="Roboto Serif"/>
                <a:sym typeface="Roboto Serif"/>
              </a:rPr>
              <a:t>INCONSISTENCY !!!!</a:t>
            </a:r>
            <a:endParaRPr b="1" sz="2500">
              <a:solidFill>
                <a:srgbClr val="FF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35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2" name="Google Shape;26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5938" y="1357175"/>
            <a:ext cx="1566425" cy="49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375" y="1978075"/>
            <a:ext cx="2132850" cy="4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6650" y="2666475"/>
            <a:ext cx="2817892" cy="49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5"/>
          <p:cNvSpPr/>
          <p:nvPr/>
        </p:nvSpPr>
        <p:spPr>
          <a:xfrm rot="5400000">
            <a:off x="4294150" y="2602750"/>
            <a:ext cx="151200" cy="12732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6" name="Google Shape;266;p35"/>
          <p:cNvSpPr txBox="1"/>
          <p:nvPr/>
        </p:nvSpPr>
        <p:spPr>
          <a:xfrm>
            <a:off x="3796531" y="3242975"/>
            <a:ext cx="1131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Matrix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67" name="Google Shape;267;p35"/>
          <p:cNvCxnSpPr/>
          <p:nvPr/>
        </p:nvCxnSpPr>
        <p:spPr>
          <a:xfrm>
            <a:off x="5186175" y="3163750"/>
            <a:ext cx="0" cy="63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p35"/>
          <p:cNvSpPr txBox="1"/>
          <p:nvPr/>
        </p:nvSpPr>
        <p:spPr>
          <a:xfrm>
            <a:off x="4616081" y="3700175"/>
            <a:ext cx="1131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non–zero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vector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4" name="Google Shape;274;p3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5" name="Google Shape;2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850" y="1407550"/>
            <a:ext cx="142050" cy="2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6"/>
          <p:cNvSpPr txBox="1"/>
          <p:nvPr/>
        </p:nvSpPr>
        <p:spPr>
          <a:xfrm>
            <a:off x="777050" y="1350000"/>
            <a:ext cx="73329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is a 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non–zero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vector as it is squeezed or stretched by                     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77" name="Google Shape;27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8825" y="1416194"/>
            <a:ext cx="1213882" cy="28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200" y="2074875"/>
            <a:ext cx="739150" cy="25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6"/>
          <p:cNvSpPr txBox="1"/>
          <p:nvPr/>
        </p:nvSpPr>
        <p:spPr>
          <a:xfrm>
            <a:off x="777050" y="1959600"/>
            <a:ext cx="7401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          is such a 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matrix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which 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squeezes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space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of a 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non-zero vector    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into a 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lower dimensional space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0" name="Google Shape;28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131" y="2275538"/>
            <a:ext cx="170825" cy="34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9400" y="3388263"/>
            <a:ext cx="260032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" name="Google Shape;287;p3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37"/>
          <p:cNvSpPr txBox="1"/>
          <p:nvPr/>
        </p:nvSpPr>
        <p:spPr>
          <a:xfrm>
            <a:off x="802850" y="13500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How to solve 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9" name="Google Shape;2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0875" y="1436922"/>
            <a:ext cx="1573600" cy="29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9250" y="2168400"/>
            <a:ext cx="4465500" cy="38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0550" y="2985925"/>
            <a:ext cx="16764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0550" y="3398825"/>
            <a:ext cx="315277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8" name="Google Shape;298;p38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38"/>
          <p:cNvSpPr txBox="1"/>
          <p:nvPr/>
        </p:nvSpPr>
        <p:spPr>
          <a:xfrm>
            <a:off x="802850" y="13500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 1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0" name="Google Shape;3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825" y="1858250"/>
            <a:ext cx="12763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250" y="3281675"/>
            <a:ext cx="17145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2850" y="3281675"/>
            <a:ext cx="153352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8" name="Google Shape;308;p39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39"/>
          <p:cNvSpPr txBox="1"/>
          <p:nvPr/>
        </p:nvSpPr>
        <p:spPr>
          <a:xfrm>
            <a:off x="802850" y="13500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 2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0" name="Google Shape;3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425" y="2059675"/>
            <a:ext cx="12763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2900" y="3327750"/>
            <a:ext cx="15335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7225" y="3327750"/>
            <a:ext cx="19050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8" name="Google Shape;318;p40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40"/>
          <p:cNvSpPr txBox="1"/>
          <p:nvPr/>
        </p:nvSpPr>
        <p:spPr>
          <a:xfrm>
            <a:off x="726650" y="13500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How to get Eigenvalues and Eigenvectors?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0" name="Google Shape;320;p40"/>
          <p:cNvSpPr txBox="1"/>
          <p:nvPr/>
        </p:nvSpPr>
        <p:spPr>
          <a:xfrm>
            <a:off x="726650" y="19596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AutoNum type="arabicPeriod"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Compute 			  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1" name="Google Shape;32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275" y="2046075"/>
            <a:ext cx="12858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0"/>
          <p:cNvSpPr txBox="1"/>
          <p:nvPr/>
        </p:nvSpPr>
        <p:spPr>
          <a:xfrm>
            <a:off x="769812" y="2416800"/>
            <a:ext cx="59775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2.    Find the roots of polynomials of  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			         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3" name="Google Shape;32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0100" y="2503275"/>
            <a:ext cx="17335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0"/>
          <p:cNvSpPr txBox="1"/>
          <p:nvPr/>
        </p:nvSpPr>
        <p:spPr>
          <a:xfrm>
            <a:off x="769800" y="2950200"/>
            <a:ext cx="74880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   For each eigenvalue     , solve				to find eigenvectors.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5" name="Google Shape;32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5975" y="3036675"/>
            <a:ext cx="15335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9575" y="3036675"/>
            <a:ext cx="1714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" name="Google Shape;332;p41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41"/>
          <p:cNvSpPr txBox="1"/>
          <p:nvPr/>
        </p:nvSpPr>
        <p:spPr>
          <a:xfrm>
            <a:off x="726650" y="21882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no. of Eigenvalues = no. of Eigenvectors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4" name="Google Shape;334;p41"/>
          <p:cNvSpPr txBox="1"/>
          <p:nvPr/>
        </p:nvSpPr>
        <p:spPr>
          <a:xfrm>
            <a:off x="726650" y="2645400"/>
            <a:ext cx="6711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n x n matrix, 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product of Eigenvalues = Determinant.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5" name="Google Shape;335;p41"/>
          <p:cNvSpPr txBox="1"/>
          <p:nvPr/>
        </p:nvSpPr>
        <p:spPr>
          <a:xfrm>
            <a:off x="726650" y="3102600"/>
            <a:ext cx="6711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Sum of n Eigenvalues = Trace (Sum of n diagonal entries)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6" name="Google Shape;336;p41"/>
          <p:cNvSpPr txBox="1"/>
          <p:nvPr/>
        </p:nvSpPr>
        <p:spPr>
          <a:xfrm>
            <a:off x="822250" y="1544750"/>
            <a:ext cx="70905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Relationship between Eigenvalue and Determinants</a:t>
            </a:r>
            <a:endParaRPr b="1" sz="1900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2" name="Google Shape;342;p42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2"/>
          <p:cNvSpPr txBox="1"/>
          <p:nvPr/>
        </p:nvSpPr>
        <p:spPr>
          <a:xfrm>
            <a:off x="802850" y="13500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 2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44" name="Google Shape;34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825" y="1858250"/>
            <a:ext cx="12763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850" y="3267275"/>
            <a:ext cx="22383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850" y="3814000"/>
            <a:ext cx="24479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1925" y="3444625"/>
            <a:ext cx="147637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3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" name="Google Shape;353;p43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43"/>
          <p:cNvSpPr txBox="1"/>
          <p:nvPr/>
        </p:nvSpPr>
        <p:spPr>
          <a:xfrm>
            <a:off x="726650" y="21882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eigenvalue is increased by k.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43"/>
          <p:cNvSpPr txBox="1"/>
          <p:nvPr/>
        </p:nvSpPr>
        <p:spPr>
          <a:xfrm>
            <a:off x="726650" y="2645400"/>
            <a:ext cx="6711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eigenvectors remains same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43"/>
          <p:cNvSpPr txBox="1"/>
          <p:nvPr/>
        </p:nvSpPr>
        <p:spPr>
          <a:xfrm>
            <a:off x="822250" y="1544750"/>
            <a:ext cx="70905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‘k</a:t>
            </a:r>
            <a:r>
              <a:rPr b="1"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’ is added to any matrix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" name="Google Shape;362;p44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4"/>
          <p:cNvSpPr txBox="1"/>
          <p:nvPr/>
        </p:nvSpPr>
        <p:spPr>
          <a:xfrm>
            <a:off x="822250" y="1544750"/>
            <a:ext cx="70905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If ‘k</a:t>
            </a:r>
            <a:r>
              <a:rPr b="1" lang="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’ is added to any matrix</a:t>
            </a:r>
            <a:endParaRPr b="1"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4" name="Google Shape;36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5063" y="2091975"/>
            <a:ext cx="9048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9250" y="2534800"/>
            <a:ext cx="2676525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5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45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2" name="Google Shape;37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725" y="2973525"/>
            <a:ext cx="704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4288" y="2973525"/>
            <a:ext cx="885825" cy="285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45"/>
          <p:cNvCxnSpPr/>
          <p:nvPr/>
        </p:nvCxnSpPr>
        <p:spPr>
          <a:xfrm>
            <a:off x="3819375" y="3133510"/>
            <a:ext cx="177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45"/>
          <p:cNvCxnSpPr/>
          <p:nvPr/>
        </p:nvCxnSpPr>
        <p:spPr>
          <a:xfrm>
            <a:off x="3819375" y="3597751"/>
            <a:ext cx="177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6" name="Google Shape;376;p45"/>
          <p:cNvSpPr txBox="1"/>
          <p:nvPr/>
        </p:nvSpPr>
        <p:spPr>
          <a:xfrm>
            <a:off x="4360650" y="2788275"/>
            <a:ext cx="5970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+3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7" name="Google Shape;377;p45"/>
          <p:cNvSpPr txBox="1"/>
          <p:nvPr/>
        </p:nvSpPr>
        <p:spPr>
          <a:xfrm>
            <a:off x="4360650" y="3596520"/>
            <a:ext cx="5970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+3</a:t>
            </a:r>
            <a:endParaRPr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78" name="Google Shape;37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0938" y="1561950"/>
            <a:ext cx="13525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10875" y="1561950"/>
            <a:ext cx="13525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24788" y="3457625"/>
            <a:ext cx="704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34725" y="3457625"/>
            <a:ext cx="704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44775" y="4291725"/>
            <a:ext cx="1428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8" name="Google Shape;388;p4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46"/>
          <p:cNvSpPr txBox="1"/>
          <p:nvPr/>
        </p:nvSpPr>
        <p:spPr>
          <a:xfrm>
            <a:off x="822250" y="1239950"/>
            <a:ext cx="55152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 u="sng">
                <a:solidFill>
                  <a:srgbClr val="4A86E8"/>
                </a:solidFill>
                <a:latin typeface="Nunito"/>
                <a:ea typeface="Nunito"/>
                <a:cs typeface="Nunito"/>
                <a:sym typeface="Nunito"/>
              </a:rPr>
              <a:t>Common Misconception</a:t>
            </a:r>
            <a:endParaRPr b="1" sz="1900" u="sng">
              <a:solidFill>
                <a:srgbClr val="4A86E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90" name="Google Shape;390;p46"/>
          <p:cNvCxnSpPr/>
          <p:nvPr/>
        </p:nvCxnSpPr>
        <p:spPr>
          <a:xfrm>
            <a:off x="3330200" y="2714900"/>
            <a:ext cx="2632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46"/>
          <p:cNvSpPr txBox="1"/>
          <p:nvPr/>
        </p:nvSpPr>
        <p:spPr>
          <a:xfrm>
            <a:off x="822250" y="3525950"/>
            <a:ext cx="76227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is true only when the eigenvectors are same for both the cases.</a:t>
            </a:r>
            <a:endParaRPr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2" name="Google Shape;392;p46"/>
          <p:cNvSpPr txBox="1"/>
          <p:nvPr/>
        </p:nvSpPr>
        <p:spPr>
          <a:xfrm>
            <a:off x="822250" y="3906950"/>
            <a:ext cx="76227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Not true because </a:t>
            </a: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</a:t>
            </a: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eigenvector </a:t>
            </a:r>
            <a:r>
              <a:rPr b="1" i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r>
              <a:rPr i="1"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might not be same for A and B.</a:t>
            </a:r>
            <a:endParaRPr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93" name="Google Shape;39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5300" y="2083825"/>
            <a:ext cx="2501750" cy="203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3050" y="1920525"/>
            <a:ext cx="11811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3525" y="2260863"/>
            <a:ext cx="12001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0200" y="2845075"/>
            <a:ext cx="25717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17825" y="1690974"/>
            <a:ext cx="1696475" cy="16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3" name="Google Shape;403;p4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4" name="Google Shape;40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3525" y="2322475"/>
            <a:ext cx="704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4088" y="2287725"/>
            <a:ext cx="8858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0738" y="1257150"/>
            <a:ext cx="13525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29675" y="1257150"/>
            <a:ext cx="13525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4588" y="2771825"/>
            <a:ext cx="704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53525" y="2722825"/>
            <a:ext cx="704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97875" y="1209525"/>
            <a:ext cx="22288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07488" y="2303425"/>
            <a:ext cx="8096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07488" y="2703775"/>
            <a:ext cx="80962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7"/>
          <p:cNvSpPr txBox="1"/>
          <p:nvPr/>
        </p:nvSpPr>
        <p:spPr>
          <a:xfrm>
            <a:off x="847800" y="3132425"/>
            <a:ext cx="76227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But why? how?</a:t>
            </a:r>
            <a:endParaRPr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14" name="Google Shape;414;p4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52100" y="3807500"/>
            <a:ext cx="1295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385525" y="3807500"/>
            <a:ext cx="107632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8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1" name="Google Shape;421;p48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2" name="Google Shape;42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88" y="2440125"/>
            <a:ext cx="8858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738" y="1409550"/>
            <a:ext cx="13525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4588" y="2924225"/>
            <a:ext cx="704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5075" y="1409550"/>
            <a:ext cx="15430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59800" y="1409550"/>
            <a:ext cx="21050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77500" y="2537688"/>
            <a:ext cx="10001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82250" y="2875225"/>
            <a:ext cx="11906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12938" y="2924225"/>
            <a:ext cx="8858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03438" y="2537688"/>
            <a:ext cx="704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8"/>
          <p:cNvSpPr txBox="1"/>
          <p:nvPr/>
        </p:nvSpPr>
        <p:spPr>
          <a:xfrm>
            <a:off x="822250" y="3906950"/>
            <a:ext cx="76227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Because eigenvectors aren’t same.</a:t>
            </a:r>
            <a:endParaRPr sz="1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7" name="Google Shape;437;p49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49"/>
          <p:cNvSpPr txBox="1"/>
          <p:nvPr/>
        </p:nvSpPr>
        <p:spPr>
          <a:xfrm>
            <a:off x="802850" y="13500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 3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39" name="Google Shape;43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8200" y="1776775"/>
            <a:ext cx="14573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1513" y="2811725"/>
            <a:ext cx="17907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9"/>
          <p:cNvSpPr txBox="1"/>
          <p:nvPr/>
        </p:nvSpPr>
        <p:spPr>
          <a:xfrm>
            <a:off x="955250" y="34074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Why?</a:t>
            </a:r>
            <a:endParaRPr/>
          </a:p>
        </p:txBody>
      </p:sp>
      <p:sp>
        <p:nvSpPr>
          <p:cNvPr id="442" name="Google Shape;442;p49"/>
          <p:cNvSpPr txBox="1"/>
          <p:nvPr/>
        </p:nvSpPr>
        <p:spPr>
          <a:xfrm>
            <a:off x="955250" y="37884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is a rotation matrix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0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8" name="Google Shape;448;p50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50"/>
          <p:cNvSpPr txBox="1"/>
          <p:nvPr/>
        </p:nvSpPr>
        <p:spPr>
          <a:xfrm>
            <a:off x="1761600" y="232335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“The more symmetric the matrix is,</a:t>
            </a:r>
            <a:endParaRPr b="1" sz="2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better our eigenvalues will be”</a:t>
            </a:r>
            <a:endParaRPr b="1" sz="2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1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5" name="Google Shape;455;p51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51"/>
          <p:cNvSpPr txBox="1"/>
          <p:nvPr/>
        </p:nvSpPr>
        <p:spPr>
          <a:xfrm>
            <a:off x="802850" y="13500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 4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7" name="Google Shape;457;p51"/>
          <p:cNvSpPr txBox="1"/>
          <p:nvPr/>
        </p:nvSpPr>
        <p:spPr>
          <a:xfrm>
            <a:off x="955250" y="34074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Why?</a:t>
            </a:r>
            <a:endParaRPr/>
          </a:p>
        </p:txBody>
      </p:sp>
      <p:sp>
        <p:nvSpPr>
          <p:cNvPr id="458" name="Google Shape;458;p51"/>
          <p:cNvSpPr txBox="1"/>
          <p:nvPr/>
        </p:nvSpPr>
        <p:spPr>
          <a:xfrm>
            <a:off x="955250" y="3788400"/>
            <a:ext cx="7007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Only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one independent Eigenvector. (same eigenvalues)</a:t>
            </a:r>
            <a:endParaRPr/>
          </a:p>
        </p:txBody>
      </p:sp>
      <p:pic>
        <p:nvPicPr>
          <p:cNvPr id="459" name="Google Shape;45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700" y="1892200"/>
            <a:ext cx="12763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0113" y="2781550"/>
            <a:ext cx="153352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2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6" name="Google Shape;466;p52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52"/>
          <p:cNvSpPr txBox="1"/>
          <p:nvPr/>
        </p:nvSpPr>
        <p:spPr>
          <a:xfrm>
            <a:off x="802850" y="1273800"/>
            <a:ext cx="75255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triangular matrices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how many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eigenvalues are we supposed to get?</a:t>
            </a:r>
            <a:endParaRPr/>
          </a:p>
        </p:txBody>
      </p:sp>
      <p:sp>
        <p:nvSpPr>
          <p:cNvPr id="468" name="Google Shape;468;p52"/>
          <p:cNvSpPr txBox="1"/>
          <p:nvPr/>
        </p:nvSpPr>
        <p:spPr>
          <a:xfrm>
            <a:off x="802850" y="23406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 x n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matrix,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Number  of eigenvalues depend on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9" name="Google Shape;469;p52"/>
          <p:cNvSpPr txBox="1"/>
          <p:nvPr/>
        </p:nvSpPr>
        <p:spPr>
          <a:xfrm>
            <a:off x="1107650" y="30264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Size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of the given matrix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0" name="Google Shape;470;p52"/>
          <p:cNvSpPr txBox="1"/>
          <p:nvPr/>
        </p:nvSpPr>
        <p:spPr>
          <a:xfrm>
            <a:off x="1107650" y="34074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Symmetry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of the given matrix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3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6" name="Google Shape;476;p53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" name="Google Shape;477;p53"/>
          <p:cNvSpPr txBox="1"/>
          <p:nvPr/>
        </p:nvSpPr>
        <p:spPr>
          <a:xfrm>
            <a:off x="802850" y="13500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Example 5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78" name="Google Shape;47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4638" y="1898938"/>
            <a:ext cx="1944511" cy="9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4625" y="3759712"/>
            <a:ext cx="142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5025" y="3759712"/>
            <a:ext cx="15811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20300" y="3759700"/>
            <a:ext cx="13716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3"/>
          <p:cNvSpPr txBox="1"/>
          <p:nvPr/>
        </p:nvSpPr>
        <p:spPr>
          <a:xfrm>
            <a:off x="802850" y="31026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Solution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4"/>
          <p:cNvSpPr txBox="1"/>
          <p:nvPr>
            <p:ph type="ctrTitle"/>
          </p:nvPr>
        </p:nvSpPr>
        <p:spPr>
          <a:xfrm>
            <a:off x="2430013" y="108225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Extras</a:t>
            </a:r>
            <a:endParaRPr/>
          </a:p>
        </p:txBody>
      </p:sp>
      <p:pic>
        <p:nvPicPr>
          <p:cNvPr id="488" name="Google Shape;48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3060450"/>
            <a:ext cx="40481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4"/>
          <p:cNvSpPr txBox="1"/>
          <p:nvPr>
            <p:ph type="ctrTitle"/>
          </p:nvPr>
        </p:nvSpPr>
        <p:spPr>
          <a:xfrm>
            <a:off x="531848" y="2530050"/>
            <a:ext cx="82512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Generalized Characteristics of Eigenvalues and Eigenvectors</a:t>
            </a:r>
            <a:endParaRPr sz="3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5"/>
          <p:cNvSpPr txBox="1"/>
          <p:nvPr>
            <p:ph idx="8" type="title"/>
          </p:nvPr>
        </p:nvSpPr>
        <p:spPr>
          <a:xfrm>
            <a:off x="415200" y="536475"/>
            <a:ext cx="349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Projection matrices</a:t>
            </a:r>
            <a:endParaRPr sz="2400"/>
          </a:p>
        </p:txBody>
      </p:sp>
      <p:cxnSp>
        <p:nvCxnSpPr>
          <p:cNvPr id="495" name="Google Shape;495;p55"/>
          <p:cNvCxnSpPr/>
          <p:nvPr/>
        </p:nvCxnSpPr>
        <p:spPr>
          <a:xfrm>
            <a:off x="498050" y="1140076"/>
            <a:ext cx="265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55"/>
          <p:cNvSpPr txBox="1"/>
          <p:nvPr/>
        </p:nvSpPr>
        <p:spPr>
          <a:xfrm>
            <a:off x="498050" y="1243075"/>
            <a:ext cx="38919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Only two possible values of 𝜆 = 0,1.</a:t>
            </a:r>
            <a:endParaRPr sz="1200"/>
          </a:p>
        </p:txBody>
      </p:sp>
      <p:sp>
        <p:nvSpPr>
          <p:cNvPr id="497" name="Google Shape;497;p55"/>
          <p:cNvSpPr txBox="1"/>
          <p:nvPr>
            <p:ph idx="8" type="title"/>
          </p:nvPr>
        </p:nvSpPr>
        <p:spPr>
          <a:xfrm>
            <a:off x="415200" y="3553000"/>
            <a:ext cx="349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Rotation</a:t>
            </a:r>
            <a:r>
              <a:rPr lang="es" sz="2400"/>
              <a:t> matrices</a:t>
            </a:r>
            <a:endParaRPr sz="2400"/>
          </a:p>
        </p:txBody>
      </p:sp>
      <p:cxnSp>
        <p:nvCxnSpPr>
          <p:cNvPr id="498" name="Google Shape;498;p55"/>
          <p:cNvCxnSpPr/>
          <p:nvPr/>
        </p:nvCxnSpPr>
        <p:spPr>
          <a:xfrm>
            <a:off x="498050" y="4156601"/>
            <a:ext cx="265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55"/>
          <p:cNvSpPr txBox="1"/>
          <p:nvPr/>
        </p:nvSpPr>
        <p:spPr>
          <a:xfrm>
            <a:off x="498050" y="4259600"/>
            <a:ext cx="30561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Complex Conjugate Form</a:t>
            </a:r>
            <a:endParaRPr sz="1200"/>
          </a:p>
        </p:txBody>
      </p:sp>
      <p:sp>
        <p:nvSpPr>
          <p:cNvPr id="500" name="Google Shape;500;p55"/>
          <p:cNvSpPr txBox="1"/>
          <p:nvPr>
            <p:ph idx="8" type="title"/>
          </p:nvPr>
        </p:nvSpPr>
        <p:spPr>
          <a:xfrm>
            <a:off x="498050" y="2046250"/>
            <a:ext cx="349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Reflection</a:t>
            </a:r>
            <a:r>
              <a:rPr lang="es" sz="2400"/>
              <a:t> matrices</a:t>
            </a:r>
            <a:endParaRPr sz="2400"/>
          </a:p>
        </p:txBody>
      </p:sp>
      <p:cxnSp>
        <p:nvCxnSpPr>
          <p:cNvPr id="501" name="Google Shape;501;p55"/>
          <p:cNvCxnSpPr/>
          <p:nvPr/>
        </p:nvCxnSpPr>
        <p:spPr>
          <a:xfrm>
            <a:off x="580900" y="2649851"/>
            <a:ext cx="265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Google Shape;502;p55"/>
          <p:cNvSpPr txBox="1"/>
          <p:nvPr/>
        </p:nvSpPr>
        <p:spPr>
          <a:xfrm>
            <a:off x="580900" y="275285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Only two possible values of 𝜆 = </a:t>
            </a: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+1, –1</a:t>
            </a:r>
            <a:r>
              <a:rPr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8" name="Google Shape;508;p5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56"/>
          <p:cNvSpPr txBox="1"/>
          <p:nvPr/>
        </p:nvSpPr>
        <p:spPr>
          <a:xfrm>
            <a:off x="802850" y="1350000"/>
            <a:ext cx="5620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Little hack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10" name="Google Shape;51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275" y="2074875"/>
            <a:ext cx="32194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5225" y="2664900"/>
            <a:ext cx="600075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Eigenvalues and Eigenvectors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7" name="Google Shape;517;p5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57"/>
          <p:cNvSpPr txBox="1"/>
          <p:nvPr/>
        </p:nvSpPr>
        <p:spPr>
          <a:xfrm>
            <a:off x="802850" y="1243075"/>
            <a:ext cx="75255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Eigenvectors are the vectors that remain in its own span after </a:t>
            </a:r>
            <a:r>
              <a:rPr lang="es" sz="1800"/>
              <a:t>being</a:t>
            </a:r>
            <a:r>
              <a:rPr lang="es" sz="1800"/>
              <a:t> multiplied </a:t>
            </a:r>
            <a:r>
              <a:rPr lang="es" sz="1800"/>
              <a:t>with</a:t>
            </a:r>
            <a:r>
              <a:rPr lang="es" sz="1800"/>
              <a:t> a matrix.</a:t>
            </a:r>
            <a:endParaRPr sz="1800"/>
          </a:p>
        </p:txBody>
      </p:sp>
      <p:pic>
        <p:nvPicPr>
          <p:cNvPr id="519" name="Google Shape;51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0200" y="1937225"/>
            <a:ext cx="3228975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3075" y="3242150"/>
            <a:ext cx="2095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8188" y="3275488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5700" y="3275500"/>
            <a:ext cx="2762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7"/>
          <p:cNvSpPr txBox="1"/>
          <p:nvPr/>
        </p:nvSpPr>
        <p:spPr>
          <a:xfrm>
            <a:off x="802850" y="4062475"/>
            <a:ext cx="75255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	is not an eigenvalue of A since      and       have different spans (in different dimensions).</a:t>
            </a:r>
            <a:endParaRPr sz="1800"/>
          </a:p>
        </p:txBody>
      </p:sp>
      <p:pic>
        <p:nvPicPr>
          <p:cNvPr id="524" name="Google Shape;524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6050" y="4196575"/>
            <a:ext cx="2762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8188" y="4203713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8500" y="4189900"/>
            <a:ext cx="2762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962025"/>
            <a:ext cx="5715000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0350" y="530377"/>
            <a:ext cx="3897175" cy="423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800" y="372425"/>
            <a:ext cx="4796400" cy="425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1"/>
          <p:cNvSpPr txBox="1"/>
          <p:nvPr>
            <p:ph idx="8" type="title"/>
          </p:nvPr>
        </p:nvSpPr>
        <p:spPr>
          <a:xfrm>
            <a:off x="720000" y="442125"/>
            <a:ext cx="306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References</a:t>
            </a:r>
            <a:endParaRPr/>
          </a:p>
        </p:txBody>
      </p:sp>
      <p:cxnSp>
        <p:nvCxnSpPr>
          <p:cNvPr id="547" name="Google Shape;547;p61"/>
          <p:cNvCxnSpPr/>
          <p:nvPr/>
        </p:nvCxnSpPr>
        <p:spPr>
          <a:xfrm>
            <a:off x="802850" y="1121926"/>
            <a:ext cx="2417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61"/>
          <p:cNvSpPr txBox="1"/>
          <p:nvPr/>
        </p:nvSpPr>
        <p:spPr>
          <a:xfrm>
            <a:off x="906575" y="1272950"/>
            <a:ext cx="67170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AutoNum type="arabicPeriod"/>
            </a:pP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Gilbert Strang (L21)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"/>
              <a:buAutoNum type="arabicPeriod"/>
            </a:pP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3blue1brown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2"/>
          <p:cNvSpPr txBox="1"/>
          <p:nvPr>
            <p:ph type="ctrTitle"/>
          </p:nvPr>
        </p:nvSpPr>
        <p:spPr>
          <a:xfrm>
            <a:off x="2430013" y="207285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¡THANKS!</a:t>
            </a:r>
            <a:endParaRPr/>
          </a:p>
        </p:txBody>
      </p:sp>
      <p:pic>
        <p:nvPicPr>
          <p:cNvPr id="554" name="Google Shape;55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3060450"/>
            <a:ext cx="404812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Slides for meeting by Slidesgo">
  <a:themeElements>
    <a:clrScheme name="Simple Light">
      <a:dk1>
        <a:srgbClr val="3F4252"/>
      </a:dk1>
      <a:lt1>
        <a:srgbClr val="F5F5F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42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