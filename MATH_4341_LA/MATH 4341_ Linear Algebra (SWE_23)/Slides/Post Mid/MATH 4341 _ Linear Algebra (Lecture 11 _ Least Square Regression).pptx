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Bebas Neue"/>
      <p:regular r:id="rId29"/>
    </p:embeddedFont>
    <p:embeddedFont>
      <p:font typeface="Questrial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506B10-D1C8-4779-B420-F0D68EA2CE6D}">
  <a:tblStyle styleId="{34506B10-D1C8-4779-B420-F0D68EA2CE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Questrial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62af2df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62af2df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62af2df8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62af2df8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f4b57b03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f4b57b03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f4b57b03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2f4b57b03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62af2df8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162af2df8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f4b57b03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2f4b57b03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f4b57b032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f4b57b03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f4b57b03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f4b57b03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1d459b59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1d459b59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bf5c91c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3bf5c91c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bf5c91c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3bf5c91c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1d459b5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31d459b5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1d459b59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31d459b59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1d459b59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1d459b59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1d459b59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1d459b59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bf5c91c9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bf5c91c9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DpTBHuPtxcdSnWY3qXl6KWwnBOOuyK0w/view" TargetMode="External"/><Relationship Id="rId4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mOgBLhGfeg6uAyGDgLAq26dqsRTivibe/view" TargetMode="External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r73Vo0S8k1CNYrNYn31NDWik55OfZLKf/view" TargetMode="External"/><Relationship Id="rId4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osh80YCg_GM" TargetMode="External"/><Relationship Id="rId4" Type="http://schemas.openxmlformats.org/officeDocument/2006/relationships/hyperlink" Target="https://www.mathsisfun.com/data/least-squares-calculator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758250" y="12989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Least Square Regression</a:t>
            </a:r>
            <a:endParaRPr sz="42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Recap</a:t>
            </a:r>
            <a:endParaRPr/>
          </a:p>
        </p:txBody>
      </p:sp>
      <p:cxnSp>
        <p:nvCxnSpPr>
          <p:cNvPr id="145" name="Google Shape;145;p2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6"/>
          <p:cNvCxnSpPr/>
          <p:nvPr/>
        </p:nvCxnSpPr>
        <p:spPr>
          <a:xfrm>
            <a:off x="796700" y="3983150"/>
            <a:ext cx="262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6"/>
          <p:cNvCxnSpPr/>
          <p:nvPr/>
        </p:nvCxnSpPr>
        <p:spPr>
          <a:xfrm rot="10800000">
            <a:off x="818264" y="1715743"/>
            <a:ext cx="0" cy="226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6"/>
          <p:cNvCxnSpPr/>
          <p:nvPr/>
        </p:nvCxnSpPr>
        <p:spPr>
          <a:xfrm flipH="1" rot="10800000">
            <a:off x="827625" y="3434450"/>
            <a:ext cx="4071600" cy="543900"/>
          </a:xfrm>
          <a:prstGeom prst="straightConnector1">
            <a:avLst/>
          </a:prstGeom>
          <a:noFill/>
          <a:ln cap="flat" cmpd="sng" w="38100">
            <a:solidFill>
              <a:srgbClr val="B6D7A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6"/>
          <p:cNvCxnSpPr/>
          <p:nvPr/>
        </p:nvCxnSpPr>
        <p:spPr>
          <a:xfrm flipH="1" rot="10800000">
            <a:off x="806075" y="2276450"/>
            <a:ext cx="1265700" cy="17019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6"/>
          <p:cNvCxnSpPr/>
          <p:nvPr/>
        </p:nvCxnSpPr>
        <p:spPr>
          <a:xfrm rot="10800000">
            <a:off x="2066411" y="2298275"/>
            <a:ext cx="333900" cy="14808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6"/>
          <p:cNvSpPr txBox="1"/>
          <p:nvPr/>
        </p:nvSpPr>
        <p:spPr>
          <a:xfrm>
            <a:off x="1193875" y="2621925"/>
            <a:ext cx="333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endParaRPr b="1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528525" y="3021275"/>
            <a:ext cx="333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B6D7A8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endParaRPr b="1">
              <a:solidFill>
                <a:srgbClr val="B6D7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2321925" y="2864325"/>
            <a:ext cx="333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endParaRPr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1617975" y="3490700"/>
            <a:ext cx="333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838" y="3878375"/>
            <a:ext cx="6572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5971500" y="1724125"/>
            <a:ext cx="2051700" cy="138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6159625" y="3789860"/>
            <a:ext cx="1605000" cy="36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763" y="1846310"/>
            <a:ext cx="12287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588" y="2235660"/>
            <a:ext cx="1743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1575" y="2607160"/>
            <a:ext cx="13049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 </a:t>
            </a:r>
            <a:r>
              <a:rPr lang="es" sz="2300"/>
              <a:t>(Best Fitting Line)</a:t>
            </a:r>
            <a:endParaRPr sz="2300"/>
          </a:p>
        </p:txBody>
      </p:sp>
      <p:cxnSp>
        <p:nvCxnSpPr>
          <p:cNvPr id="166" name="Google Shape;166;p2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7" name="Google Shape;167;p27"/>
          <p:cNvGraphicFramePr/>
          <p:nvPr/>
        </p:nvGraphicFramePr>
        <p:xfrm>
          <a:off x="1104900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{34506B10-D1C8-4779-B420-F0D68EA2CE6D}</a:tableStyleId>
              </a:tblPr>
              <a:tblGrid>
                <a:gridCol w="1486700"/>
                <a:gridCol w="980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Area 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(thousand sq. ft)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Rent 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(k$)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900" y="1214875"/>
            <a:ext cx="3712450" cy="36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7"/>
          <p:cNvCxnSpPr/>
          <p:nvPr/>
        </p:nvCxnSpPr>
        <p:spPr>
          <a:xfrm flipH="1" rot="10800000">
            <a:off x="5118800" y="1447025"/>
            <a:ext cx="1008600" cy="295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0" name="Google Shape;170;p27"/>
          <p:cNvGrpSpPr/>
          <p:nvPr/>
        </p:nvGrpSpPr>
        <p:grpSpPr>
          <a:xfrm>
            <a:off x="5304687" y="3409815"/>
            <a:ext cx="219600" cy="219600"/>
            <a:chOff x="6259337" y="1749690"/>
            <a:chExt cx="219600" cy="219600"/>
          </a:xfrm>
        </p:grpSpPr>
        <p:sp>
          <p:nvSpPr>
            <p:cNvPr id="171" name="Google Shape;171;p27"/>
            <p:cNvSpPr/>
            <p:nvPr/>
          </p:nvSpPr>
          <p:spPr>
            <a:xfrm>
              <a:off x="6259337" y="1749690"/>
              <a:ext cx="219600" cy="219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6319426" y="1809780"/>
              <a:ext cx="99600" cy="9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3" name="Google Shape;173;p27"/>
          <p:cNvGrpSpPr/>
          <p:nvPr/>
        </p:nvGrpSpPr>
        <p:grpSpPr>
          <a:xfrm>
            <a:off x="5908890" y="1614853"/>
            <a:ext cx="219600" cy="219600"/>
            <a:chOff x="6259337" y="1749690"/>
            <a:chExt cx="219600" cy="219600"/>
          </a:xfrm>
        </p:grpSpPr>
        <p:sp>
          <p:nvSpPr>
            <p:cNvPr id="174" name="Google Shape;174;p27"/>
            <p:cNvSpPr/>
            <p:nvPr/>
          </p:nvSpPr>
          <p:spPr>
            <a:xfrm>
              <a:off x="6259337" y="1749690"/>
              <a:ext cx="219600" cy="219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6319426" y="1809780"/>
              <a:ext cx="99600" cy="9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6" name="Google Shape;176;p27"/>
          <p:cNvGrpSpPr/>
          <p:nvPr/>
        </p:nvGrpSpPr>
        <p:grpSpPr>
          <a:xfrm>
            <a:off x="5466057" y="2962511"/>
            <a:ext cx="219600" cy="219600"/>
            <a:chOff x="6259337" y="1749690"/>
            <a:chExt cx="219600" cy="219600"/>
          </a:xfrm>
        </p:grpSpPr>
        <p:sp>
          <p:nvSpPr>
            <p:cNvPr id="177" name="Google Shape;177;p27"/>
            <p:cNvSpPr/>
            <p:nvPr/>
          </p:nvSpPr>
          <p:spPr>
            <a:xfrm>
              <a:off x="6259337" y="1749690"/>
              <a:ext cx="219600" cy="219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6319426" y="1809780"/>
              <a:ext cx="99600" cy="9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 </a:t>
            </a:r>
            <a:r>
              <a:rPr lang="es" sz="2300"/>
              <a:t>(Best Fitting Line)</a:t>
            </a:r>
            <a:endParaRPr sz="2300"/>
          </a:p>
        </p:txBody>
      </p:sp>
      <p:cxnSp>
        <p:nvCxnSpPr>
          <p:cNvPr id="184" name="Google Shape;184;p2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5" name="Google Shape;185;p28"/>
          <p:cNvGraphicFramePr/>
          <p:nvPr/>
        </p:nvGraphicFramePr>
        <p:xfrm>
          <a:off x="1104900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{34506B10-D1C8-4779-B420-F0D68EA2CE6D}</a:tableStyleId>
              </a:tblPr>
              <a:tblGrid>
                <a:gridCol w="1486700"/>
                <a:gridCol w="980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Area 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(thousand sq. ft)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Rent 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(k$)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6" name="Google Shape;1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900" y="1214875"/>
            <a:ext cx="3712450" cy="36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28"/>
          <p:cNvGrpSpPr/>
          <p:nvPr/>
        </p:nvGrpSpPr>
        <p:grpSpPr>
          <a:xfrm>
            <a:off x="6795137" y="2214140"/>
            <a:ext cx="219600" cy="219600"/>
            <a:chOff x="6259337" y="1749690"/>
            <a:chExt cx="219600" cy="219600"/>
          </a:xfrm>
        </p:grpSpPr>
        <p:sp>
          <p:nvSpPr>
            <p:cNvPr id="188" name="Google Shape;188;p28"/>
            <p:cNvSpPr/>
            <p:nvPr/>
          </p:nvSpPr>
          <p:spPr>
            <a:xfrm>
              <a:off x="6259337" y="1749690"/>
              <a:ext cx="219600" cy="219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6319426" y="1809780"/>
              <a:ext cx="99600" cy="9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0" name="Google Shape;190;p28"/>
          <p:cNvGrpSpPr/>
          <p:nvPr/>
        </p:nvGrpSpPr>
        <p:grpSpPr>
          <a:xfrm>
            <a:off x="6199712" y="2514303"/>
            <a:ext cx="219600" cy="219600"/>
            <a:chOff x="6259337" y="1749690"/>
            <a:chExt cx="219600" cy="219600"/>
          </a:xfrm>
        </p:grpSpPr>
        <p:sp>
          <p:nvSpPr>
            <p:cNvPr id="191" name="Google Shape;191;p28"/>
            <p:cNvSpPr/>
            <p:nvPr/>
          </p:nvSpPr>
          <p:spPr>
            <a:xfrm>
              <a:off x="6259337" y="1749690"/>
              <a:ext cx="219600" cy="219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319426" y="1809780"/>
              <a:ext cx="99600" cy="9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3" name="Google Shape;193;p28"/>
          <p:cNvGrpSpPr/>
          <p:nvPr/>
        </p:nvGrpSpPr>
        <p:grpSpPr>
          <a:xfrm>
            <a:off x="5612696" y="3409009"/>
            <a:ext cx="219600" cy="219600"/>
            <a:chOff x="6259337" y="1749690"/>
            <a:chExt cx="219600" cy="219600"/>
          </a:xfrm>
        </p:grpSpPr>
        <p:sp>
          <p:nvSpPr>
            <p:cNvPr id="194" name="Google Shape;194;p28"/>
            <p:cNvSpPr/>
            <p:nvPr/>
          </p:nvSpPr>
          <p:spPr>
            <a:xfrm>
              <a:off x="6259337" y="1749690"/>
              <a:ext cx="219600" cy="219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6319426" y="1809780"/>
              <a:ext cx="99600" cy="9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96" name="Google Shape;196;p28"/>
          <p:cNvSpPr txBox="1"/>
          <p:nvPr/>
        </p:nvSpPr>
        <p:spPr>
          <a:xfrm>
            <a:off x="5939600" y="1759375"/>
            <a:ext cx="969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?</a:t>
            </a:r>
            <a:endParaRPr b="1" sz="120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 </a:t>
            </a:r>
            <a:endParaRPr sz="2300"/>
          </a:p>
        </p:txBody>
      </p:sp>
      <p:cxnSp>
        <p:nvCxnSpPr>
          <p:cNvPr id="202" name="Google Shape;202;p2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9"/>
          <p:cNvSpPr txBox="1"/>
          <p:nvPr/>
        </p:nvSpPr>
        <p:spPr>
          <a:xfrm>
            <a:off x="822250" y="1468550"/>
            <a:ext cx="5515200" cy="3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●"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Find out the best 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Fitting Line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●"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Minimize Overall Error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</a:t>
            </a:r>
            <a:endParaRPr/>
          </a:p>
        </p:txBody>
      </p:sp>
      <p:cxnSp>
        <p:nvCxnSpPr>
          <p:cNvPr id="209" name="Google Shape;209;p3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750" y="1305225"/>
            <a:ext cx="3502800" cy="333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/>
          <p:nvPr/>
        </p:nvSpPr>
        <p:spPr>
          <a:xfrm>
            <a:off x="3983477" y="1882298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3179295" y="3482498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4777454" y="3475695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4777454" y="4273073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15" name="Google Shape;215;p30"/>
          <p:cNvCxnSpPr/>
          <p:nvPr/>
        </p:nvCxnSpPr>
        <p:spPr>
          <a:xfrm flipH="1" rot="10800000">
            <a:off x="3233975" y="1930000"/>
            <a:ext cx="2394900" cy="23880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0"/>
          <p:cNvCxnSpPr/>
          <p:nvPr/>
        </p:nvCxnSpPr>
        <p:spPr>
          <a:xfrm flipH="1" rot="10800000">
            <a:off x="3229725" y="3525400"/>
            <a:ext cx="4200" cy="77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0"/>
          <p:cNvCxnSpPr/>
          <p:nvPr/>
        </p:nvCxnSpPr>
        <p:spPr>
          <a:xfrm flipH="1" rot="10800000">
            <a:off x="4026825" y="1929950"/>
            <a:ext cx="9900" cy="1590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0"/>
          <p:cNvCxnSpPr/>
          <p:nvPr/>
        </p:nvCxnSpPr>
        <p:spPr>
          <a:xfrm flipH="1" rot="10800000">
            <a:off x="4819200" y="2744925"/>
            <a:ext cx="4800" cy="157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0"/>
          <p:cNvSpPr txBox="1"/>
          <p:nvPr/>
        </p:nvSpPr>
        <p:spPr>
          <a:xfrm>
            <a:off x="3179300" y="365212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aseline="-25000" sz="12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4777450" y="294887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aseline="-25000" sz="12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4819200" y="3705400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aseline="-25000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4026825" y="211897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aseline="-25000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3" name="Google Shape;223;p30"/>
          <p:cNvCxnSpPr/>
          <p:nvPr/>
        </p:nvCxnSpPr>
        <p:spPr>
          <a:xfrm flipH="1" rot="10800000">
            <a:off x="4819200" y="2723425"/>
            <a:ext cx="4800" cy="78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31"/>
          <p:cNvGraphicFramePr/>
          <p:nvPr/>
        </p:nvGraphicFramePr>
        <p:xfrm>
          <a:off x="3023700" y="169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{34506B10-D1C8-4779-B420-F0D68EA2CE6D}</a:tableStyleId>
              </a:tblPr>
              <a:tblGrid>
                <a:gridCol w="382850"/>
                <a:gridCol w="382850"/>
                <a:gridCol w="250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y = mx+c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0.m + c = 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10.m + c = 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10.m + c = 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5.m + c = 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3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</a:t>
            </a:r>
            <a:endParaRPr/>
          </a:p>
        </p:txBody>
      </p:sp>
      <p:cxnSp>
        <p:nvCxnSpPr>
          <p:cNvPr id="230" name="Google Shape;230;p3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</a:t>
            </a:r>
            <a:endParaRPr/>
          </a:p>
        </p:txBody>
      </p:sp>
      <p:cxnSp>
        <p:nvCxnSpPr>
          <p:cNvPr id="236" name="Google Shape;236;p3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7" name="Google Shape;2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750" y="1305225"/>
            <a:ext cx="3502800" cy="333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/>
          <p:nvPr/>
        </p:nvSpPr>
        <p:spPr>
          <a:xfrm>
            <a:off x="3983477" y="1882298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3179295" y="3482498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4777454" y="3475695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4777454" y="4273073"/>
            <a:ext cx="95400" cy="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42" name="Google Shape;242;p32"/>
          <p:cNvCxnSpPr/>
          <p:nvPr/>
        </p:nvCxnSpPr>
        <p:spPr>
          <a:xfrm>
            <a:off x="3247075" y="2886675"/>
            <a:ext cx="3161400" cy="14211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2"/>
          <p:cNvCxnSpPr/>
          <p:nvPr/>
        </p:nvCxnSpPr>
        <p:spPr>
          <a:xfrm flipH="1">
            <a:off x="3233775" y="2886675"/>
            <a:ext cx="3000" cy="6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2"/>
          <p:cNvCxnSpPr>
            <a:endCxn id="240" idx="4"/>
          </p:cNvCxnSpPr>
          <p:nvPr/>
        </p:nvCxnSpPr>
        <p:spPr>
          <a:xfrm flipH="1">
            <a:off x="4825154" y="3525495"/>
            <a:ext cx="6900" cy="4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2"/>
          <p:cNvCxnSpPr/>
          <p:nvPr/>
        </p:nvCxnSpPr>
        <p:spPr>
          <a:xfrm flipH="1" rot="10800000">
            <a:off x="4034825" y="1929925"/>
            <a:ext cx="2100" cy="130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2"/>
          <p:cNvCxnSpPr>
            <a:endCxn id="240" idx="4"/>
          </p:cNvCxnSpPr>
          <p:nvPr/>
        </p:nvCxnSpPr>
        <p:spPr>
          <a:xfrm flipH="1" rot="10800000">
            <a:off x="4819154" y="3571095"/>
            <a:ext cx="6000" cy="752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32"/>
          <p:cNvSpPr txBox="1"/>
          <p:nvPr/>
        </p:nvSpPr>
        <p:spPr>
          <a:xfrm>
            <a:off x="3174100" y="296952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aseline="-25000" sz="12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5155300" y="342672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aseline="-25000" sz="12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4545700" y="373152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aseline="-25000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4012300" y="1978925"/>
            <a:ext cx="357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-25000" lang="es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aseline="-25000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</a:t>
            </a:r>
            <a:endParaRPr/>
          </a:p>
        </p:txBody>
      </p:sp>
      <p:cxnSp>
        <p:nvCxnSpPr>
          <p:cNvPr id="256" name="Google Shape;256;p3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7" name="Google Shape;257;p33"/>
          <p:cNvGraphicFramePr/>
          <p:nvPr/>
        </p:nvGraphicFramePr>
        <p:xfrm>
          <a:off x="1631475" y="138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{34506B10-D1C8-4779-B420-F0D68EA2CE6D}</a:tableStyleId>
              </a:tblPr>
              <a:tblGrid>
                <a:gridCol w="649350"/>
                <a:gridCol w="731700"/>
                <a:gridCol w="1895325"/>
                <a:gridCol w="1092125"/>
                <a:gridCol w="1092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x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mx+c - 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y – 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y – </a:t>
                      </a:r>
                      <a:r>
                        <a:rPr b="1" lang="es" sz="1100"/>
                        <a:t>(</a:t>
                      </a:r>
                      <a:r>
                        <a:rPr b="1" lang="es"/>
                        <a:t>– </a:t>
                      </a:r>
                      <a:r>
                        <a:rPr b="1" lang="es" sz="1100"/>
                        <a:t>5/11)x + (100/11)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 </a:t>
                      </a:r>
                      <a:r>
                        <a:rPr lang="es"/>
                        <a:t>– </a:t>
                      </a:r>
                      <a:r>
                        <a:rPr lang="es"/>
                        <a:t>(0.m + 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– </a:t>
                      </a:r>
                      <a:r>
                        <a:rPr lang="es"/>
                        <a:t>45/11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 – (10.m + 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– </a:t>
                      </a: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5/11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 – (10.m + 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–</a:t>
                      </a:r>
                      <a:r>
                        <a:rPr lang="e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– </a:t>
                      </a:r>
                      <a:r>
                        <a:rPr lang="es"/>
                        <a:t>50/11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15 – (5.m + c 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90/11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8" name="Google Shape;258;p33"/>
          <p:cNvGraphicFramePr/>
          <p:nvPr/>
        </p:nvGraphicFramePr>
        <p:xfrm>
          <a:off x="1631475" y="381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{34506B10-D1C8-4779-B420-F0D68EA2CE6D}</a:tableStyleId>
              </a:tblPr>
              <a:tblGrid>
                <a:gridCol w="3276375"/>
                <a:gridCol w="1092125"/>
                <a:gridCol w="1092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Sum of Squared Errors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104.5455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Least Square Regression</a:t>
            </a:r>
            <a:endParaRPr/>
          </a:p>
        </p:txBody>
      </p:sp>
      <p:cxnSp>
        <p:nvCxnSpPr>
          <p:cNvPr id="264" name="Google Shape;264;p34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4"/>
          <p:cNvSpPr txBox="1"/>
          <p:nvPr/>
        </p:nvSpPr>
        <p:spPr>
          <a:xfrm>
            <a:off x="822250" y="1468550"/>
            <a:ext cx="5515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Ways to minimize Errors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822250" y="2001950"/>
            <a:ext cx="5515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Geometric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822250" y="2382950"/>
            <a:ext cx="5515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	(Linear) Algebra [Projection]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822250" y="2763950"/>
            <a:ext cx="5515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	Calculus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Minimizing Error using Calculus</a:t>
            </a:r>
            <a:endParaRPr/>
          </a:p>
        </p:txBody>
      </p:sp>
      <p:cxnSp>
        <p:nvCxnSpPr>
          <p:cNvPr id="274" name="Google Shape;274;p3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5" name="Google Shape;2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850" y="1429150"/>
            <a:ext cx="9906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2409825"/>
            <a:ext cx="53530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475" y="1952825"/>
            <a:ext cx="21336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Minimizing Error using Calculus</a:t>
            </a:r>
            <a:endParaRPr/>
          </a:p>
        </p:txBody>
      </p:sp>
      <p:cxnSp>
        <p:nvCxnSpPr>
          <p:cNvPr id="283" name="Google Shape;283;p3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266825"/>
            <a:ext cx="53530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725" y="1777913"/>
            <a:ext cx="63436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725" y="3206525"/>
            <a:ext cx="56673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000" y="2528875"/>
            <a:ext cx="19621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000" y="3921300"/>
            <a:ext cx="16573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6"/>
          <p:cNvSpPr txBox="1"/>
          <p:nvPr/>
        </p:nvSpPr>
        <p:spPr>
          <a:xfrm>
            <a:off x="2812525" y="3901875"/>
            <a:ext cx="216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……….(ii)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2812525" y="2454075"/>
            <a:ext cx="216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……….(i)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7" title="AQNp0yQUMND_zEvSq5Wth4udKSzk7JGnvNT2WdvY0CvcERp8P2mieZy1EltoRYu_TEe7MSMyoEw_wVwJn9bPgKT4HkrLmxy0Ls9q_-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4500" y="211750"/>
            <a:ext cx="2655000" cy="4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8" title="AQPwXSIyyk0zUKvpJxwDDZoRsIXAOUoUY98t3zbV_0AhrCbiimCgxaqvPwMY9aO-tmb8CL1SGD7P3cfbPWFDTa2nn45ICjvkZT4hd1U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12" y="242875"/>
            <a:ext cx="2619975" cy="46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9" title="AQPPkR50-LLMNNLLY854Dsj9ycb7-LjGdKh_2H_hir3GhE9hajSjAuJ4ata9mRIPsW75tDamPG3e1G88JRvxm8QMWOe6rlrLYtaB6yc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063" y="270988"/>
            <a:ext cx="2329875" cy="460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825" y="544750"/>
            <a:ext cx="2788350" cy="40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/>
        </p:nvSpPr>
        <p:spPr>
          <a:xfrm>
            <a:off x="830550" y="1954750"/>
            <a:ext cx="72936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A has independent columns, A</a:t>
            </a:r>
            <a:r>
              <a:rPr baseline="30000" lang="es" sz="2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s" sz="2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is invertible.</a:t>
            </a:r>
            <a:endParaRPr sz="2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idx="8" type="title"/>
          </p:nvPr>
        </p:nvSpPr>
        <p:spPr>
          <a:xfrm>
            <a:off x="720000" y="4421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321" name="Google Shape;321;p42"/>
          <p:cNvCxnSpPr/>
          <p:nvPr/>
        </p:nvCxnSpPr>
        <p:spPr>
          <a:xfrm>
            <a:off x="802850" y="11219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42"/>
          <p:cNvSpPr txBox="1"/>
          <p:nvPr/>
        </p:nvSpPr>
        <p:spPr>
          <a:xfrm>
            <a:off x="906575" y="1272950"/>
            <a:ext cx="67170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(L16)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p42"/>
          <p:cNvSpPr txBox="1"/>
          <p:nvPr>
            <p:ph idx="8" type="title"/>
          </p:nvPr>
        </p:nvSpPr>
        <p:spPr>
          <a:xfrm>
            <a:off x="720000" y="22709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Tools</a:t>
            </a:r>
            <a:endParaRPr/>
          </a:p>
        </p:txBody>
      </p:sp>
      <p:cxnSp>
        <p:nvCxnSpPr>
          <p:cNvPr id="324" name="Google Shape;324;p42"/>
          <p:cNvCxnSpPr/>
          <p:nvPr/>
        </p:nvCxnSpPr>
        <p:spPr>
          <a:xfrm>
            <a:off x="802850" y="2950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42"/>
          <p:cNvSpPr txBox="1"/>
          <p:nvPr/>
        </p:nvSpPr>
        <p:spPr>
          <a:xfrm>
            <a:off x="906575" y="3177950"/>
            <a:ext cx="67170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Math is Fun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331" name="Google Shape;3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