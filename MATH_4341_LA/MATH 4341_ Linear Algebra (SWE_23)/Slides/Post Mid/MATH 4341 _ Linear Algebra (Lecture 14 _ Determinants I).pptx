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Bebas Neue"/>
      <p:regular r:id="rId19"/>
    </p:embeddedFont>
    <p:embeddedFont>
      <p:font typeface="Questrial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estrial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unito-regular.fntdata"/><Relationship Id="rId14" Type="http://schemas.openxmlformats.org/officeDocument/2006/relationships/slide" Target="slides/slide10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slide" Target="slides/slide1.xml"/><Relationship Id="rId19" Type="http://schemas.openxmlformats.org/officeDocument/2006/relationships/font" Target="fonts/BebasNeue-regular.fntdata"/><Relationship Id="rId6" Type="http://schemas.openxmlformats.org/officeDocument/2006/relationships/slide" Target="slides/slide2.xml"/><Relationship Id="rId18" Type="http://schemas.openxmlformats.org/officeDocument/2006/relationships/font" Target="fonts/Nuni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162af2df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162af2df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6f95f880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6f95f880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6f95f880d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6f95f880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6f95f880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36f95f880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6f95f880d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36f95f880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36f95f880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36f95f880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36f95f880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36f95f880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00ba8dc6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00ba8dc6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207fd22f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207fd22f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040075" y="1807225"/>
            <a:ext cx="4084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040075" y="3900750"/>
            <a:ext cx="4553400" cy="56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117025" y="2560625"/>
            <a:ext cx="40176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5999150" y="1075000"/>
            <a:ext cx="2135400" cy="14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b="1" sz="10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439500" y="3556833"/>
            <a:ext cx="3695400" cy="6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941825" y="1202500"/>
            <a:ext cx="7194000" cy="33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Livvic"/>
              <a:buAutoNum type="arabicPeriod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907137" y="3077720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886463" y="820194"/>
            <a:ext cx="3350400" cy="5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400">
                <a:latin typeface="Questrial"/>
                <a:ea typeface="Questrial"/>
                <a:cs typeface="Questrial"/>
                <a:sym typeface="Quest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349937" y="3565479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886463" y="1316836"/>
            <a:ext cx="29076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0000" y="445025"/>
            <a:ext cx="6070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329250" y="826025"/>
            <a:ext cx="4015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4335700" y="1602275"/>
            <a:ext cx="3813300" cy="23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3" name="Google Shape;33;p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638700" y="3202625"/>
            <a:ext cx="7866900" cy="107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" name="Google Shape;36;p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713225" y="1033212"/>
            <a:ext cx="4402200" cy="1570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713225" y="2756088"/>
            <a:ext cx="34245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740550" y="2653478"/>
            <a:ext cx="4667100" cy="129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1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33800" y="1916675"/>
            <a:ext cx="44025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605133" y="3172601"/>
            <a:ext cx="4313400" cy="713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47" name="Google Shape;47;p1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3" name="Google Shape;53;p13"/>
          <p:cNvSpPr txBox="1"/>
          <p:nvPr>
            <p:ph idx="3" type="subTitle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4" type="title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5" name="Google Shape;55;p13"/>
          <p:cNvSpPr txBox="1"/>
          <p:nvPr>
            <p:ph idx="5" type="subTitle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6" type="title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idx="7" type="subTitle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8" type="title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hasCustomPrompt="1" idx="9" type="title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13" type="title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hasCustomPrompt="1" idx="14" type="title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15" type="title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5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617850" y="1661475"/>
            <a:ext cx="3775800" cy="11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4617850" y="2916800"/>
            <a:ext cx="3775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4920400" y="2626775"/>
            <a:ext cx="33462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4920400" y="1545450"/>
            <a:ext cx="2881800" cy="69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3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0000" y="1381075"/>
            <a:ext cx="7343700" cy="31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5" name="Google Shape;75;p16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1442987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1442987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2" type="title"/>
          </p:nvPr>
        </p:nvSpPr>
        <p:spPr>
          <a:xfrm>
            <a:off x="5257513" y="3390950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" name="Google Shape;80;p17"/>
          <p:cNvSpPr txBox="1"/>
          <p:nvPr>
            <p:ph idx="3" type="subTitle"/>
          </p:nvPr>
        </p:nvSpPr>
        <p:spPr>
          <a:xfrm>
            <a:off x="5257513" y="3804248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4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17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710750" y="33800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710750" y="3785547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2" type="title"/>
          </p:nvPr>
        </p:nvSpPr>
        <p:spPr>
          <a:xfrm>
            <a:off x="710750" y="1223125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7" name="Google Shape;87;p18"/>
          <p:cNvSpPr txBox="1"/>
          <p:nvPr>
            <p:ph idx="3" type="subTitle"/>
          </p:nvPr>
        </p:nvSpPr>
        <p:spPr>
          <a:xfrm>
            <a:off x="710750" y="1627900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4" type="title"/>
          </p:nvPr>
        </p:nvSpPr>
        <p:spPr>
          <a:xfrm>
            <a:off x="710750" y="2301213"/>
            <a:ext cx="18051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" name="Google Shape;89;p18"/>
          <p:cNvSpPr txBox="1"/>
          <p:nvPr>
            <p:ph idx="5" type="subTitle"/>
          </p:nvPr>
        </p:nvSpPr>
        <p:spPr>
          <a:xfrm>
            <a:off x="710750" y="2706729"/>
            <a:ext cx="34659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6" type="title"/>
          </p:nvPr>
        </p:nvSpPr>
        <p:spPr>
          <a:xfrm>
            <a:off x="710750" y="387250"/>
            <a:ext cx="4724700" cy="77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18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772650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772650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2" type="title"/>
          </p:nvPr>
        </p:nvSpPr>
        <p:spPr>
          <a:xfrm>
            <a:off x="3291776" y="1565975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9"/>
          <p:cNvSpPr txBox="1"/>
          <p:nvPr>
            <p:ph idx="3" type="subTitle"/>
          </p:nvPr>
        </p:nvSpPr>
        <p:spPr>
          <a:xfrm>
            <a:off x="3291777" y="1979273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title"/>
          </p:nvPr>
        </p:nvSpPr>
        <p:spPr>
          <a:xfrm>
            <a:off x="772650" y="3083619"/>
            <a:ext cx="24435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9"/>
          <p:cNvSpPr txBox="1"/>
          <p:nvPr>
            <p:ph idx="5" type="subTitle"/>
          </p:nvPr>
        </p:nvSpPr>
        <p:spPr>
          <a:xfrm>
            <a:off x="772650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6" type="title"/>
          </p:nvPr>
        </p:nvSpPr>
        <p:spPr>
          <a:xfrm>
            <a:off x="3300396" y="3083619"/>
            <a:ext cx="2426400" cy="527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9"/>
          <p:cNvSpPr txBox="1"/>
          <p:nvPr>
            <p:ph idx="7" type="subTitle"/>
          </p:nvPr>
        </p:nvSpPr>
        <p:spPr>
          <a:xfrm>
            <a:off x="3291777" y="3496926"/>
            <a:ext cx="2443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" name="Google Shape;102;p19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6651929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6651929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2" type="title"/>
          </p:nvPr>
        </p:nvSpPr>
        <p:spPr>
          <a:xfrm>
            <a:off x="3876449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3876450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4" type="title"/>
          </p:nvPr>
        </p:nvSpPr>
        <p:spPr>
          <a:xfrm>
            <a:off x="3876453" y="59677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3876455" y="1023959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6" type="title"/>
          </p:nvPr>
        </p:nvSpPr>
        <p:spPr>
          <a:xfrm>
            <a:off x="3876449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3876450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8" type="title"/>
          </p:nvPr>
        </p:nvSpPr>
        <p:spPr>
          <a:xfrm>
            <a:off x="6651925" y="2061850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3" name="Google Shape;113;p20"/>
          <p:cNvSpPr txBox="1"/>
          <p:nvPr>
            <p:ph idx="9" type="subTitle"/>
          </p:nvPr>
        </p:nvSpPr>
        <p:spPr>
          <a:xfrm>
            <a:off x="6651925" y="2489034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3" type="title"/>
          </p:nvPr>
        </p:nvSpPr>
        <p:spPr>
          <a:xfrm>
            <a:off x="6651925" y="3526925"/>
            <a:ext cx="18123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5" name="Google Shape;115;p20"/>
          <p:cNvSpPr txBox="1"/>
          <p:nvPr>
            <p:ph idx="14" type="subTitle"/>
          </p:nvPr>
        </p:nvSpPr>
        <p:spPr>
          <a:xfrm>
            <a:off x="6651925" y="3947167"/>
            <a:ext cx="1812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5" type="title"/>
          </p:nvPr>
        </p:nvSpPr>
        <p:spPr>
          <a:xfrm>
            <a:off x="796200" y="2024325"/>
            <a:ext cx="2117100" cy="95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7" name="Google Shape;117;p20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hasCustomPrompt="1" type="title"/>
          </p:nvPr>
        </p:nvSpPr>
        <p:spPr>
          <a:xfrm>
            <a:off x="1055400" y="983350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0" name="Google Shape;120;p21"/>
          <p:cNvSpPr txBox="1"/>
          <p:nvPr>
            <p:ph idx="1" type="subTitle"/>
          </p:nvPr>
        </p:nvSpPr>
        <p:spPr>
          <a:xfrm>
            <a:off x="1055400" y="1811650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hasCustomPrompt="1" idx="2" type="title"/>
          </p:nvPr>
        </p:nvSpPr>
        <p:spPr>
          <a:xfrm>
            <a:off x="1055400" y="2605127"/>
            <a:ext cx="3859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1"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22" name="Google Shape;122;p21"/>
          <p:cNvSpPr txBox="1"/>
          <p:nvPr>
            <p:ph idx="3" type="subTitle"/>
          </p:nvPr>
        </p:nvSpPr>
        <p:spPr>
          <a:xfrm>
            <a:off x="1055400" y="3433423"/>
            <a:ext cx="4327200" cy="540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42424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 txBox="1"/>
          <p:nvPr>
            <p:ph type="ctrTitle"/>
          </p:nvPr>
        </p:nvSpPr>
        <p:spPr>
          <a:xfrm>
            <a:off x="2429950" y="499475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3265350" y="1502417"/>
            <a:ext cx="2613300" cy="12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8" name="Google Shape;128;p22"/>
          <p:cNvSpPr txBox="1"/>
          <p:nvPr>
            <p:ph idx="2" type="subTitle"/>
          </p:nvPr>
        </p:nvSpPr>
        <p:spPr>
          <a:xfrm>
            <a:off x="2425000" y="4124521"/>
            <a:ext cx="4293900" cy="4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3434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22"/>
          <p:cNvSpPr txBox="1"/>
          <p:nvPr/>
        </p:nvSpPr>
        <p:spPr>
          <a:xfrm>
            <a:off x="2730325" y="3416238"/>
            <a:ext cx="3705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CRÉDITOS: Esta plantilla de presentación fue creada por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que incluye iconos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, infografías e imágenes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s" sz="10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 e ilustraciones de </a:t>
            </a:r>
            <a:r>
              <a:rPr lang="es" sz="1000">
                <a:solidFill>
                  <a:srgbClr val="434343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estrial"/>
              <a:buNone/>
              <a:defRPr sz="3000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youtu.be/srxexLishgY?feature=share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ctrTitle"/>
          </p:nvPr>
        </p:nvSpPr>
        <p:spPr>
          <a:xfrm>
            <a:off x="758250" y="1298900"/>
            <a:ext cx="7627500" cy="19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200"/>
              <a:t>Determinants (I)</a:t>
            </a:r>
            <a:endParaRPr sz="4200"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s" sz="2500">
                <a:latin typeface="Nunito"/>
                <a:ea typeface="Nunito"/>
                <a:cs typeface="Nunito"/>
                <a:sym typeface="Nunito"/>
              </a:rPr>
              <a:t>MATH 4341 : Linear Algebra</a:t>
            </a:r>
            <a:endParaRPr b="0" sz="2500">
              <a:solidFill>
                <a:schemeClr val="accen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1139550" y="3125700"/>
            <a:ext cx="6864900" cy="5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Aashnan Rahman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Junior Lecturer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Department of Computer Science and Engineering (CSE</a:t>
            </a:r>
            <a:r>
              <a:rPr lang="es" sz="1300"/>
              <a:t>)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/>
              <a:t>Islamic University of Technology</a:t>
            </a:r>
            <a:endParaRPr sz="1300"/>
          </a:p>
        </p:txBody>
      </p:sp>
      <p:cxnSp>
        <p:nvCxnSpPr>
          <p:cNvPr id="139" name="Google Shape;139;p25"/>
          <p:cNvCxnSpPr/>
          <p:nvPr/>
        </p:nvCxnSpPr>
        <p:spPr>
          <a:xfrm>
            <a:off x="2608341" y="2934643"/>
            <a:ext cx="3927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Determinants</a:t>
            </a:r>
            <a:endParaRPr b="1"/>
          </a:p>
        </p:txBody>
      </p:sp>
      <p:cxnSp>
        <p:nvCxnSpPr>
          <p:cNvPr id="145" name="Google Shape;145;p26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6"/>
          <p:cNvSpPr txBox="1"/>
          <p:nvPr/>
        </p:nvSpPr>
        <p:spPr>
          <a:xfrm>
            <a:off x="833025" y="1409300"/>
            <a:ext cx="74952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Tool to measure exactly how much things are stretched out or squeezed in.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4392175" y="2545689"/>
            <a:ext cx="1202700" cy="918900"/>
          </a:xfrm>
          <a:prstGeom prst="bracketPair">
            <a:avLst/>
          </a:prstGeom>
          <a:noFill/>
          <a:ln cap="flat" cmpd="sng" w="28575">
            <a:solidFill>
              <a:srgbClr val="3F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4496608" y="2536975"/>
            <a:ext cx="1045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 5</a:t>
            </a:r>
            <a:r>
              <a:rPr b="1" lang="es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      0</a:t>
            </a:r>
            <a:endParaRPr b="1" sz="2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 0      3</a:t>
            </a:r>
            <a:endParaRPr b="1" sz="2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3536325" y="2735900"/>
            <a:ext cx="7053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 =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3695325" y="3913100"/>
            <a:ext cx="17706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 (A)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 = 15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Determinants</a:t>
            </a:r>
            <a:endParaRPr b="1"/>
          </a:p>
        </p:txBody>
      </p:sp>
      <p:cxnSp>
        <p:nvCxnSpPr>
          <p:cNvPr id="156" name="Google Shape;156;p27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27"/>
          <p:cNvSpPr/>
          <p:nvPr/>
        </p:nvSpPr>
        <p:spPr>
          <a:xfrm>
            <a:off x="1823300" y="1396889"/>
            <a:ext cx="1202700" cy="918900"/>
          </a:xfrm>
          <a:prstGeom prst="bracketPair">
            <a:avLst/>
          </a:prstGeom>
          <a:noFill/>
          <a:ln cap="flat" cmpd="sng" w="28575">
            <a:solidFill>
              <a:srgbClr val="3F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1927733" y="1388175"/>
            <a:ext cx="1045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 5      0</a:t>
            </a:r>
            <a:endParaRPr b="1" sz="2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 0      3</a:t>
            </a:r>
            <a:endParaRPr b="1" sz="2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" name="Google Shape;159;p27"/>
          <p:cNvSpPr/>
          <p:nvPr/>
        </p:nvSpPr>
        <p:spPr>
          <a:xfrm>
            <a:off x="3142025" y="1401250"/>
            <a:ext cx="515700" cy="918900"/>
          </a:xfrm>
          <a:prstGeom prst="bracketPair">
            <a:avLst/>
          </a:prstGeom>
          <a:noFill/>
          <a:ln cap="flat" cmpd="sng" w="28575">
            <a:solidFill>
              <a:srgbClr val="3F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3214751" y="1392525"/>
            <a:ext cx="366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1      1</a:t>
            </a:r>
            <a:endParaRPr b="1" sz="2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" name="Google Shape;161;p27"/>
          <p:cNvSpPr/>
          <p:nvPr/>
        </p:nvSpPr>
        <p:spPr>
          <a:xfrm>
            <a:off x="5506025" y="1401263"/>
            <a:ext cx="665100" cy="918900"/>
          </a:xfrm>
          <a:prstGeom prst="bracketPair">
            <a:avLst/>
          </a:prstGeom>
          <a:noFill/>
          <a:ln cap="flat" cmpd="sng" w="28575">
            <a:solidFill>
              <a:srgbClr val="3F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" name="Google Shape;162;p27"/>
          <p:cNvSpPr txBox="1"/>
          <p:nvPr/>
        </p:nvSpPr>
        <p:spPr>
          <a:xfrm>
            <a:off x="5654950" y="1392550"/>
            <a:ext cx="4386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0       3</a:t>
            </a:r>
            <a:endParaRPr b="1" sz="2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4893856" y="1577775"/>
            <a:ext cx="2760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 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4210625" y="1401263"/>
            <a:ext cx="665100" cy="918900"/>
          </a:xfrm>
          <a:prstGeom prst="bracketPair">
            <a:avLst/>
          </a:prstGeom>
          <a:noFill/>
          <a:ln cap="flat" cmpd="sng" w="28575">
            <a:solidFill>
              <a:srgbClr val="3F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4359550" y="1392550"/>
            <a:ext cx="4386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5       0</a:t>
            </a:r>
            <a:endParaRPr b="1" sz="2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6" name="Google Shape;166;p27"/>
          <p:cNvSpPr txBox="1"/>
          <p:nvPr/>
        </p:nvSpPr>
        <p:spPr>
          <a:xfrm>
            <a:off x="3750788" y="1577775"/>
            <a:ext cx="3669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6877625" y="1401263"/>
            <a:ext cx="665100" cy="918900"/>
          </a:xfrm>
          <a:prstGeom prst="bracketPair">
            <a:avLst/>
          </a:prstGeom>
          <a:noFill/>
          <a:ln cap="flat" cmpd="sng" w="28575">
            <a:solidFill>
              <a:srgbClr val="3F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7026550" y="1392550"/>
            <a:ext cx="4386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5       3</a:t>
            </a:r>
            <a:endParaRPr b="1" sz="2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6493988" y="1577775"/>
            <a:ext cx="3669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=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5122456" y="1577775"/>
            <a:ext cx="2760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+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6189256" y="1577775"/>
            <a:ext cx="2760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1  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2" name="Google Shape;172;p27"/>
          <p:cNvPicPr preferRelativeResize="0"/>
          <p:nvPr/>
        </p:nvPicPr>
        <p:blipFill rotWithShape="1">
          <a:blip r:embed="rId3">
            <a:alphaModFix/>
          </a:blip>
          <a:srcRect b="0" l="0" r="38325" t="38860"/>
          <a:stretch/>
        </p:blipFill>
        <p:spPr>
          <a:xfrm>
            <a:off x="1877000" y="2538600"/>
            <a:ext cx="2390800" cy="23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 rotWithShape="1">
          <a:blip r:embed="rId3">
            <a:alphaModFix/>
          </a:blip>
          <a:srcRect b="0" l="0" r="38325" t="38860"/>
          <a:stretch/>
        </p:blipFill>
        <p:spPr>
          <a:xfrm>
            <a:off x="4892950" y="2538600"/>
            <a:ext cx="2390800" cy="237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7"/>
          <p:cNvCxnSpPr/>
          <p:nvPr/>
        </p:nvCxnSpPr>
        <p:spPr>
          <a:xfrm flipH="1" rot="10800000">
            <a:off x="2567250" y="3967450"/>
            <a:ext cx="280200" cy="28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7"/>
          <p:cNvCxnSpPr/>
          <p:nvPr/>
        </p:nvCxnSpPr>
        <p:spPr>
          <a:xfrm>
            <a:off x="2036650" y="3966798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7"/>
          <p:cNvCxnSpPr/>
          <p:nvPr/>
        </p:nvCxnSpPr>
        <p:spPr>
          <a:xfrm rot="10800000">
            <a:off x="2847450" y="4560750"/>
            <a:ext cx="0" cy="1824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7"/>
          <p:cNvCxnSpPr/>
          <p:nvPr/>
        </p:nvCxnSpPr>
        <p:spPr>
          <a:xfrm>
            <a:off x="5059725" y="3370770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7"/>
          <p:cNvCxnSpPr/>
          <p:nvPr/>
        </p:nvCxnSpPr>
        <p:spPr>
          <a:xfrm rot="10800000">
            <a:off x="6958675" y="4583900"/>
            <a:ext cx="0" cy="1824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7"/>
          <p:cNvCxnSpPr/>
          <p:nvPr/>
        </p:nvCxnSpPr>
        <p:spPr>
          <a:xfrm flipH="1" rot="10800000">
            <a:off x="5547225" y="3426250"/>
            <a:ext cx="1416300" cy="821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Determinants</a:t>
            </a:r>
            <a:endParaRPr b="1"/>
          </a:p>
        </p:txBody>
      </p:sp>
      <p:cxnSp>
        <p:nvCxnSpPr>
          <p:cNvPr id="185" name="Google Shape;185;p28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28"/>
          <p:cNvSpPr/>
          <p:nvPr/>
        </p:nvSpPr>
        <p:spPr>
          <a:xfrm>
            <a:off x="3894450" y="1222764"/>
            <a:ext cx="1202700" cy="918900"/>
          </a:xfrm>
          <a:prstGeom prst="bracketPair">
            <a:avLst/>
          </a:prstGeom>
          <a:noFill/>
          <a:ln cap="flat" cmpd="sng" w="28575">
            <a:solidFill>
              <a:srgbClr val="3F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3998883" y="1214050"/>
            <a:ext cx="1045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 5      0</a:t>
            </a:r>
            <a:endParaRPr b="1" sz="2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 0      3</a:t>
            </a:r>
            <a:endParaRPr b="1" sz="2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3157236" y="1408613"/>
            <a:ext cx="32802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</a:t>
            </a:r>
            <a:r>
              <a:rPr b="1" lang="es" sz="2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(                    ) = 15</a:t>
            </a:r>
            <a:endParaRPr b="1"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4130950" y="1240150"/>
            <a:ext cx="4386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 rotWithShape="1">
          <a:blip r:embed="rId3">
            <a:alphaModFix/>
          </a:blip>
          <a:srcRect b="0" l="0" r="38325" t="38860"/>
          <a:stretch/>
        </p:blipFill>
        <p:spPr>
          <a:xfrm>
            <a:off x="1877000" y="2538600"/>
            <a:ext cx="2390800" cy="23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 rotWithShape="1">
          <a:blip r:embed="rId3">
            <a:alphaModFix/>
          </a:blip>
          <a:srcRect b="0" l="0" r="38325" t="38860"/>
          <a:stretch/>
        </p:blipFill>
        <p:spPr>
          <a:xfrm>
            <a:off x="4892950" y="2538600"/>
            <a:ext cx="2390800" cy="237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28"/>
          <p:cNvCxnSpPr/>
          <p:nvPr/>
        </p:nvCxnSpPr>
        <p:spPr>
          <a:xfrm flipH="1" rot="10800000">
            <a:off x="2567250" y="3967450"/>
            <a:ext cx="280200" cy="28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8"/>
          <p:cNvCxnSpPr/>
          <p:nvPr/>
        </p:nvCxnSpPr>
        <p:spPr>
          <a:xfrm>
            <a:off x="2036650" y="3966798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28"/>
          <p:cNvCxnSpPr/>
          <p:nvPr/>
        </p:nvCxnSpPr>
        <p:spPr>
          <a:xfrm rot="10800000">
            <a:off x="2847450" y="4560750"/>
            <a:ext cx="0" cy="1824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8"/>
          <p:cNvCxnSpPr/>
          <p:nvPr/>
        </p:nvCxnSpPr>
        <p:spPr>
          <a:xfrm>
            <a:off x="5059725" y="3393835"/>
            <a:ext cx="1830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8"/>
          <p:cNvCxnSpPr/>
          <p:nvPr/>
        </p:nvCxnSpPr>
        <p:spPr>
          <a:xfrm rot="10800000">
            <a:off x="6958675" y="4583900"/>
            <a:ext cx="0" cy="1824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8"/>
          <p:cNvCxnSpPr/>
          <p:nvPr/>
        </p:nvCxnSpPr>
        <p:spPr>
          <a:xfrm flipH="1" rot="10800000">
            <a:off x="5547225" y="3693550"/>
            <a:ext cx="1395000" cy="554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8"/>
          <p:cNvSpPr txBox="1"/>
          <p:nvPr/>
        </p:nvSpPr>
        <p:spPr>
          <a:xfrm>
            <a:off x="660575" y="3150650"/>
            <a:ext cx="10455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area = 1</a:t>
            </a:r>
            <a:endParaRPr b="1"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2561736" y="3956667"/>
            <a:ext cx="280200" cy="2802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7518575" y="3150650"/>
            <a:ext cx="1274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area* = 15</a:t>
            </a:r>
            <a:endParaRPr b="1" sz="17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5579375" y="3383375"/>
            <a:ext cx="1405500" cy="8535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7289975" y="3531650"/>
            <a:ext cx="16392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area* = 15 area</a:t>
            </a:r>
            <a:endParaRPr b="1" sz="1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9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Determinants</a:t>
            </a:r>
            <a:endParaRPr b="1"/>
          </a:p>
        </p:txBody>
      </p:sp>
      <p:cxnSp>
        <p:nvCxnSpPr>
          <p:cNvPr id="208" name="Google Shape;208;p29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9"/>
          <p:cNvSpPr txBox="1"/>
          <p:nvPr/>
        </p:nvSpPr>
        <p:spPr>
          <a:xfrm>
            <a:off x="833025" y="1409300"/>
            <a:ext cx="74952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very 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special factor 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by which linear transformation changes any region is the </a:t>
            </a:r>
            <a:r>
              <a:rPr b="1" lang="es" sz="18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determinant</a:t>
            </a: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833025" y="2552300"/>
            <a:ext cx="74952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Square Matrix represented by a single number.</a:t>
            </a:r>
            <a:endParaRPr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Determinants (cases)</a:t>
            </a:r>
            <a:endParaRPr b="1"/>
          </a:p>
        </p:txBody>
      </p:sp>
      <p:cxnSp>
        <p:nvCxnSpPr>
          <p:cNvPr id="216" name="Google Shape;216;p30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30"/>
          <p:cNvSpPr txBox="1"/>
          <p:nvPr/>
        </p:nvSpPr>
        <p:spPr>
          <a:xfrm>
            <a:off x="833025" y="1256900"/>
            <a:ext cx="749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9900FF"/>
                </a:solidFill>
                <a:latin typeface="Nunito"/>
                <a:ea typeface="Nunito"/>
                <a:cs typeface="Nunito"/>
                <a:sym typeface="Nunito"/>
              </a:rPr>
              <a:t>Scaling</a:t>
            </a:r>
            <a:endParaRPr b="1" sz="2100">
              <a:solidFill>
                <a:srgbClr val="99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833025" y="1866500"/>
            <a:ext cx="1963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AutoNum type="arabicPeriod"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|det(A)| &gt; 1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1158375" y="2374875"/>
            <a:ext cx="1313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Stretched</a:t>
            </a:r>
            <a:endParaRPr b="1" sz="1800">
              <a:solidFill>
                <a:srgbClr val="A64D7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20" name="Google Shape;220;p30"/>
          <p:cNvCxnSpPr/>
          <p:nvPr/>
        </p:nvCxnSpPr>
        <p:spPr>
          <a:xfrm>
            <a:off x="1737325" y="3150025"/>
            <a:ext cx="0" cy="146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30"/>
          <p:cNvCxnSpPr/>
          <p:nvPr/>
        </p:nvCxnSpPr>
        <p:spPr>
          <a:xfrm>
            <a:off x="1125225" y="3883075"/>
            <a:ext cx="11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30"/>
          <p:cNvCxnSpPr/>
          <p:nvPr/>
        </p:nvCxnSpPr>
        <p:spPr>
          <a:xfrm flipH="1" rot="10800000">
            <a:off x="1738775" y="3200000"/>
            <a:ext cx="573600" cy="698100"/>
          </a:xfrm>
          <a:prstGeom prst="straightConnector1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3" name="Google Shape;223;p30"/>
          <p:cNvCxnSpPr/>
          <p:nvPr/>
        </p:nvCxnSpPr>
        <p:spPr>
          <a:xfrm flipH="1" rot="10800000">
            <a:off x="1743750" y="3578950"/>
            <a:ext cx="259200" cy="304200"/>
          </a:xfrm>
          <a:prstGeom prst="straightConnector1">
            <a:avLst/>
          </a:prstGeom>
          <a:noFill/>
          <a:ln cap="flat" cmpd="sng" w="19050">
            <a:solidFill>
              <a:srgbClr val="FFC8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4" name="Google Shape;224;p30"/>
          <p:cNvSpPr txBox="1"/>
          <p:nvPr/>
        </p:nvSpPr>
        <p:spPr>
          <a:xfrm>
            <a:off x="3652425" y="1866500"/>
            <a:ext cx="1963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2.	|</a:t>
            </a: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det(A)| &lt; 1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3977775" y="2374875"/>
            <a:ext cx="1313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Squeezed</a:t>
            </a:r>
            <a:endParaRPr b="1" sz="1800">
              <a:solidFill>
                <a:srgbClr val="A64D7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26" name="Google Shape;226;p30"/>
          <p:cNvCxnSpPr/>
          <p:nvPr/>
        </p:nvCxnSpPr>
        <p:spPr>
          <a:xfrm>
            <a:off x="4556725" y="3150025"/>
            <a:ext cx="0" cy="146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3944625" y="3883075"/>
            <a:ext cx="11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/>
          <p:nvPr/>
        </p:nvCxnSpPr>
        <p:spPr>
          <a:xfrm flipH="1" rot="10800000">
            <a:off x="4558175" y="3200000"/>
            <a:ext cx="573600" cy="698100"/>
          </a:xfrm>
          <a:prstGeom prst="straightConnector1">
            <a:avLst/>
          </a:prstGeom>
          <a:noFill/>
          <a:ln cap="flat" cmpd="sng" w="19050">
            <a:solidFill>
              <a:srgbClr val="FFC8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" name="Google Shape;229;p30"/>
          <p:cNvCxnSpPr/>
          <p:nvPr/>
        </p:nvCxnSpPr>
        <p:spPr>
          <a:xfrm flipH="1" rot="10800000">
            <a:off x="4563150" y="3578950"/>
            <a:ext cx="259200" cy="30420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0" name="Google Shape;230;p30"/>
          <p:cNvSpPr txBox="1"/>
          <p:nvPr/>
        </p:nvSpPr>
        <p:spPr>
          <a:xfrm>
            <a:off x="6395625" y="1866500"/>
            <a:ext cx="1963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3.	|det(A)| = 1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6720975" y="2374875"/>
            <a:ext cx="1313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Same</a:t>
            </a:r>
            <a:endParaRPr b="1" sz="1800">
              <a:solidFill>
                <a:srgbClr val="A64D7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32" name="Google Shape;232;p30"/>
          <p:cNvCxnSpPr/>
          <p:nvPr/>
        </p:nvCxnSpPr>
        <p:spPr>
          <a:xfrm>
            <a:off x="7413175" y="3063850"/>
            <a:ext cx="0" cy="146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0"/>
          <p:cNvCxnSpPr/>
          <p:nvPr/>
        </p:nvCxnSpPr>
        <p:spPr>
          <a:xfrm>
            <a:off x="6801075" y="3796900"/>
            <a:ext cx="11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0"/>
          <p:cNvCxnSpPr/>
          <p:nvPr/>
        </p:nvCxnSpPr>
        <p:spPr>
          <a:xfrm flipH="1" rot="10800000">
            <a:off x="7414625" y="3113825"/>
            <a:ext cx="573600" cy="698100"/>
          </a:xfrm>
          <a:prstGeom prst="straightConnector1">
            <a:avLst/>
          </a:prstGeom>
          <a:noFill/>
          <a:ln cap="flat" cmpd="sng" w="19050">
            <a:solidFill>
              <a:srgbClr val="FFC8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5" name="Google Shape;235;p30"/>
          <p:cNvCxnSpPr/>
          <p:nvPr/>
        </p:nvCxnSpPr>
        <p:spPr>
          <a:xfrm flipH="1" rot="10800000">
            <a:off x="7419600" y="3138175"/>
            <a:ext cx="533400" cy="65880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Determinants (cases)</a:t>
            </a:r>
            <a:endParaRPr b="1"/>
          </a:p>
        </p:txBody>
      </p:sp>
      <p:cxnSp>
        <p:nvCxnSpPr>
          <p:cNvPr id="241" name="Google Shape;241;p31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31"/>
          <p:cNvSpPr txBox="1"/>
          <p:nvPr/>
        </p:nvSpPr>
        <p:spPr>
          <a:xfrm>
            <a:off x="833025" y="1256900"/>
            <a:ext cx="749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9900FF"/>
                </a:solidFill>
                <a:latin typeface="Nunito"/>
                <a:ea typeface="Nunito"/>
                <a:cs typeface="Nunito"/>
                <a:sym typeface="Nunito"/>
              </a:rPr>
              <a:t>Orientation</a:t>
            </a:r>
            <a:endParaRPr b="1" sz="2100">
              <a:solidFill>
                <a:srgbClr val="99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833025" y="1866500"/>
            <a:ext cx="1963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AutoNum type="arabicPeriod"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det(A) &gt; 0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1082175" y="2298675"/>
            <a:ext cx="15273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Same direction</a:t>
            </a:r>
            <a:endParaRPr b="1" sz="1800">
              <a:solidFill>
                <a:srgbClr val="A64D7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45" name="Google Shape;245;p31"/>
          <p:cNvCxnSpPr/>
          <p:nvPr/>
        </p:nvCxnSpPr>
        <p:spPr>
          <a:xfrm>
            <a:off x="1737325" y="3150025"/>
            <a:ext cx="0" cy="146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1"/>
          <p:cNvCxnSpPr/>
          <p:nvPr/>
        </p:nvCxnSpPr>
        <p:spPr>
          <a:xfrm>
            <a:off x="1125225" y="3883075"/>
            <a:ext cx="11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1"/>
          <p:cNvCxnSpPr/>
          <p:nvPr/>
        </p:nvCxnSpPr>
        <p:spPr>
          <a:xfrm flipH="1" rot="10800000">
            <a:off x="1738775" y="3200000"/>
            <a:ext cx="573600" cy="698100"/>
          </a:xfrm>
          <a:prstGeom prst="straightConnector1">
            <a:avLst/>
          </a:prstGeom>
          <a:noFill/>
          <a:ln cap="flat" cmpd="sng" w="19050">
            <a:solidFill>
              <a:srgbClr val="3D85C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8" name="Google Shape;248;p31"/>
          <p:cNvCxnSpPr/>
          <p:nvPr/>
        </p:nvCxnSpPr>
        <p:spPr>
          <a:xfrm flipH="1" rot="10800000">
            <a:off x="1743750" y="3578950"/>
            <a:ext cx="259200" cy="304200"/>
          </a:xfrm>
          <a:prstGeom prst="straightConnector1">
            <a:avLst/>
          </a:prstGeom>
          <a:noFill/>
          <a:ln cap="flat" cmpd="sng" w="19050">
            <a:solidFill>
              <a:srgbClr val="FFC8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9" name="Google Shape;249;p31"/>
          <p:cNvSpPr txBox="1"/>
          <p:nvPr/>
        </p:nvSpPr>
        <p:spPr>
          <a:xfrm>
            <a:off x="3652425" y="1866500"/>
            <a:ext cx="1963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2.	det(A) &lt; 0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4053975" y="2374875"/>
            <a:ext cx="1313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Reversed</a:t>
            </a:r>
            <a:endParaRPr b="1" sz="1800">
              <a:solidFill>
                <a:srgbClr val="A64D7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51" name="Google Shape;251;p31"/>
          <p:cNvCxnSpPr/>
          <p:nvPr/>
        </p:nvCxnSpPr>
        <p:spPr>
          <a:xfrm>
            <a:off x="4556725" y="3150025"/>
            <a:ext cx="0" cy="146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1"/>
          <p:cNvCxnSpPr/>
          <p:nvPr/>
        </p:nvCxnSpPr>
        <p:spPr>
          <a:xfrm>
            <a:off x="3944625" y="3883075"/>
            <a:ext cx="11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31"/>
          <p:cNvCxnSpPr/>
          <p:nvPr/>
        </p:nvCxnSpPr>
        <p:spPr>
          <a:xfrm flipH="1" rot="10800000">
            <a:off x="4558175" y="3200000"/>
            <a:ext cx="573600" cy="698100"/>
          </a:xfrm>
          <a:prstGeom prst="straightConnector1">
            <a:avLst/>
          </a:prstGeom>
          <a:noFill/>
          <a:ln cap="flat" cmpd="sng" w="19050">
            <a:solidFill>
              <a:srgbClr val="FFC8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4" name="Google Shape;254;p31"/>
          <p:cNvCxnSpPr/>
          <p:nvPr/>
        </p:nvCxnSpPr>
        <p:spPr>
          <a:xfrm flipH="1">
            <a:off x="4274550" y="3883150"/>
            <a:ext cx="288600" cy="310800"/>
          </a:xfrm>
          <a:prstGeom prst="straightConnector1">
            <a:avLst/>
          </a:prstGeom>
          <a:noFill/>
          <a:ln cap="flat" cmpd="sng" w="19050">
            <a:solidFill>
              <a:srgbClr val="6D9EEB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5" name="Google Shape;255;p31"/>
          <p:cNvSpPr txBox="1"/>
          <p:nvPr/>
        </p:nvSpPr>
        <p:spPr>
          <a:xfrm>
            <a:off x="6395625" y="1866500"/>
            <a:ext cx="1963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3.	det(A) = 0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6720975" y="2374875"/>
            <a:ext cx="1313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Deformed</a:t>
            </a:r>
            <a:endParaRPr b="1" sz="1800">
              <a:solidFill>
                <a:srgbClr val="A64D7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/>
          <p:nvPr>
            <p:ph idx="8" type="title"/>
          </p:nvPr>
        </p:nvSpPr>
        <p:spPr>
          <a:xfrm>
            <a:off x="720000" y="365925"/>
            <a:ext cx="787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Determinants (cases)</a:t>
            </a:r>
            <a:endParaRPr b="1"/>
          </a:p>
        </p:txBody>
      </p:sp>
      <p:cxnSp>
        <p:nvCxnSpPr>
          <p:cNvPr id="262" name="Google Shape;262;p32"/>
          <p:cNvCxnSpPr/>
          <p:nvPr/>
        </p:nvCxnSpPr>
        <p:spPr>
          <a:xfrm>
            <a:off x="802850" y="1121926"/>
            <a:ext cx="7525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32"/>
          <p:cNvSpPr txBox="1"/>
          <p:nvPr/>
        </p:nvSpPr>
        <p:spPr>
          <a:xfrm>
            <a:off x="833025" y="1256900"/>
            <a:ext cx="749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9900FF"/>
                </a:solidFill>
                <a:latin typeface="Nunito"/>
                <a:ea typeface="Nunito"/>
                <a:cs typeface="Nunito"/>
                <a:sym typeface="Nunito"/>
              </a:rPr>
              <a:t>Shapes</a:t>
            </a:r>
            <a:endParaRPr b="1" sz="2100">
              <a:solidFill>
                <a:srgbClr val="99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4" name="Google Shape;264;p32"/>
          <p:cNvSpPr txBox="1"/>
          <p:nvPr/>
        </p:nvSpPr>
        <p:spPr>
          <a:xfrm>
            <a:off x="833025" y="1866500"/>
            <a:ext cx="1963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AutoNum type="arabicPeriod"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2D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5" name="Google Shape;265;p32"/>
          <p:cNvSpPr txBox="1"/>
          <p:nvPr/>
        </p:nvSpPr>
        <p:spPr>
          <a:xfrm>
            <a:off x="1158375" y="2374875"/>
            <a:ext cx="1313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Area</a:t>
            </a:r>
            <a:endParaRPr b="1" sz="1800">
              <a:solidFill>
                <a:srgbClr val="A64D7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66" name="Google Shape;266;p32"/>
          <p:cNvCxnSpPr/>
          <p:nvPr/>
        </p:nvCxnSpPr>
        <p:spPr>
          <a:xfrm>
            <a:off x="1737325" y="3150025"/>
            <a:ext cx="0" cy="146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2"/>
          <p:cNvCxnSpPr/>
          <p:nvPr/>
        </p:nvCxnSpPr>
        <p:spPr>
          <a:xfrm>
            <a:off x="1125225" y="3883075"/>
            <a:ext cx="11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32"/>
          <p:cNvSpPr txBox="1"/>
          <p:nvPr/>
        </p:nvSpPr>
        <p:spPr>
          <a:xfrm>
            <a:off x="3652425" y="1866500"/>
            <a:ext cx="19638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2.	3D</a:t>
            </a:r>
            <a:endParaRPr b="1" sz="1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3977775" y="2374875"/>
            <a:ext cx="1313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A64D79"/>
                </a:solidFill>
                <a:latin typeface="Nunito"/>
                <a:ea typeface="Nunito"/>
                <a:cs typeface="Nunito"/>
                <a:sym typeface="Nunito"/>
              </a:rPr>
              <a:t>Volume</a:t>
            </a:r>
            <a:endParaRPr b="1" sz="1800">
              <a:solidFill>
                <a:srgbClr val="A64D7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1748618" y="3251278"/>
            <a:ext cx="538500" cy="621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1" name="Google Shape;271;p32"/>
          <p:cNvSpPr/>
          <p:nvPr/>
        </p:nvSpPr>
        <p:spPr>
          <a:xfrm>
            <a:off x="1748622" y="3524351"/>
            <a:ext cx="310800" cy="3480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72" name="Google Shape;2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918" y="3003025"/>
            <a:ext cx="329565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idx="8" type="title"/>
          </p:nvPr>
        </p:nvSpPr>
        <p:spPr>
          <a:xfrm>
            <a:off x="720000" y="365925"/>
            <a:ext cx="306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References</a:t>
            </a:r>
            <a:endParaRPr/>
          </a:p>
        </p:txBody>
      </p:sp>
      <p:cxnSp>
        <p:nvCxnSpPr>
          <p:cNvPr id="278" name="Google Shape;278;p33"/>
          <p:cNvCxnSpPr/>
          <p:nvPr/>
        </p:nvCxnSpPr>
        <p:spPr>
          <a:xfrm>
            <a:off x="802850" y="1045726"/>
            <a:ext cx="24171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p33"/>
          <p:cNvSpPr txBox="1"/>
          <p:nvPr/>
        </p:nvSpPr>
        <p:spPr>
          <a:xfrm>
            <a:off x="906575" y="1272950"/>
            <a:ext cx="6717000" cy="25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unito"/>
              <a:buAutoNum type="arabicPeriod"/>
            </a:pPr>
            <a:r>
              <a:rPr lang="es" sz="20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Gilbert Strang (L18)</a:t>
            </a:r>
            <a:endParaRPr sz="2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 txBox="1"/>
          <p:nvPr>
            <p:ph type="ctrTitle"/>
          </p:nvPr>
        </p:nvSpPr>
        <p:spPr>
          <a:xfrm>
            <a:off x="2430013" y="2072850"/>
            <a:ext cx="4284000" cy="9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¡THANKS!</a:t>
            </a:r>
            <a:endParaRPr/>
          </a:p>
        </p:txBody>
      </p:sp>
      <p:pic>
        <p:nvPicPr>
          <p:cNvPr id="285" name="Google Shape;2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938" y="3060450"/>
            <a:ext cx="4048125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Slides for meeting by Slidesgo">
  <a:themeElements>
    <a:clrScheme name="Simple Light">
      <a:dk1>
        <a:srgbClr val="3F4252"/>
      </a:dk1>
      <a:lt1>
        <a:srgbClr val="F5F5F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F42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